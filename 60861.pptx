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9" r:id="rId2"/>
    <p:sldId id="296" r:id="rId3"/>
    <p:sldId id="332" r:id="rId4"/>
    <p:sldId id="333" r:id="rId5"/>
    <p:sldId id="341" r:id="rId6"/>
    <p:sldId id="324" r:id="rId7"/>
    <p:sldId id="345" r:id="rId8"/>
    <p:sldId id="346" r:id="rId9"/>
    <p:sldId id="347" r:id="rId10"/>
    <p:sldId id="335" r:id="rId11"/>
    <p:sldId id="342" r:id="rId12"/>
    <p:sldId id="343" r:id="rId13"/>
    <p:sldId id="344" r:id="rId14"/>
    <p:sldId id="273" r:id="rId15"/>
    <p:sldId id="340" r:id="rId16"/>
    <p:sldId id="348" r:id="rId17"/>
    <p:sldId id="2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07C"/>
    <a:srgbClr val="1F23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/>
    <p:restoredTop sz="94587"/>
  </p:normalViewPr>
  <p:slideViewPr>
    <p:cSldViewPr snapToGrid="0" snapToObjects="1">
      <p:cViewPr varScale="1">
        <p:scale>
          <a:sx n="106" d="100"/>
          <a:sy n="106" d="100"/>
        </p:scale>
        <p:origin x="7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86DB8-16A9-42B7-8E3A-96528C0E0EE1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F9238-3366-43C7-96FF-4CFB4B9E5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6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F9238-3366-43C7-96FF-4CFB4B9E5B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47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3DBA-DF2B-4F45-987C-FFC11F950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733E3-D73A-514C-8080-026404A50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D2E74-6BFE-AB48-B142-D0FFBDD04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D4078-DAD2-DB4A-8B06-2E2A8784F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73DA6-AF3E-234F-80B6-DA7FD4314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3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3A810-663F-3C42-88E3-AA6ADF275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4CEF-4240-4D42-8645-22F161709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18BBE-84B0-424D-9C56-31DA3B125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4F96B-E831-B848-9D06-6F1F8B04C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70F6E-E1BB-504E-A498-0A551509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462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7FC56-774B-B247-B2AC-277A1CC5E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0F574-4E85-DE42-A23E-429EC4F35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7E851-989D-8A45-962A-AA62DBB8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12DB8-05D1-EA45-91A2-1C3EEFE9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E4A9C-8352-FA4F-8E57-5142269E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4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1E5A2-94FE-F74B-A73E-69F797E3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F23EF-3EF9-6E41-982E-A91742E7F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D81EA-A2CA-C142-A576-3D6368482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A7C62-82E5-BF4B-91A0-56FDBD370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E85FF-EEAB-784F-B672-BC83A802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C501E-E1E6-384E-82A9-6ABC8333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32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9547-13D4-E24C-A8E6-CE231947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11D77-9FE0-ED41-BD90-8DE2AD4E3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ECB0E-C552-E440-9878-24CB44E0D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3E5D2-04A3-DD43-9CB9-69CCB4782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80742-3FFD-E440-A9CC-454BF8098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EAF7D-6F54-C84F-B0F2-492D45DA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481826-AD2D-CE47-9818-EC3FCC301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1F9511-5C5A-3F4A-BC29-699DAB33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53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DF426-DF0F-8846-852E-72F92D68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F8E96-AE5D-3E42-AEC6-222B3474F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2DF59-6FF0-F04A-A7DA-437294B08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5AB1E-10F4-BA44-BEBD-AFD22B65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576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05CF62-97A6-C34C-81E8-0D9DA4FE7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767A3-EB16-E845-BDA9-C5C3DB413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AA980-C4E5-514B-B3C2-9AE3C75A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2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3825E-1355-6D4D-BD05-1AF530FA5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7A8F4-6502-FA41-B8FE-F95074F4E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235BC-6363-924A-B581-173F059D4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8CE90-8E70-EA40-8F54-0E3A8BEC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FB6D2-88A3-DC45-A546-979F81E0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9F336-843C-144B-A346-0B0E2162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7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28D2A-16DA-534C-826B-B0EA586E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7A813-D28A-0A41-9F13-D8BAFD80A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20809-2225-8445-B4F7-B284ECEE1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25E7B-8265-8944-9FDC-8C8607D2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2AF67-760A-2845-8342-B599AF18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3F5E5-FECB-9743-B897-D8F405FB4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5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50A44-167B-A44B-B05F-AA5FEDC3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D503D3-13A4-ED47-9627-5816D287C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D9D2-4023-B14F-A513-65BA3AEE4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3BF4C-8CCA-AB4E-8EF1-26FBEC3F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DD98A-1568-9F4B-92F3-86CFFA8CF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33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23E512-95E1-7D4A-93DE-8C58F6B94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51599-1C9E-F94E-AB39-5624FE102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E750B-603B-0642-AB7A-CA70C340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8AD1-5EA9-DC4F-81BA-55CDDDB406E8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555D2-BFCE-3C41-958E-9BD6A5F1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B6981-57E7-AD42-A153-C93B4F4A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54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72D02D-660A-314D-8A95-E9AFD731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4F413-A9F8-2343-92B9-BAECFB91A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79BBC-EC5F-0947-83DA-33FDD50A3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18AD1-5EA9-DC4F-81BA-55CDDDB406E8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99E26-FF96-FB42-B085-0A61AFF84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5D2E6-E8AD-8940-BAF8-948085710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9CB1-8B9D-E54A-8D15-C7AD7A010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96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rayyan.ai/" TargetMode="External"/><Relationship Id="rId3" Type="http://schemas.openxmlformats.org/officeDocument/2006/relationships/hyperlink" Target="https://www.zotero.org/" TargetMode="External"/><Relationship Id="rId7" Type="http://schemas.openxmlformats.org/officeDocument/2006/relationships/hyperlink" Target="https://www.litmap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nnectedpapers.com/" TargetMode="External"/><Relationship Id="rId5" Type="http://schemas.openxmlformats.org/officeDocument/2006/relationships/hyperlink" Target="https://endnote.com/" TargetMode="External"/><Relationship Id="rId4" Type="http://schemas.openxmlformats.org/officeDocument/2006/relationships/hyperlink" Target="https://www.mendeley.com/" TargetMode="External"/><Relationship Id="rId9" Type="http://schemas.openxmlformats.org/officeDocument/2006/relationships/hyperlink" Target="https://quillbot.com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2187" y="1737169"/>
            <a:ext cx="6586906" cy="3892668"/>
          </a:xfrm>
        </p:spPr>
        <p:txBody>
          <a:bodyPr>
            <a:normAutofit fontScale="90000"/>
          </a:bodyPr>
          <a:lstStyle/>
          <a:p>
            <a:pPr algn="l"/>
            <a:r>
              <a:rPr lang="ka-GE" sz="5700" dirty="0">
                <a:latin typeface="Calibri" panose="020F0502020204030204" pitchFamily="34" charset="0"/>
                <a:cs typeface="Calibri" panose="020F0502020204030204" pitchFamily="34" charset="0"/>
              </a:rPr>
              <a:t>სამეცნიერო ლიტერატურის მიმოხილვა</a:t>
            </a:r>
            <a:br>
              <a:rPr lang="ka-GE" sz="57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ka-GE" sz="57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სამეცნიერო ლიტერატურის მიმოხილვა (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Literature review) 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კვლევითი თემის გარშემო; სამეცნიერო სტატიის კრიტიკული ანალიზი და შეფასების კრიტერიუმები </a:t>
            </a:r>
            <a:b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ka-GE" sz="57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2700" b="1" dirty="0">
                <a:latin typeface="Calibri" panose="020F0502020204030204" pitchFamily="34" charset="0"/>
                <a:cs typeface="Calibri" panose="020F0502020204030204" pitchFamily="34" charset="0"/>
              </a:rPr>
              <a:t>ლექტ. </a:t>
            </a:r>
            <a:r>
              <a:rPr lang="ka-GE" sz="2700" dirty="0">
                <a:latin typeface="Calibri" panose="020F0502020204030204" pitchFamily="34" charset="0"/>
                <a:cs typeface="Calibri" panose="020F0502020204030204" pitchFamily="34" charset="0"/>
              </a:rPr>
              <a:t>გიორგი რატიანი</a:t>
            </a:r>
          </a:p>
        </p:txBody>
      </p:sp>
      <p:pic>
        <p:nvPicPr>
          <p:cNvPr id="2050" name="Picture 2" descr="BTU • ბიზნესისა და ტექნოლოგიების უნივერსიტეტი | Tbilisi">
            <a:extLst>
              <a:ext uri="{FF2B5EF4-FFF2-40B4-BE49-F238E27FC236}">
                <a16:creationId xmlns:a16="http://schemas.microsoft.com/office/drawing/2014/main" id="{9BE989EF-9400-7E38-F968-1AD9D3370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4030" y="1737169"/>
            <a:ext cx="3065526" cy="306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ლიტერატურის მიმოხილვა (</a:t>
            </a:r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Literature Review)</a:t>
            </a:r>
            <a:endParaRPr lang="en-US" alt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41CB1E-3377-8AE5-B072-015821D8325C}"/>
              </a:ext>
            </a:extLst>
          </p:cNvPr>
          <p:cNvSpPr txBox="1">
            <a:spLocks/>
          </p:cNvSpPr>
          <p:nvPr/>
        </p:nvSpPr>
        <p:spPr>
          <a:xfrm>
            <a:off x="646960" y="631437"/>
            <a:ext cx="11206684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1) </a:t>
            </a:r>
            <a:r>
              <a:rPr lang="ka-GE" sz="3200" b="1" dirty="0">
                <a:latin typeface="Calibri" panose="020F0502020204030204" pitchFamily="34" charset="0"/>
                <a:cs typeface="Calibri" panose="020F0502020204030204" pitchFamily="34" charset="0"/>
              </a:rPr>
              <a:t>ლიტერატურის მიმოხილვის მნიშვნელობა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AD644-6445-CAC3-2593-F8D6B55502EC}"/>
              </a:ext>
            </a:extLst>
          </p:cNvPr>
          <p:cNvSpPr txBox="1"/>
          <p:nvPr/>
        </p:nvSpPr>
        <p:spPr>
          <a:xfrm>
            <a:off x="706772" y="1363249"/>
            <a:ext cx="111468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 რა არის?</a:t>
            </a:r>
            <a:endParaRPr lang="ka-G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ლიტერატურის მიმოხილვა არის არსებული კვლევების ანალიზი და შეჯამება კონკრეტული თემის გარშემო.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მიზანი – თემის უკეთ გაცნობიერება, არსებული ხარვეზების და პრობლემების იდენტიფიცირება.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a-G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 ნაბიჯები ლიტერატურის მიმოხილვისთვის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საკვლევი საკითხების და მიზნების განსაზღვრა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რა კითხვა ან პრობლემა გსურთ შეისწავლოთ.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წყაროების მოძიება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სად ეძებთ სტატიებს და სხვა წყაროებს? (მაგ.,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Google Scholar, JSTOR, PubMed)</a:t>
            </a:r>
            <a:endParaRPr lang="ka-G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კრიტიკული შესწავლა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თითოეული წყაროს მნიშვნელობის შეფასება – რამდენად ავთენტურია და შესაბამისი.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ინტეგრაცია და შეჯამება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როგორ უკავშირდებიან სხვადასხვა წყაროები ერთმანეთს და თქვენს კვლევას.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681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alt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სამეცნიერო სტატიის </a:t>
            </a:r>
            <a:r>
              <a:rPr lang="ka-GE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კრიტიკული ანალიზი</a:t>
            </a:r>
            <a:endParaRPr lang="en-US" alt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41CB1E-3377-8AE5-B072-015821D8325C}"/>
              </a:ext>
            </a:extLst>
          </p:cNvPr>
          <p:cNvSpPr txBox="1">
            <a:spLocks/>
          </p:cNvSpPr>
          <p:nvPr/>
        </p:nvSpPr>
        <p:spPr>
          <a:xfrm>
            <a:off x="646960" y="631437"/>
            <a:ext cx="11206684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a-GE" sz="3200" b="1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sz="3200" b="1" dirty="0">
                <a:latin typeface="Calibri" panose="020F0502020204030204" pitchFamily="34" charset="0"/>
                <a:cs typeface="Calibri" panose="020F0502020204030204" pitchFamily="34" charset="0"/>
              </a:rPr>
              <a:t>საკვანძო ელემენტები კრიტიკული ანალიზისთვის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AD644-6445-CAC3-2593-F8D6B55502EC}"/>
              </a:ext>
            </a:extLst>
          </p:cNvPr>
          <p:cNvSpPr txBox="1"/>
          <p:nvPr/>
        </p:nvSpPr>
        <p:spPr>
          <a:xfrm>
            <a:off x="706772" y="1363249"/>
            <a:ext cx="111468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 კვლევითი კითხვები და მიზნები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რამდენად მკაფიოდ და ზუსტად არის განმარტებული სტატიის კვლევის მიზნები.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ka-G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მეთოდოლოგია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შეაფასეთ გამოყენებული კვლევითი მეთოდები, მათი სიზუსტე და სანდოობა.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ka-G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მონაცემების ანალიზი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მონაცემთა დამუშავების სისწორე და ლოგიკურობა.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შედეგები და დასკვნები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არიან თუ არა დასკვნები დასაბუთებული ანალიზის შედეგებზე დაყრდნობით?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ლიმიტაციები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სტატიის ავტორების მიერ გამოვლენილი ლიმიტაციები და რამდენადაა ეს სამართლიანად და ობიექტურად განხილული.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83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altLang="en-US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სამეცნიერო სტატიის კომპონენტები</a:t>
            </a:r>
            <a:endParaRPr lang="en-US" alt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41CB1E-3377-8AE5-B072-015821D8325C}"/>
              </a:ext>
            </a:extLst>
          </p:cNvPr>
          <p:cNvSpPr txBox="1">
            <a:spLocks/>
          </p:cNvSpPr>
          <p:nvPr/>
        </p:nvSpPr>
        <p:spPr>
          <a:xfrm>
            <a:off x="646960" y="631437"/>
            <a:ext cx="11206684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a-GE" sz="3200" b="1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sz="3200" b="1" dirty="0">
                <a:latin typeface="Calibri" panose="020F0502020204030204" pitchFamily="34" charset="0"/>
                <a:cs typeface="Calibri" panose="020F0502020204030204" pitchFamily="34" charset="0"/>
              </a:rPr>
              <a:t>სტატიის შეფასების კრიტერიუმები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AD644-6445-CAC3-2593-F8D6B55502EC}"/>
              </a:ext>
            </a:extLst>
          </p:cNvPr>
          <p:cNvSpPr txBox="1"/>
          <p:nvPr/>
        </p:nvSpPr>
        <p:spPr>
          <a:xfrm>
            <a:off x="706772" y="1363249"/>
            <a:ext cx="1114687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 სიზუსტე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გამოყენებული მეთოდები და დასკვნები რამდენად ზუსტია და მეცნიერულად სანდო.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აქტუალურობა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რამდენად არის სტატია აქტუალური დღევანდელ კონტექსტში და შეესაბამება თუ არა თანამედროვე კვლევებს.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სტრუქტურა და წერა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სტატიის ლოგიკური სტრუქტურა, არგუმენტების თანმიმდევრობა და ცხადი გამოთქმა.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წყაროების სანდოობა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არის თუ არა გამოყენებული წყაროები მეცნიერულად სანდო და კარგად არჩეული.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a-GE" sz="2000" b="1" dirty="0">
                <a:latin typeface="Calibri" panose="020F0502020204030204" pitchFamily="34" charset="0"/>
                <a:cs typeface="Calibri" panose="020F0502020204030204" pitchFamily="34" charset="0"/>
              </a:rPr>
              <a:t>ახალი ცოდნის წვლილი</a:t>
            </a:r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: სტატია თუ ქმნის ახალ ცოდნას და ხელს უწყობს ამ თემის კვლევის განვითარებას?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0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პრაქტიკული მაგალითი:</a:t>
            </a:r>
            <a:endParaRPr lang="en-US" alt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41CB1E-3377-8AE5-B072-015821D8325C}"/>
              </a:ext>
            </a:extLst>
          </p:cNvPr>
          <p:cNvSpPr txBox="1">
            <a:spLocks/>
          </p:cNvSpPr>
          <p:nvPr/>
        </p:nvSpPr>
        <p:spPr>
          <a:xfrm>
            <a:off x="646960" y="631437"/>
            <a:ext cx="11034967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a-GE" sz="2500" b="1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თემა: </a:t>
            </a:r>
            <a:r>
              <a:rPr lang="ka-GE" sz="25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„ციფრული მარკეტინგის გავლენა მომხმარებლის ქცევაზე“</a:t>
            </a:r>
            <a:endParaRPr lang="ka-GE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58164-5E62-2086-8C03-A1BA7BE5CEF2}"/>
              </a:ext>
            </a:extLst>
          </p:cNvPr>
          <p:cNvSpPr txBox="1"/>
          <p:nvPr/>
        </p:nvSpPr>
        <p:spPr>
          <a:xfrm>
            <a:off x="646960" y="1208402"/>
            <a:ext cx="11034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solidFill>
                  <a:srgbClr val="1F23A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ნაბიჯი 1. მონაცემების მოძიება</a:t>
            </a:r>
            <a:r>
              <a:rPr lang="ka-GE" dirty="0">
                <a:solidFill>
                  <a:srgbClr val="1F23A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58685-3B44-8257-FB40-1F1F2A7722D8}"/>
              </a:ext>
            </a:extLst>
          </p:cNvPr>
          <p:cNvSpPr txBox="1"/>
          <p:nvPr/>
        </p:nvSpPr>
        <p:spPr>
          <a:xfrm>
            <a:off x="4560337" y="1154466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დაიწყეთ ციფრული მარკეტინგის გავლენის შესწავლა სხვადასხვა წყაროებიდან, როგორიცაა სამეცნიერო სტატიები, დისერტაციები, წიგნები ან კონფერენციის მასალები.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EEC33-AFA9-9DBD-D944-859ABE72AD0A}"/>
              </a:ext>
            </a:extLst>
          </p:cNvPr>
          <p:cNvSpPr txBox="1"/>
          <p:nvPr/>
        </p:nvSpPr>
        <p:spPr>
          <a:xfrm>
            <a:off x="556254" y="2598003"/>
            <a:ext cx="11368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დავალება 1. მოვძებნოთ ზემოთ ჩამოთვლილი მასალები და ამოვწეროთ რამდენიმე, რომელსაც ჩავთვლით ყველაზე ლერევანტურად, შეგვიძლია გამოვიყენოთ ხელოვნული ინტელექტი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16DCF9-ADBF-921C-0154-D69F5231DFC5}"/>
              </a:ext>
            </a:extLst>
          </p:cNvPr>
          <p:cNvSpPr/>
          <p:nvPr/>
        </p:nvSpPr>
        <p:spPr>
          <a:xfrm>
            <a:off x="646960" y="4041540"/>
            <a:ext cx="10605758" cy="2185023"/>
          </a:xfrm>
          <a:prstGeom prst="rect">
            <a:avLst/>
          </a:prstGeom>
          <a:solidFill>
            <a:srgbClr val="FE007C">
              <a:alpha val="24000"/>
            </a:srgbClr>
          </a:solidFill>
          <a:ln>
            <a:solidFill>
              <a:srgbClr val="FE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ჩამოწერეთ მასალები: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768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სამეცნიერო სტატიის მაგალითები</a:t>
            </a:r>
            <a:endParaRPr lang="en-US" alt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871C7D-734F-86A1-7C4C-0D30049DEBFE}"/>
              </a:ext>
            </a:extLst>
          </p:cNvPr>
          <p:cNvSpPr/>
          <p:nvPr/>
        </p:nvSpPr>
        <p:spPr>
          <a:xfrm>
            <a:off x="284705" y="766158"/>
            <a:ext cx="5069149" cy="408374"/>
          </a:xfrm>
          <a:prstGeom prst="roundRect">
            <a:avLst/>
          </a:prstGeom>
          <a:solidFill>
            <a:srgbClr val="1F23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რა მოვიძიე?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34EA2A-3A64-227F-C5AE-5E73F9BFEB93}"/>
              </a:ext>
            </a:extLst>
          </p:cNvPr>
          <p:cNvSpPr txBox="1"/>
          <p:nvPr/>
        </p:nvSpPr>
        <p:spPr>
          <a:xfrm>
            <a:off x="284706" y="1254850"/>
            <a:ext cx="11213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b="1" i="1" dirty="0"/>
              <a:t>1. </a:t>
            </a:r>
            <a:r>
              <a:rPr lang="en-US" b="1" i="1" dirty="0"/>
              <a:t>The Impact of Digital Marketing on Consumer Behavior: A Comprehensive Review</a:t>
            </a:r>
            <a:r>
              <a:rPr lang="en-US" b="1" dirty="0"/>
              <a:t> (2021)</a:t>
            </a:r>
            <a:endParaRPr lang="ka-G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49BB5-BB7A-F67E-44C5-1F899EB2F444}"/>
              </a:ext>
            </a:extLst>
          </p:cNvPr>
          <p:cNvSpPr txBox="1"/>
          <p:nvPr/>
        </p:nvSpPr>
        <p:spPr>
          <a:xfrm>
            <a:off x="284706" y="1573227"/>
            <a:ext cx="61427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წყარო:</a:t>
            </a:r>
            <a:r>
              <a:rPr lang="ka-GE" sz="1200" dirty="0">
                <a:solidFill>
                  <a:srgbClr val="1F23A9"/>
                </a:solidFill>
              </a:rPr>
              <a:t> </a:t>
            </a:r>
            <a:r>
              <a:rPr lang="en-US" sz="1200" dirty="0">
                <a:solidFill>
                  <a:srgbClr val="1F23A9"/>
                </a:solidFill>
              </a:rPr>
              <a:t>https://ndpublisher.in/admin/issues/IJASEv11n2b.pdf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220E1-44E9-7CF0-7D1F-C4527579C2B4}"/>
              </a:ext>
            </a:extLst>
          </p:cNvPr>
          <p:cNvSpPr txBox="1"/>
          <p:nvPr/>
        </p:nvSpPr>
        <p:spPr>
          <a:xfrm>
            <a:off x="250189" y="1857195"/>
            <a:ext cx="10298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a-GE" b="1" i="1" dirty="0"/>
              <a:t>2. </a:t>
            </a:r>
            <a:r>
              <a:rPr lang="en-US" b="1" i="1" dirty="0"/>
              <a:t>The Impact of Social Media on Customer Experience and Loyalty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C68A5-8298-423C-5BEA-141AB8BB5AC7}"/>
              </a:ext>
            </a:extLst>
          </p:cNvPr>
          <p:cNvSpPr txBox="1"/>
          <p:nvPr/>
        </p:nvSpPr>
        <p:spPr>
          <a:xfrm>
            <a:off x="250188" y="2170639"/>
            <a:ext cx="119418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წყარო:  </a:t>
            </a:r>
            <a:r>
              <a:rPr lang="en-US" sz="1200" dirty="0">
                <a:solidFill>
                  <a:srgbClr val="1F23A9"/>
                </a:solidFill>
              </a:rPr>
              <a:t>https://skillfloor.com/blog/the-impact-of-social-media-on-customer-experience-and-loyalty#:~:text=Social%20media%20allows%20them%20to%20interact%20with%20clients,to%20customer%20feedback%2C%20it%20builds%20a%20positive%20reputation.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98CAE7-378C-F144-066A-78E3313A4596}"/>
              </a:ext>
            </a:extLst>
          </p:cNvPr>
          <p:cNvSpPr txBox="1"/>
          <p:nvPr/>
        </p:nvSpPr>
        <p:spPr>
          <a:xfrm>
            <a:off x="275654" y="3013387"/>
            <a:ext cx="6151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წყარო:</a:t>
            </a:r>
            <a:r>
              <a:rPr lang="ka-GE" sz="1200" dirty="0">
                <a:solidFill>
                  <a:srgbClr val="1F23A9"/>
                </a:solidFill>
              </a:rPr>
              <a:t> </a:t>
            </a:r>
            <a:r>
              <a:rPr lang="en-US" sz="1200" dirty="0">
                <a:solidFill>
                  <a:srgbClr val="1F23A9"/>
                </a:solidFill>
              </a:rPr>
              <a:t>https://www.tandfonline.com/doi/abs/10.1080/13527266.2013.871323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46C9B0-0FE1-B03C-4507-D815AA742F75}"/>
              </a:ext>
            </a:extLst>
          </p:cNvPr>
          <p:cNvSpPr txBox="1"/>
          <p:nvPr/>
        </p:nvSpPr>
        <p:spPr>
          <a:xfrm>
            <a:off x="250188" y="2674258"/>
            <a:ext cx="11247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i="1" dirty="0"/>
              <a:t>3</a:t>
            </a:r>
            <a:r>
              <a:rPr lang="ka-GE" i="1" dirty="0"/>
              <a:t>. </a:t>
            </a:r>
            <a:r>
              <a:rPr lang="en-US" b="1" dirty="0"/>
              <a:t>"The Impact of Social Media Marketing on Consumer Purchase Intention"</a:t>
            </a:r>
            <a:r>
              <a:rPr lang="en-US" dirty="0"/>
              <a:t> by </a:t>
            </a:r>
            <a:r>
              <a:rPr lang="en-US" dirty="0" err="1"/>
              <a:t>Schivinski</a:t>
            </a:r>
            <a:r>
              <a:rPr lang="en-US" dirty="0"/>
              <a:t> and </a:t>
            </a:r>
            <a:r>
              <a:rPr lang="en-US" dirty="0" err="1"/>
              <a:t>Dabrowski</a:t>
            </a:r>
            <a:r>
              <a:rPr lang="en-US" dirty="0"/>
              <a:t> (2016).</a:t>
            </a:r>
            <a:endParaRPr lang="en-US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BC9801-05D3-5F5D-005C-70E4629E1A3E}"/>
              </a:ext>
            </a:extLst>
          </p:cNvPr>
          <p:cNvSpPr txBox="1"/>
          <p:nvPr/>
        </p:nvSpPr>
        <p:spPr>
          <a:xfrm>
            <a:off x="284706" y="3431169"/>
            <a:ext cx="10887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/>
              <a:t>4. </a:t>
            </a:r>
            <a:r>
              <a:rPr lang="en-US" b="1" dirty="0"/>
              <a:t>"The Effect of e-WOM and Consumer Engagement on Brand Loyalty"</a:t>
            </a:r>
            <a:r>
              <a:rPr lang="en-US" dirty="0"/>
              <a:t> by Erkan and Evans (2016).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B23269-7045-8447-CC82-4F70132B44A5}"/>
              </a:ext>
            </a:extLst>
          </p:cNvPr>
          <p:cNvSpPr txBox="1"/>
          <p:nvPr/>
        </p:nvSpPr>
        <p:spPr>
          <a:xfrm>
            <a:off x="284705" y="3800501"/>
            <a:ext cx="6151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წყარო:</a:t>
            </a:r>
            <a:r>
              <a:rPr lang="ka-GE" sz="1200" dirty="0">
                <a:solidFill>
                  <a:srgbClr val="1F23A9"/>
                </a:solidFill>
              </a:rPr>
              <a:t> </a:t>
            </a:r>
            <a:r>
              <a:rPr lang="en-US" sz="1200" dirty="0">
                <a:solidFill>
                  <a:srgbClr val="1F23A9"/>
                </a:solidFill>
              </a:rPr>
              <a:t>https://www.emerald.com/insight/content/doi/10.1108/JSM-01-2017-0031/full/html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7C8B99-1456-5023-8B28-A849B29CC535}"/>
              </a:ext>
            </a:extLst>
          </p:cNvPr>
          <p:cNvSpPr txBox="1"/>
          <p:nvPr/>
        </p:nvSpPr>
        <p:spPr>
          <a:xfrm>
            <a:off x="275653" y="4315555"/>
            <a:ext cx="11421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/>
              <a:t>5. </a:t>
            </a:r>
            <a:r>
              <a:rPr lang="en-US" b="1" dirty="0"/>
              <a:t>Influencer Marketing: The Impact of Instagram Influencers on Consumer Behavior"</a:t>
            </a:r>
            <a:r>
              <a:rPr lang="en-US" dirty="0"/>
              <a:t> by </a:t>
            </a:r>
            <a:r>
              <a:rPr lang="en-US" dirty="0" err="1"/>
              <a:t>Gyamfi</a:t>
            </a:r>
            <a:r>
              <a:rPr lang="en-US" dirty="0"/>
              <a:t> and </a:t>
            </a:r>
            <a:r>
              <a:rPr lang="en-US" dirty="0" err="1"/>
              <a:t>Nyamekye</a:t>
            </a:r>
            <a:r>
              <a:rPr lang="en-US" dirty="0"/>
              <a:t> (2022)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8BBD69-C20E-1040-2C0A-9FCE0FABCA56}"/>
              </a:ext>
            </a:extLst>
          </p:cNvPr>
          <p:cNvSpPr txBox="1"/>
          <p:nvPr/>
        </p:nvSpPr>
        <p:spPr>
          <a:xfrm>
            <a:off x="250189" y="4713979"/>
            <a:ext cx="6151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წყარო:</a:t>
            </a:r>
            <a:r>
              <a:rPr lang="ka-GE" sz="1200" dirty="0">
                <a:solidFill>
                  <a:srgbClr val="1F23A9"/>
                </a:solidFill>
              </a:rPr>
              <a:t> </a:t>
            </a:r>
            <a:r>
              <a:rPr lang="en-US" sz="1200" dirty="0">
                <a:solidFill>
                  <a:srgbClr val="1F23A9"/>
                </a:solidFill>
              </a:rPr>
              <a:t>http://ir.uew.edu.gh:8080/handle/123456789/4122</a:t>
            </a:r>
          </a:p>
        </p:txBody>
      </p:sp>
    </p:spTree>
    <p:extLst>
      <p:ext uri="{BB962C8B-B14F-4D97-AF65-F5344CB8AC3E}">
        <p14:creationId xmlns:p14="http://schemas.microsoft.com/office/powerpoint/2010/main" val="1584954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სამეცნიერო სტატიის მაგალითები</a:t>
            </a:r>
            <a:endParaRPr lang="en-US" alt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871C7D-734F-86A1-7C4C-0D30049DEBFE}"/>
              </a:ext>
            </a:extLst>
          </p:cNvPr>
          <p:cNvSpPr/>
          <p:nvPr/>
        </p:nvSpPr>
        <p:spPr>
          <a:xfrm>
            <a:off x="284706" y="511179"/>
            <a:ext cx="5069149" cy="408374"/>
          </a:xfrm>
          <a:prstGeom prst="roundRect">
            <a:avLst/>
          </a:prstGeom>
          <a:solidFill>
            <a:srgbClr val="1F23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შემდეგი რა კითხვაც გამიჩნდა: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34EA2A-3A64-227F-C5AE-5E73F9BFEB93}"/>
              </a:ext>
            </a:extLst>
          </p:cNvPr>
          <p:cNvSpPr txBox="1"/>
          <p:nvPr/>
        </p:nvSpPr>
        <p:spPr>
          <a:xfrm>
            <a:off x="278897" y="966164"/>
            <a:ext cx="1121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b="1" i="1" dirty="0">
                <a:latin typeface="Calibri" panose="020F0502020204030204" pitchFamily="34" charset="0"/>
                <a:cs typeface="Calibri" panose="020F0502020204030204" pitchFamily="34" charset="0"/>
              </a:rPr>
              <a:t>ხომ არ არის რაიმე პლატფორმა, ან საშუალება, რომელიც დამეხმარება ჩემი მოძიებული სტატიების სწრაფ ანალიზში?</a:t>
            </a:r>
            <a:endParaRPr lang="ka-G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179768-9B72-A773-245E-3AD310F36221}"/>
              </a:ext>
            </a:extLst>
          </p:cNvPr>
          <p:cNvSpPr txBox="1"/>
          <p:nvPr/>
        </p:nvSpPr>
        <p:spPr>
          <a:xfrm>
            <a:off x="218030" y="2100104"/>
            <a:ext cx="112131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Yes, there are several tools designed to streamline the process of conducting a literature review by quickly analyzing provided articles. These tools can help you summarize, compare, and synthesize research findings. Here are some effective options: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D3CB4A-7DDF-0D9F-3816-9CC7D9B069B4}"/>
              </a:ext>
            </a:extLst>
          </p:cNvPr>
          <p:cNvSpPr/>
          <p:nvPr/>
        </p:nvSpPr>
        <p:spPr>
          <a:xfrm>
            <a:off x="218030" y="1633439"/>
            <a:ext cx="5069149" cy="408374"/>
          </a:xfrm>
          <a:prstGeom prst="roundRect">
            <a:avLst/>
          </a:prstGeom>
          <a:solidFill>
            <a:srgbClr val="1F23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2000" dirty="0">
                <a:latin typeface="Calibri" panose="020F0502020204030204" pitchFamily="34" charset="0"/>
                <a:cs typeface="Calibri" panose="020F0502020204030204" pitchFamily="34" charset="0"/>
              </a:rPr>
              <a:t>პასუხი იყო: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11B5FE-D390-049B-81DD-127C4FB094E3}"/>
              </a:ext>
            </a:extLst>
          </p:cNvPr>
          <p:cNvSpPr txBox="1"/>
          <p:nvPr/>
        </p:nvSpPr>
        <p:spPr>
          <a:xfrm>
            <a:off x="284705" y="30689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/>
              <a:t>1) </a:t>
            </a:r>
            <a:r>
              <a:rPr lang="en-US" dirty="0">
                <a:hlinkClick r:id="rId3"/>
              </a:rPr>
              <a:t>Zotero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EE0950-4952-C23E-419A-9896F75794D6}"/>
              </a:ext>
            </a:extLst>
          </p:cNvPr>
          <p:cNvSpPr txBox="1"/>
          <p:nvPr/>
        </p:nvSpPr>
        <p:spPr>
          <a:xfrm>
            <a:off x="1343024" y="3091730"/>
            <a:ext cx="10848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save articles, annotate them, and use the built-in search feature to find relevant information quickly.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CAAD62-29D3-A146-24E5-EDB574D48ED7}"/>
              </a:ext>
            </a:extLst>
          </p:cNvPr>
          <p:cNvSpPr txBox="1"/>
          <p:nvPr/>
        </p:nvSpPr>
        <p:spPr>
          <a:xfrm>
            <a:off x="278897" y="36515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/>
              <a:t>2) </a:t>
            </a:r>
            <a:r>
              <a:rPr lang="en-US" dirty="0">
                <a:hlinkClick r:id="rId4"/>
              </a:rPr>
              <a:t>Mendeley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80DF69-9AF2-5B2A-EAD9-96E4320E5C0B}"/>
              </a:ext>
            </a:extLst>
          </p:cNvPr>
          <p:cNvSpPr txBox="1"/>
          <p:nvPr/>
        </p:nvSpPr>
        <p:spPr>
          <a:xfrm>
            <a:off x="1600199" y="3536467"/>
            <a:ext cx="10197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Mendeley’s "Literature Search" function can help you find similar articles based on your current library, speeding up the synthesis process.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ECE3CB-ED46-C2BB-0EEA-330205A431E2}"/>
              </a:ext>
            </a:extLst>
          </p:cNvPr>
          <p:cNvSpPr txBox="1"/>
          <p:nvPr/>
        </p:nvSpPr>
        <p:spPr>
          <a:xfrm>
            <a:off x="284706" y="42597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/>
              <a:t>3)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EndNote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417D5C-7C0D-01FB-559E-39262F55FC6D}"/>
              </a:ext>
            </a:extLst>
          </p:cNvPr>
          <p:cNvSpPr txBox="1"/>
          <p:nvPr/>
        </p:nvSpPr>
        <p:spPr>
          <a:xfrm>
            <a:off x="1533524" y="4665462"/>
            <a:ext cx="9897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Summarize and paraphrase large texts, making it easier to organize the key insights from your literature.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D7013A-5D6E-AFBA-2AC1-79D9194285AC}"/>
              </a:ext>
            </a:extLst>
          </p:cNvPr>
          <p:cNvSpPr txBox="1"/>
          <p:nvPr/>
        </p:nvSpPr>
        <p:spPr>
          <a:xfrm>
            <a:off x="278897" y="5111706"/>
            <a:ext cx="2143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/>
              <a:t>5) </a:t>
            </a:r>
            <a:r>
              <a:rPr lang="en-US" dirty="0">
                <a:hlinkClick r:id="rId6"/>
              </a:rPr>
              <a:t>Connected Papers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DE5329-CD78-6714-ADA3-D8FE289DA7B2}"/>
              </a:ext>
            </a:extLst>
          </p:cNvPr>
          <p:cNvSpPr txBox="1"/>
          <p:nvPr/>
        </p:nvSpPr>
        <p:spPr>
          <a:xfrm>
            <a:off x="2355347" y="5095532"/>
            <a:ext cx="9544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It’s especially useful for identifying gaps in the literature or for discovering related work.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169218-2BB2-01DD-997E-087F46519941}"/>
              </a:ext>
            </a:extLst>
          </p:cNvPr>
          <p:cNvSpPr txBox="1"/>
          <p:nvPr/>
        </p:nvSpPr>
        <p:spPr>
          <a:xfrm>
            <a:off x="265656" y="5541776"/>
            <a:ext cx="163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/>
              <a:t>6)</a:t>
            </a:r>
            <a:r>
              <a:rPr lang="en-US" dirty="0"/>
              <a:t> </a:t>
            </a:r>
            <a:r>
              <a:rPr lang="en-US" dirty="0" err="1">
                <a:hlinkClick r:id="rId7"/>
              </a:rPr>
              <a:t>Litmaps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2E051A-CF4D-2AEB-A0F8-D72C70DE9FA9}"/>
              </a:ext>
            </a:extLst>
          </p:cNvPr>
          <p:cNvSpPr txBox="1"/>
          <p:nvPr/>
        </p:nvSpPr>
        <p:spPr>
          <a:xfrm>
            <a:off x="1418180" y="5541776"/>
            <a:ext cx="10715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create a visual "map" of your literature review that shows how different papers relate to each other.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E83BDA-C606-EEEF-F506-631AFC019E14}"/>
              </a:ext>
            </a:extLst>
          </p:cNvPr>
          <p:cNvSpPr txBox="1"/>
          <p:nvPr/>
        </p:nvSpPr>
        <p:spPr>
          <a:xfrm>
            <a:off x="284706" y="5959752"/>
            <a:ext cx="1152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/>
              <a:t>7)</a:t>
            </a:r>
            <a:r>
              <a:rPr lang="en-US" dirty="0"/>
              <a:t> </a:t>
            </a:r>
            <a:r>
              <a:rPr lang="en-US" dirty="0">
                <a:hlinkClick r:id="rId8"/>
              </a:rPr>
              <a:t>Rayyan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C004C1-DD9D-8941-3DD9-4EB14A9D08A0}"/>
              </a:ext>
            </a:extLst>
          </p:cNvPr>
          <p:cNvSpPr txBox="1"/>
          <p:nvPr/>
        </p:nvSpPr>
        <p:spPr>
          <a:xfrm>
            <a:off x="1343023" y="5862463"/>
            <a:ext cx="10629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offers collaborative features for teams and uses machine learning to suggest articles that align with your research criteria.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EB9220-B804-BB90-DE8F-F049750A92E5}"/>
              </a:ext>
            </a:extLst>
          </p:cNvPr>
          <p:cNvSpPr txBox="1"/>
          <p:nvPr/>
        </p:nvSpPr>
        <p:spPr>
          <a:xfrm>
            <a:off x="284706" y="4687673"/>
            <a:ext cx="6029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/>
              <a:t>4) </a:t>
            </a:r>
            <a:r>
              <a:rPr lang="en-US" dirty="0" err="1">
                <a:hlinkClick r:id="rId9"/>
              </a:rPr>
              <a:t>QuillBot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ACAEF4-25F1-23CC-4119-E63364CE0393}"/>
              </a:ext>
            </a:extLst>
          </p:cNvPr>
          <p:cNvSpPr txBox="1"/>
          <p:nvPr/>
        </p:nvSpPr>
        <p:spPr>
          <a:xfrm>
            <a:off x="1533524" y="4258203"/>
            <a:ext cx="10600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automatically generates bibliographies and can be integrated with MS Word for easy referencing.</a:t>
            </a:r>
          </a:p>
        </p:txBody>
      </p:sp>
    </p:spTree>
    <p:extLst>
      <p:ext uri="{BB962C8B-B14F-4D97-AF65-F5344CB8AC3E}">
        <p14:creationId xmlns:p14="http://schemas.microsoft.com/office/powerpoint/2010/main" val="3764811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D9F9C4-7B66-0C60-3851-3D265CD86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579"/>
            <a:ext cx="12192000" cy="674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87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673958-EBA7-FD08-446E-2A9B34313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806"/>
            <a:ext cx="12192000" cy="58736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C851E9-C8BF-1F23-6BFB-FD0F095F141A}"/>
              </a:ext>
            </a:extLst>
          </p:cNvPr>
          <p:cNvSpPr txBox="1"/>
          <p:nvPr/>
        </p:nvSpPr>
        <p:spPr>
          <a:xfrm>
            <a:off x="8117633" y="5055617"/>
            <a:ext cx="3905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b="1" i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სტატიის შინაარსი წარმომიდგინა მოკლედ 9 წინადადებაში</a:t>
            </a:r>
            <a:endParaRPr lang="ka-GE" b="1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Graphic 7" descr="Right pointing backhand index with solid fill">
            <a:extLst>
              <a:ext uri="{FF2B5EF4-FFF2-40B4-BE49-F238E27FC236}">
                <a16:creationId xmlns:a16="http://schemas.microsoft.com/office/drawing/2014/main" id="{4A298946-01B6-46FD-BDBF-457ED6118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350938">
            <a:off x="9181653" y="41464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90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პრაქტიკული მაგალითი:</a:t>
            </a:r>
            <a:endParaRPr lang="en-US" alt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41CB1E-3377-8AE5-B072-015821D8325C}"/>
              </a:ext>
            </a:extLst>
          </p:cNvPr>
          <p:cNvSpPr txBox="1">
            <a:spLocks/>
          </p:cNvSpPr>
          <p:nvPr/>
        </p:nvSpPr>
        <p:spPr>
          <a:xfrm>
            <a:off x="646960" y="631437"/>
            <a:ext cx="11034967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a-GE" sz="2500" b="1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თემა: </a:t>
            </a:r>
            <a:r>
              <a:rPr lang="ka-GE" sz="25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„ციფრული მარკეტინგის გავლენა მომხმარებლის ქცევაზე“</a:t>
            </a:r>
            <a:endParaRPr lang="ka-GE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E0059-9E5B-BF81-F076-18BEABB432B5}"/>
              </a:ext>
            </a:extLst>
          </p:cNvPr>
          <p:cNvSpPr txBox="1"/>
          <p:nvPr/>
        </p:nvSpPr>
        <p:spPr>
          <a:xfrm>
            <a:off x="646960" y="1266487"/>
            <a:ext cx="1139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solidFill>
                  <a:srgbClr val="1F23A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ნაბიჯი 3. შევისწავლოთ სხვა კვლევების შედეგები: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12D6DA-20C2-3FEB-A9A9-47E5FBA5DCB3}"/>
              </a:ext>
            </a:extLst>
          </p:cNvPr>
          <p:cNvSpPr txBox="1"/>
          <p:nvPr/>
        </p:nvSpPr>
        <p:spPr>
          <a:xfrm>
            <a:off x="646960" y="1586339"/>
            <a:ext cx="10898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მაგალითად: </a:t>
            </a:r>
          </a:p>
          <a:p>
            <a:endParaRPr lang="ka-GE" sz="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 რა არის ციფრული მარკეტინგი და როგორ ვითარდება ის?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 როგორ მოქმედებს მარკეტინგი მომხმარებლის ქცევაზე?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 არსებობს კვლევები, რომლებიც აჩვენებს, თუ როგორ იცვლება მომხმარებლის ქცევა ციფრული კამპანიების დროს?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EEC33-AFA9-9DBD-D944-859ABE72AD0A}"/>
              </a:ext>
            </a:extLst>
          </p:cNvPr>
          <p:cNvSpPr txBox="1"/>
          <p:nvPr/>
        </p:nvSpPr>
        <p:spPr>
          <a:xfrm>
            <a:off x="646959" y="3122569"/>
            <a:ext cx="10501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დავალება 2: ჩამოწერეთ რელევანტური კითხვები, რომელიც გაგიჩნდათ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16DCF9-ADBF-921C-0154-D69F5231DFC5}"/>
              </a:ext>
            </a:extLst>
          </p:cNvPr>
          <p:cNvSpPr/>
          <p:nvPr/>
        </p:nvSpPr>
        <p:spPr>
          <a:xfrm>
            <a:off x="748145" y="3760238"/>
            <a:ext cx="10400146" cy="2393490"/>
          </a:xfrm>
          <a:prstGeom prst="rect">
            <a:avLst/>
          </a:prstGeom>
          <a:solidFill>
            <a:srgbClr val="FE007C">
              <a:alpha val="24000"/>
            </a:srgbClr>
          </a:solidFill>
          <a:ln>
            <a:solidFill>
              <a:srgbClr val="FE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კითხვები: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668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პრაქტიკული მაგალითი:</a:t>
            </a:r>
            <a:endParaRPr lang="en-US" alt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41CB1E-3377-8AE5-B072-015821D8325C}"/>
              </a:ext>
            </a:extLst>
          </p:cNvPr>
          <p:cNvSpPr txBox="1">
            <a:spLocks/>
          </p:cNvSpPr>
          <p:nvPr/>
        </p:nvSpPr>
        <p:spPr>
          <a:xfrm>
            <a:off x="646960" y="631437"/>
            <a:ext cx="11034967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a-GE" sz="2500" b="1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თემა: </a:t>
            </a:r>
            <a:r>
              <a:rPr lang="ka-GE" sz="25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„ციფრული მარკეტინგის გავლენა მომხმარებლის ქცევაზე“</a:t>
            </a:r>
            <a:endParaRPr lang="ka-GE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E0059-9E5B-BF81-F076-18BEABB432B5}"/>
              </a:ext>
            </a:extLst>
          </p:cNvPr>
          <p:cNvSpPr txBox="1"/>
          <p:nvPr/>
        </p:nvSpPr>
        <p:spPr>
          <a:xfrm>
            <a:off x="646960" y="1266487"/>
            <a:ext cx="1139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solidFill>
                  <a:srgbClr val="1F23A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ნაბიჯი 3. შევისწავლოთ სხვა კვლევების შედეგები: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12D6DA-20C2-3FEB-A9A9-47E5FBA5DCB3}"/>
              </a:ext>
            </a:extLst>
          </p:cNvPr>
          <p:cNvSpPr txBox="1"/>
          <p:nvPr/>
        </p:nvSpPr>
        <p:spPr>
          <a:xfrm>
            <a:off x="646960" y="1586339"/>
            <a:ext cx="10898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მაგალითად: </a:t>
            </a:r>
          </a:p>
          <a:p>
            <a:endParaRPr lang="ka-GE" sz="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 ადრინდელი კვლევები შეიძლება აჩვენებდეს, რომ მომხმარებელი ციფრული რეკლამების შემდეგ უფრო მეტად ყიდულობს პროდუქტს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 სხვა კვლევები შეიძლება აფასებდეს, როგორ გავლენას ახდენს სოციალური მედია რეკლამა კონკრეტულ ასაკობრივ ჯგუფზე.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EEC33-AFA9-9DBD-D944-859ABE72AD0A}"/>
              </a:ext>
            </a:extLst>
          </p:cNvPr>
          <p:cNvSpPr txBox="1"/>
          <p:nvPr/>
        </p:nvSpPr>
        <p:spPr>
          <a:xfrm>
            <a:off x="646959" y="3122569"/>
            <a:ext cx="111562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დავალება 3: ჩამოწერეთ ფაქტები რას აჩვენებს კვლევები, მიუთითეთ წყარო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16DCF9-ADBF-921C-0154-D69F5231DFC5}"/>
              </a:ext>
            </a:extLst>
          </p:cNvPr>
          <p:cNvSpPr/>
          <p:nvPr/>
        </p:nvSpPr>
        <p:spPr>
          <a:xfrm>
            <a:off x="748145" y="3760238"/>
            <a:ext cx="10400146" cy="2393490"/>
          </a:xfrm>
          <a:prstGeom prst="rect">
            <a:avLst/>
          </a:prstGeom>
          <a:solidFill>
            <a:srgbClr val="FE007C">
              <a:alpha val="24000"/>
            </a:srgbClr>
          </a:solidFill>
          <a:ln>
            <a:solidFill>
              <a:srgbClr val="FE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კვლევის შედეგები, როგორც ფაქტები: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343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პრაქტიკული მაგალითი:</a:t>
            </a:r>
            <a:endParaRPr lang="en-US" alt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41CB1E-3377-8AE5-B072-015821D8325C}"/>
              </a:ext>
            </a:extLst>
          </p:cNvPr>
          <p:cNvSpPr txBox="1">
            <a:spLocks/>
          </p:cNvSpPr>
          <p:nvPr/>
        </p:nvSpPr>
        <p:spPr>
          <a:xfrm>
            <a:off x="646960" y="631437"/>
            <a:ext cx="11034967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a-GE" sz="2500" b="1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თემა: </a:t>
            </a:r>
            <a:r>
              <a:rPr lang="ka-GE" sz="25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„ციფრული მარკეტინგის გავლენა მომხმარებლის ქცევაზე“</a:t>
            </a:r>
            <a:endParaRPr lang="ka-GE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E0059-9E5B-BF81-F076-18BEABB432B5}"/>
              </a:ext>
            </a:extLst>
          </p:cNvPr>
          <p:cNvSpPr txBox="1"/>
          <p:nvPr/>
        </p:nvSpPr>
        <p:spPr>
          <a:xfrm>
            <a:off x="646960" y="1266487"/>
            <a:ext cx="1139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solidFill>
                  <a:srgbClr val="1F23A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ნაბიჯი 4. შეჯამება და ხარვეზების პოვნა: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12D6DA-20C2-3FEB-A9A9-47E5FBA5DCB3}"/>
              </a:ext>
            </a:extLst>
          </p:cNvPr>
          <p:cNvSpPr txBox="1"/>
          <p:nvPr/>
        </p:nvSpPr>
        <p:spPr>
          <a:xfrm>
            <a:off x="646960" y="1586339"/>
            <a:ext cx="10898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მაგალითად: </a:t>
            </a:r>
          </a:p>
          <a:p>
            <a:endParaRPr lang="ka-GE" sz="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 ამ კვლევების შეჯამებით, შესაძლოა აღმოაჩინოთ, რომ მცირე ყურადღება ეთმობა იმას, როგორ მოქმედებს ციფრული მარკეტინგი მომხმარებელზე ხანგრძლივ პერიოდში.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 ამასთან, შეიძლება ვერ ნახოთ კონკრეტული კვლევები, რომლებიც იკვლევს ციფრული რეკლამების ზეგავლენას სხვადასხვა კულტურებზე.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EEC33-AFA9-9DBD-D944-859ABE72AD0A}"/>
              </a:ext>
            </a:extLst>
          </p:cNvPr>
          <p:cNvSpPr txBox="1"/>
          <p:nvPr/>
        </p:nvSpPr>
        <p:spPr>
          <a:xfrm>
            <a:off x="646959" y="3122569"/>
            <a:ext cx="111562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დავალება 4: შეაჯამეთ თქვენს მიერ მოძიებული კვლევის შედეგები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16DCF9-ADBF-921C-0154-D69F5231DFC5}"/>
              </a:ext>
            </a:extLst>
          </p:cNvPr>
          <p:cNvSpPr/>
          <p:nvPr/>
        </p:nvSpPr>
        <p:spPr>
          <a:xfrm>
            <a:off x="748145" y="3760238"/>
            <a:ext cx="10400146" cy="2393490"/>
          </a:xfrm>
          <a:prstGeom prst="rect">
            <a:avLst/>
          </a:prstGeom>
          <a:solidFill>
            <a:srgbClr val="FE007C">
              <a:alpha val="24000"/>
            </a:srgbClr>
          </a:solidFill>
          <a:ln>
            <a:solidFill>
              <a:srgbClr val="FE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რა გვაქვს ხელთ?: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899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7A80C1-3165-0CF2-1FCA-50CE630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08374"/>
          </a:xfrm>
          <a:solidFill>
            <a:srgbClr val="1F23A9"/>
          </a:solidFill>
        </p:spPr>
        <p:txBody>
          <a:bodyPr>
            <a:normAutofit fontScale="90000"/>
          </a:bodyPr>
          <a:lstStyle/>
          <a:p>
            <a:pPr algn="ctr" eaLnBrk="1" hangingPunct="1"/>
            <a:r>
              <a:rPr lang="ka-GE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პრაქტიკული მაგალითი:</a:t>
            </a:r>
            <a:endParaRPr lang="en-US" alt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41CB1E-3377-8AE5-B072-015821D8325C}"/>
              </a:ext>
            </a:extLst>
          </p:cNvPr>
          <p:cNvSpPr txBox="1">
            <a:spLocks/>
          </p:cNvSpPr>
          <p:nvPr/>
        </p:nvSpPr>
        <p:spPr>
          <a:xfrm>
            <a:off x="646960" y="631437"/>
            <a:ext cx="11034967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a-GE" sz="2500" b="1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თემა: </a:t>
            </a:r>
            <a:r>
              <a:rPr lang="ka-GE" sz="25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„ციფრული მარკეტინგის გავლენა მომხმარებლის ქცევაზე“</a:t>
            </a:r>
            <a:endParaRPr lang="ka-GE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E0059-9E5B-BF81-F076-18BEABB432B5}"/>
              </a:ext>
            </a:extLst>
          </p:cNvPr>
          <p:cNvSpPr txBox="1"/>
          <p:nvPr/>
        </p:nvSpPr>
        <p:spPr>
          <a:xfrm>
            <a:off x="646959" y="1250238"/>
            <a:ext cx="1139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solidFill>
                  <a:srgbClr val="1F23A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ნაბიჯი 5. კრიტიკული შეფასება და მიმართულების მიცემა: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12D6DA-20C2-3FEB-A9A9-47E5FBA5DCB3}"/>
              </a:ext>
            </a:extLst>
          </p:cNvPr>
          <p:cNvSpPr txBox="1"/>
          <p:nvPr/>
        </p:nvSpPr>
        <p:spPr>
          <a:xfrm>
            <a:off x="646960" y="1586339"/>
            <a:ext cx="10898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მაგალითად: </a:t>
            </a:r>
          </a:p>
          <a:p>
            <a:endParaRPr lang="ka-GE" sz="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 ლიტერატურის მიმოხილვის საფუძველზე, შეიძლება დასკვნა იყოს, რომ საჭიროა კვლევა, რომელიც მოიცავს არა მხოლოდ მოკლევადიან გავლენას, არამედ გრძელვადიან ზეგავლენასაც.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 მაგალითად, თუ როგორ იცვლება მომხმარებლის ჩვევა 6 თვის განმავლობაში ციფრული რეკლამის აღქმის შემდეგ.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EEC33-AFA9-9DBD-D944-859ABE72AD0A}"/>
              </a:ext>
            </a:extLst>
          </p:cNvPr>
          <p:cNvSpPr txBox="1"/>
          <p:nvPr/>
        </p:nvSpPr>
        <p:spPr>
          <a:xfrm>
            <a:off x="646959" y="3122569"/>
            <a:ext cx="111562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sz="2400" b="1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დავალება 5: კრიტიკული შეფასება, განსაზღვრეთ რა შეიძლება ვიკვლიოთ ჩვენი კვლევის ფარგლებში?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16DCF9-ADBF-921C-0154-D69F5231DFC5}"/>
              </a:ext>
            </a:extLst>
          </p:cNvPr>
          <p:cNvSpPr/>
          <p:nvPr/>
        </p:nvSpPr>
        <p:spPr>
          <a:xfrm>
            <a:off x="748145" y="3953566"/>
            <a:ext cx="10400146" cy="2200162"/>
          </a:xfrm>
          <a:prstGeom prst="rect">
            <a:avLst/>
          </a:prstGeom>
          <a:solidFill>
            <a:srgbClr val="FE007C">
              <a:alpha val="24000"/>
            </a:srgbClr>
          </a:solidFill>
          <a:ln>
            <a:solidFill>
              <a:srgbClr val="FE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a-GE" dirty="0">
                <a:solidFill>
                  <a:srgbClr val="FE00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რა უნდა ვიკვლიოთ, რა შვეგვიძლია ჩვენ გავაკეთოთ?:</a:t>
            </a:r>
            <a:endParaRPr lang="en-US" dirty="0">
              <a:solidFill>
                <a:srgbClr val="FE007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995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8DDA09D-3CEC-F9C5-F47A-22FE1B7037DF}"/>
              </a:ext>
            </a:extLst>
          </p:cNvPr>
          <p:cNvSpPr txBox="1"/>
          <p:nvPr/>
        </p:nvSpPr>
        <p:spPr>
          <a:xfrm>
            <a:off x="253446" y="4722572"/>
            <a:ext cx="112082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4. სამეცნიერო სტატიის კრიტიკული ანალიზის ძირითადი მიზანი არის ...</a:t>
            </a:r>
          </a:p>
          <a:p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სხვა ავტორების დასკვნების დადასტურება ან უარყოფა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სიძლიერის და სისუსტეების შეფასება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შედეგების გამეორება და დადასტურება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ექსპერიმენტული დიზაინის ხარვეზების გამოკვეთა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ACBC43-6F91-867B-25B9-F6A5E474A617}"/>
              </a:ext>
            </a:extLst>
          </p:cNvPr>
          <p:cNvSpPr txBox="1"/>
          <p:nvPr/>
        </p:nvSpPr>
        <p:spPr>
          <a:xfrm>
            <a:off x="253447" y="3245244"/>
            <a:ext cx="112082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3. რომელი ქვეკატეგორია არ არის ტიპიური კრიტერიუმი სამეცნიერო სტატიის შეფასებისთვის?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მეთოდოლოგია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ავტორის პოპულარობა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კითხვასთან აქტუალობა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მონაცემთა ანალიზის მყარი საფუძველი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0A81A-DBE3-9C84-4640-686FB460F708}"/>
              </a:ext>
            </a:extLst>
          </p:cNvPr>
          <p:cNvSpPr txBox="1"/>
          <p:nvPr/>
        </p:nvSpPr>
        <p:spPr>
          <a:xfrm>
            <a:off x="253448" y="1657590"/>
            <a:ext cx="105835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2. ლიტერატურის მიმოხილვის პროცესში, რომელია ყველაზე მნიშვნელოვანია?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მხოლოდ ბოლო 5 წლის კვლევების გათვალისწინება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ფუნდამენტური და ბოლო კვლევების კომბინირებული ანალიზი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ბოლო 20 წლის ყველა კვლევის გათვალისწინება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მხოლოდ მაღალი იმპაქტის ჟურნალებში მოცემული კვლევების გათვალისწინება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BA03945-0977-671F-6AB3-39D6E59BD596}"/>
              </a:ext>
            </a:extLst>
          </p:cNvPr>
          <p:cNvSpPr/>
          <p:nvPr/>
        </p:nvSpPr>
        <p:spPr>
          <a:xfrm>
            <a:off x="135752" y="823587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C3BF5F-F09D-90C8-EAD2-C3ABEE654A75}"/>
              </a:ext>
            </a:extLst>
          </p:cNvPr>
          <p:cNvSpPr/>
          <p:nvPr/>
        </p:nvSpPr>
        <p:spPr>
          <a:xfrm>
            <a:off x="194577" y="2200945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5A9D9-E687-F0FE-F26B-718DA72933B1}"/>
              </a:ext>
            </a:extLst>
          </p:cNvPr>
          <p:cNvSpPr/>
          <p:nvPr/>
        </p:nvSpPr>
        <p:spPr>
          <a:xfrm>
            <a:off x="190027" y="3788600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F3D0DF-7F52-B773-4465-2EEDF00F836C}"/>
              </a:ext>
            </a:extLst>
          </p:cNvPr>
          <p:cNvSpPr/>
          <p:nvPr/>
        </p:nvSpPr>
        <p:spPr>
          <a:xfrm>
            <a:off x="194577" y="5277803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6AFEB-22C2-E8A7-3C20-92936ACE4C1F}"/>
              </a:ext>
            </a:extLst>
          </p:cNvPr>
          <p:cNvSpPr txBox="1"/>
          <p:nvPr/>
        </p:nvSpPr>
        <p:spPr>
          <a:xfrm>
            <a:off x="181941" y="43152"/>
            <a:ext cx="80960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1. რა არის სამეცნიერო ლიტერატურის მიმოხილვის ძირითადი მიზანი?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თემაზე არსებული ყველა კვლევის შეჯამება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ყველა გამოქვეყნებული კვლევის კრიტიკული ანალიზი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არსებული კვლევების ხარვეზებისა და ტენდენციების იდენტიფიცირება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სხვა მკვლევარების მუშაობის კრიტიკა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91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548FAC-34DA-A9DE-4EC9-FCE879235827}"/>
              </a:ext>
            </a:extLst>
          </p:cNvPr>
          <p:cNvSpPr txBox="1"/>
          <p:nvPr/>
        </p:nvSpPr>
        <p:spPr>
          <a:xfrm>
            <a:off x="215020" y="133189"/>
            <a:ext cx="93635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5. რას უნდა მივაქციოთ ყურადღება სამეცნიერო სტატიის სანდოობის შეფასებისას?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გამოქვეყნების წელი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ავტორთა რაოდენობა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ამ სტატიის ექსპერტთა შეფასების პროცესი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ჟურნალის ვებსაიტის დიზაინი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BA03945-0977-671F-6AB3-39D6E59BD596}"/>
              </a:ext>
            </a:extLst>
          </p:cNvPr>
          <p:cNvSpPr/>
          <p:nvPr/>
        </p:nvSpPr>
        <p:spPr>
          <a:xfrm>
            <a:off x="135752" y="961890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5A9D9-E687-F0FE-F26B-718DA72933B1}"/>
              </a:ext>
            </a:extLst>
          </p:cNvPr>
          <p:cNvSpPr/>
          <p:nvPr/>
        </p:nvSpPr>
        <p:spPr>
          <a:xfrm>
            <a:off x="135751" y="2969743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F3D0DF-7F52-B773-4465-2EEDF00F836C}"/>
              </a:ext>
            </a:extLst>
          </p:cNvPr>
          <p:cNvSpPr/>
          <p:nvPr/>
        </p:nvSpPr>
        <p:spPr>
          <a:xfrm>
            <a:off x="135750" y="4586979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77E58-1C5D-B22F-04AE-8F90774ACB7A}"/>
              </a:ext>
            </a:extLst>
          </p:cNvPr>
          <p:cNvSpPr txBox="1"/>
          <p:nvPr/>
        </p:nvSpPr>
        <p:spPr>
          <a:xfrm>
            <a:off x="215020" y="1802662"/>
            <a:ext cx="90376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6. სტატიის განხილვისას, რის შეფასება უნდა შევხედოთ, რომ შეფასდეს მისი შედეგების სანდოობა?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შესავალი ნაწილის სიგრძე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დასკვნის სისწრაფე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მეთოდოლოგია და მონაცემთა ანალიზი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ციტირებული წყაროების რაოდენობა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6C1617-BECD-DD96-EED9-A0A76C8EFB49}"/>
              </a:ext>
            </a:extLst>
          </p:cNvPr>
          <p:cNvSpPr txBox="1"/>
          <p:nvPr/>
        </p:nvSpPr>
        <p:spPr>
          <a:xfrm>
            <a:off x="215020" y="3749133"/>
            <a:ext cx="91432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7. სამეცნიერო ლიტერატურის მიმოხილვის პროცესში, პირველი ნაბიჯი რა უნდა იყოს?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სტატიის ანოტაციების კითხვა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პრობლემის ან კითხვების განსაზღვრა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შესავალი ნაწილის დაწერა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სტატიების შემთხვევითი ძებნა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19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BA03945-0977-671F-6AB3-39D6E59BD596}"/>
              </a:ext>
            </a:extLst>
          </p:cNvPr>
          <p:cNvSpPr/>
          <p:nvPr/>
        </p:nvSpPr>
        <p:spPr>
          <a:xfrm>
            <a:off x="135752" y="961890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15A9D9-E687-F0FE-F26B-718DA72933B1}"/>
              </a:ext>
            </a:extLst>
          </p:cNvPr>
          <p:cNvSpPr/>
          <p:nvPr/>
        </p:nvSpPr>
        <p:spPr>
          <a:xfrm>
            <a:off x="135751" y="2969743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F3D0DF-7F52-B773-4465-2EEDF00F836C}"/>
              </a:ext>
            </a:extLst>
          </p:cNvPr>
          <p:cNvSpPr/>
          <p:nvPr/>
        </p:nvSpPr>
        <p:spPr>
          <a:xfrm>
            <a:off x="171914" y="5220722"/>
            <a:ext cx="392931" cy="390617"/>
          </a:xfrm>
          <a:custGeom>
            <a:avLst/>
            <a:gdLst>
              <a:gd name="connsiteX0" fmla="*/ 390618 w 392931"/>
              <a:gd name="connsiteY0" fmla="*/ 106532 h 390617"/>
              <a:gd name="connsiteX1" fmla="*/ 363985 w 392931"/>
              <a:gd name="connsiteY1" fmla="*/ 62143 h 390617"/>
              <a:gd name="connsiteX2" fmla="*/ 230820 w 392931"/>
              <a:gd name="connsiteY2" fmla="*/ 0 h 390617"/>
              <a:gd name="connsiteX3" fmla="*/ 124288 w 392931"/>
              <a:gd name="connsiteY3" fmla="*/ 8877 h 390617"/>
              <a:gd name="connsiteX4" fmla="*/ 71022 w 392931"/>
              <a:gd name="connsiteY4" fmla="*/ 53266 h 390617"/>
              <a:gd name="connsiteX5" fmla="*/ 35511 w 392931"/>
              <a:gd name="connsiteY5" fmla="*/ 97654 h 390617"/>
              <a:gd name="connsiteX6" fmla="*/ 0 w 392931"/>
              <a:gd name="connsiteY6" fmla="*/ 177553 h 390617"/>
              <a:gd name="connsiteX7" fmla="*/ 53266 w 392931"/>
              <a:gd name="connsiteY7" fmla="*/ 310718 h 390617"/>
              <a:gd name="connsiteX8" fmla="*/ 124288 w 392931"/>
              <a:gd name="connsiteY8" fmla="*/ 381739 h 390617"/>
              <a:gd name="connsiteX9" fmla="*/ 159799 w 392931"/>
              <a:gd name="connsiteY9" fmla="*/ 390617 h 390617"/>
              <a:gd name="connsiteX10" fmla="*/ 328474 w 392931"/>
              <a:gd name="connsiteY10" fmla="*/ 372862 h 390617"/>
              <a:gd name="connsiteX11" fmla="*/ 337352 w 392931"/>
              <a:gd name="connsiteY11" fmla="*/ 346229 h 390617"/>
              <a:gd name="connsiteX12" fmla="*/ 372863 w 392931"/>
              <a:gd name="connsiteY12" fmla="*/ 275207 h 390617"/>
              <a:gd name="connsiteX13" fmla="*/ 381740 w 392931"/>
              <a:gd name="connsiteY13" fmla="*/ 106532 h 390617"/>
              <a:gd name="connsiteX14" fmla="*/ 390618 w 392931"/>
              <a:gd name="connsiteY14" fmla="*/ 106532 h 39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2931" h="390617">
                <a:moveTo>
                  <a:pt x="390618" y="106532"/>
                </a:moveTo>
                <a:cubicBezTo>
                  <a:pt x="387659" y="99134"/>
                  <a:pt x="376705" y="73803"/>
                  <a:pt x="363985" y="62143"/>
                </a:cubicBezTo>
                <a:cubicBezTo>
                  <a:pt x="300734" y="4163"/>
                  <a:pt x="297875" y="11175"/>
                  <a:pt x="230820" y="0"/>
                </a:cubicBezTo>
                <a:cubicBezTo>
                  <a:pt x="195309" y="2959"/>
                  <a:pt x="158093" y="-2391"/>
                  <a:pt x="124288" y="8877"/>
                </a:cubicBezTo>
                <a:cubicBezTo>
                  <a:pt x="102362" y="16186"/>
                  <a:pt x="87365" y="36923"/>
                  <a:pt x="71022" y="53266"/>
                </a:cubicBezTo>
                <a:cubicBezTo>
                  <a:pt x="57624" y="66664"/>
                  <a:pt x="46022" y="81888"/>
                  <a:pt x="35511" y="97654"/>
                </a:cubicBezTo>
                <a:cubicBezTo>
                  <a:pt x="23073" y="116311"/>
                  <a:pt x="7687" y="158336"/>
                  <a:pt x="0" y="177553"/>
                </a:cubicBezTo>
                <a:cubicBezTo>
                  <a:pt x="9575" y="206279"/>
                  <a:pt x="30578" y="281843"/>
                  <a:pt x="53266" y="310718"/>
                </a:cubicBezTo>
                <a:cubicBezTo>
                  <a:pt x="73951" y="337044"/>
                  <a:pt x="91808" y="373619"/>
                  <a:pt x="124288" y="381739"/>
                </a:cubicBezTo>
                <a:lnTo>
                  <a:pt x="159799" y="390617"/>
                </a:lnTo>
                <a:cubicBezTo>
                  <a:pt x="216024" y="384699"/>
                  <a:pt x="273626" y="386574"/>
                  <a:pt x="328474" y="372862"/>
                </a:cubicBezTo>
                <a:cubicBezTo>
                  <a:pt x="337553" y="370592"/>
                  <a:pt x="333480" y="354748"/>
                  <a:pt x="337352" y="346229"/>
                </a:cubicBezTo>
                <a:cubicBezTo>
                  <a:pt x="348305" y="322133"/>
                  <a:pt x="372863" y="275207"/>
                  <a:pt x="372863" y="275207"/>
                </a:cubicBezTo>
                <a:cubicBezTo>
                  <a:pt x="391303" y="201446"/>
                  <a:pt x="402528" y="189684"/>
                  <a:pt x="381740" y="106532"/>
                </a:cubicBezTo>
                <a:cubicBezTo>
                  <a:pt x="380135" y="100113"/>
                  <a:pt x="393577" y="113930"/>
                  <a:pt x="390618" y="106532"/>
                </a:cubicBezTo>
                <a:close/>
              </a:path>
            </a:pathLst>
          </a:custGeom>
          <a:noFill/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B76C4-C4A5-5EE5-F7DF-107DF4D6EA8B}"/>
              </a:ext>
            </a:extLst>
          </p:cNvPr>
          <p:cNvSpPr txBox="1"/>
          <p:nvPr/>
        </p:nvSpPr>
        <p:spPr>
          <a:xfrm>
            <a:off x="230862" y="153286"/>
            <a:ext cx="91432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8. რომელია სამეცნიერო სტატიის ის ნაწილი, რომელიც ყველაზე სასარგებლოა კვლევის შეზღუდვების გაგებისთვის?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შესავალი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დასკვნა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მეთოდოლოგია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კვლევის შედეგები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FB4C40-2056-75B4-9FA5-632C1AB1718E}"/>
              </a:ext>
            </a:extLst>
          </p:cNvPr>
          <p:cNvSpPr txBox="1"/>
          <p:nvPr/>
        </p:nvSpPr>
        <p:spPr>
          <a:xfrm>
            <a:off x="230862" y="2161111"/>
            <a:ext cx="96079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9. რა არის ლიტერატურის მიმოხილვის პროცესში სხვადასხვა წყაროების ჩართვის მთავარი მიზეზი?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ტექსტის მოცულობის მოთხოვნების დაკმაყოფილება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სხვადასხვა პერსპექტივების დაფ</a:t>
            </a:r>
            <a:r>
              <a:rPr lang="ka-GE" altLang="ja-JP" dirty="0">
                <a:latin typeface="Calibri" panose="020F0502020204030204" pitchFamily="34" charset="0"/>
                <a:cs typeface="Calibri" panose="020F0502020204030204" pitchFamily="34" charset="0"/>
              </a:rPr>
              <a:t>არ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ვა და ყოვლისმომცველი ანალიზის უზრუნველყოფა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რაც შეიძლება მეტი კვლევის გათვალისწინება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მომავალი მკვლევრებისთვის წყაროების ჩამონათვალის მიწოდება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0FA437-0CDC-5E7E-3289-EE766F177B3C}"/>
              </a:ext>
            </a:extLst>
          </p:cNvPr>
          <p:cNvSpPr txBox="1"/>
          <p:nvPr/>
        </p:nvSpPr>
        <p:spPr>
          <a:xfrm>
            <a:off x="230862" y="4100433"/>
            <a:ext cx="90074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a-GE" b="1" dirty="0">
                <a:latin typeface="Calibri" panose="020F0502020204030204" pitchFamily="34" charset="0"/>
                <a:cs typeface="Calibri" panose="020F0502020204030204" pitchFamily="34" charset="0"/>
              </a:rPr>
              <a:t>10. რა არის სისტემატიური მიდგომის გამოყენების მთავარი სარგებელი ლიტერატურის მიმოხილვის პროცესში?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აჩქარებს წერის პროცესს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ბ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უზრუნველყოფს, რომ ყველა არსებული ლიტერატურა იყოს გათვალისწინებული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გ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 ამცირებს მიკერძოებულობას და უზრუნველყოფს თანმიმდევრულობას</a:t>
            </a:r>
            <a:b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დ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ka-GE" dirty="0">
                <a:latin typeface="Calibri" panose="020F0502020204030204" pitchFamily="34" charset="0"/>
                <a:cs typeface="Calibri" panose="020F0502020204030204" pitchFamily="34" charset="0"/>
              </a:rPr>
              <a:t>ეხმარება სტატიის უფრო სწრაფად მოძიებაში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82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4042" y="586856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ka-GE" sz="35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დასკვნა და </a:t>
            </a:r>
            <a:br>
              <a:rPr lang="ka-GE" sz="35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35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კითხვა-პასუხი</a:t>
            </a:r>
          </a:p>
        </p:txBody>
      </p:sp>
      <p:pic>
        <p:nvPicPr>
          <p:cNvPr id="4" name="Picture 2" descr="BTU • ბიზნესისა და ტექნოლოგიების უნივერსიტეტი | Tbilisi">
            <a:extLst>
              <a:ext uri="{FF2B5EF4-FFF2-40B4-BE49-F238E27FC236}">
                <a16:creationId xmlns:a16="http://schemas.microsoft.com/office/drawing/2014/main" id="{29E55A58-4C48-276F-6FEC-17736EE84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2704" y="586856"/>
            <a:ext cx="3065526" cy="306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A648E79-2BD4-4115-E38B-AF578F975B89}"/>
              </a:ext>
            </a:extLst>
          </p:cNvPr>
          <p:cNvSpPr txBox="1">
            <a:spLocks/>
          </p:cNvSpPr>
          <p:nvPr/>
        </p:nvSpPr>
        <p:spPr>
          <a:xfrm>
            <a:off x="623984" y="4601575"/>
            <a:ext cx="7092672" cy="1690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a-GE" sz="2100" b="1">
                <a:latin typeface="Calibri" panose="020F0502020204030204" pitchFamily="34" charset="0"/>
                <a:cs typeface="Calibri" panose="020F0502020204030204" pitchFamily="34" charset="0"/>
              </a:rPr>
              <a:t>მოვრჩი მეხუთე ლექციას, </a:t>
            </a:r>
            <a:br>
              <a:rPr lang="ka-GE" sz="2100" b="1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2100" b="1">
                <a:latin typeface="Calibri" panose="020F0502020204030204" pitchFamily="34" charset="0"/>
                <a:cs typeface="Calibri" panose="020F0502020204030204" pitchFamily="34" charset="0"/>
              </a:rPr>
              <a:t>გაიქეცით სახლში</a:t>
            </a:r>
            <a:br>
              <a:rPr lang="ka-GE" sz="2100" b="1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ka-GE" sz="210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ka-GE" sz="2100" b="1">
                <a:latin typeface="Calibri" panose="020F0502020204030204" pitchFamily="34" charset="0"/>
                <a:cs typeface="Calibri" panose="020F0502020204030204" pitchFamily="34" charset="0"/>
              </a:rPr>
              <a:t>ლექტ. </a:t>
            </a:r>
            <a:r>
              <a:rPr lang="ka-GE" sz="2100">
                <a:latin typeface="Calibri" panose="020F0502020204030204" pitchFamily="34" charset="0"/>
                <a:cs typeface="Calibri" panose="020F0502020204030204" pitchFamily="34" charset="0"/>
              </a:rPr>
              <a:t>გიორგი რატიანი</a:t>
            </a:r>
            <a:endParaRPr lang="ka-GE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2" descr="Free Stock Photo of Runner finishing the race | Download Free Images and  Free Illustrations">
            <a:extLst>
              <a:ext uri="{FF2B5EF4-FFF2-40B4-BE49-F238E27FC236}">
                <a16:creationId xmlns:a16="http://schemas.microsoft.com/office/drawing/2014/main" id="{027E8734-6239-0944-C0D3-5041D4394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0"/>
            <a:ext cx="5829300" cy="479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1527</Words>
  <Application>Microsoft Office PowerPoint</Application>
  <PresentationFormat>Widescreen</PresentationFormat>
  <Paragraphs>123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სამეცნიერო ლიტერატურის მიმოხილვა  სამეცნიერო ლიტერატურის მიმოხილვა (Literature review) კვლევითი თემის გარშემო; სამეცნიერო სტატიის კრიტიკული ანალიზი და შეფასების კრიტერიუმები   ლექტ. გიორგი რატიანი</vt:lpstr>
      <vt:lpstr>ლიტერატურის მიმოხილვა (Literature Review)</vt:lpstr>
      <vt:lpstr>სამეცნიერო სტატიის კრიტიკული ანალიზი</vt:lpstr>
      <vt:lpstr>სამეცნიერო სტატიის კომპონენტები</vt:lpstr>
      <vt:lpstr>პრაქტიკული მაგალითი:</vt:lpstr>
      <vt:lpstr>სამეცნიერო სტატიის მაგალითები</vt:lpstr>
      <vt:lpstr>სამეცნიერო სტატიის მაგალითები</vt:lpstr>
      <vt:lpstr>PowerPoint Presentation</vt:lpstr>
      <vt:lpstr>PowerPoint Presentation</vt:lpstr>
      <vt:lpstr>პრაქტიკული მაგალითი:</vt:lpstr>
      <vt:lpstr>პრაქტიკული მაგალითი:</vt:lpstr>
      <vt:lpstr>პრაქტიკული მაგალითი:</vt:lpstr>
      <vt:lpstr>პრაქტიკული მაგალითი:</vt:lpstr>
      <vt:lpstr>PowerPoint Presentation</vt:lpstr>
      <vt:lpstr>PowerPoint Presentation</vt:lpstr>
      <vt:lpstr>PowerPoint Presentation</vt:lpstr>
      <vt:lpstr>დასკვნა და  კითხვა-პასუხი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Giorgi Ratiani</cp:lastModifiedBy>
  <cp:revision>97</cp:revision>
  <dcterms:created xsi:type="dcterms:W3CDTF">2021-03-10T15:14:38Z</dcterms:created>
  <dcterms:modified xsi:type="dcterms:W3CDTF">2024-10-19T19:36:34Z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d2b3a5-926f-4111-8eea-9c5318b8762f_Enabled">
    <vt:lpwstr>true</vt:lpwstr>
  </property>
  <property fmtid="{D5CDD505-2E9C-101B-9397-08002B2CF9AE}" pid="3" name="MSIP_Label_cdd2b3a5-926f-4111-8eea-9c5318b8762f_SetDate">
    <vt:lpwstr>2024-09-24T06:07:04Z</vt:lpwstr>
  </property>
  <property fmtid="{D5CDD505-2E9C-101B-9397-08002B2CF9AE}" pid="4" name="MSIP_Label_cdd2b3a5-926f-4111-8eea-9c5318b8762f_Method">
    <vt:lpwstr>Standard</vt:lpwstr>
  </property>
  <property fmtid="{D5CDD505-2E9C-101B-9397-08002B2CF9AE}" pid="5" name="MSIP_Label_cdd2b3a5-926f-4111-8eea-9c5318b8762f_Name">
    <vt:lpwstr>defa4170-0d19-0005-0004-bc88714345d2</vt:lpwstr>
  </property>
  <property fmtid="{D5CDD505-2E9C-101B-9397-08002B2CF9AE}" pid="6" name="MSIP_Label_cdd2b3a5-926f-4111-8eea-9c5318b8762f_SiteId">
    <vt:lpwstr>61d2e93c-423d-43b4-8f23-1580c2341952</vt:lpwstr>
  </property>
  <property fmtid="{D5CDD505-2E9C-101B-9397-08002B2CF9AE}" pid="7" name="MSIP_Label_cdd2b3a5-926f-4111-8eea-9c5318b8762f_ActionId">
    <vt:lpwstr>abd0cee9-70aa-4660-a2de-8a6811a1fcd7</vt:lpwstr>
  </property>
  <property fmtid="{D5CDD505-2E9C-101B-9397-08002B2CF9AE}" pid="8" name="MSIP_Label_cdd2b3a5-926f-4111-8eea-9c5318b8762f_ContentBits">
    <vt:lpwstr>0</vt:lpwstr>
  </property>
</Properties>
</file>