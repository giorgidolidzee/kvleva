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9" r:id="rId2"/>
    <p:sldId id="296" r:id="rId3"/>
    <p:sldId id="325" r:id="rId4"/>
    <p:sldId id="326" r:id="rId5"/>
    <p:sldId id="327" r:id="rId6"/>
    <p:sldId id="297" r:id="rId7"/>
    <p:sldId id="295" r:id="rId8"/>
    <p:sldId id="304" r:id="rId9"/>
    <p:sldId id="298" r:id="rId10"/>
    <p:sldId id="319" r:id="rId11"/>
    <p:sldId id="320" r:id="rId12"/>
    <p:sldId id="321" r:id="rId13"/>
    <p:sldId id="322" r:id="rId14"/>
    <p:sldId id="323" r:id="rId15"/>
    <p:sldId id="324" r:id="rId16"/>
    <p:sldId id="329" r:id="rId17"/>
    <p:sldId id="273" r:id="rId18"/>
    <p:sldId id="330" r:id="rId19"/>
    <p:sldId id="331" r:id="rId20"/>
    <p:sldId id="328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7C"/>
    <a:srgbClr val="1F2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587"/>
  </p:normalViewPr>
  <p:slideViewPr>
    <p:cSldViewPr snapToGrid="0" snapToObjects="1">
      <p:cViewPr varScale="1">
        <p:scale>
          <a:sx n="108" d="100"/>
          <a:sy n="108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9T06:29:38.18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0 157,'16'-1,"0"-1,-1 0,19-6,42-5,37 10,-35 2,104-15,-76-3,-29 4,145-9,125-2,47 0,-262 26,863 18,-655-6,-211 10,164 12,370 30,-519-58,211 15,48-14,-233-10,3729 3,-3572-13,21 0,485 14,-657 12,-24-1,-53-10,227 12,-154-6,-44-4,-13 7,38 2,-4 0,12 1,-30-13,368-4,-290-9,95-2,15-5,-220 12,135 6,-99 4,-96-2,50 10,22 1,39-11,-75-2,148 17,-143-7,0-3,114-8,-66 0,1007 2,-1057-4,107-18,-105 10,97-3,33 15,398-14,-330 4,70-6,284 3,-390 16,1849-3,-2071 1,0 1,33 8,33 3,-65-13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9T06:29:45.08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1,'617'15,"171"-2,-258-11,792 59,-1215-55,113 4,137 10,1269 33,-1023-14,-599-39,916 44,10-56,-177-28,-7-73,-673 101,1 4,0 2,127 8,-72 0,7434-2,-7301 14,7 0,-101-2,-31-1,43 3,22 0,-104-13,403 16,12-8,-297-12,-112 5,115-5,-127-8,-54 5,48-2,168 11,126-6,-266-9,-63 5,60 0,-66 7,-4 1,0-1,0-3,56-10,-47 6,1 2,0 2,87 6,-26-1,-14 0,110-4,-130-11,-53 8,48-3,-24 3,-32-1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6DB8-16A9-42B7-8E3A-96528C0E0EE1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F9238-3366-43C7-96FF-4CFB4B9E5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6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3DBA-DF2B-4F45-987C-FFC11F950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733E3-D73A-514C-8080-026404A50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D2E74-6BFE-AB48-B142-D0FFBDD0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D4078-DAD2-DB4A-8B06-2E2A8784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73DA6-AF3E-234F-80B6-DA7FD431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3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A810-663F-3C42-88E3-AA6ADF27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4CEF-4240-4D42-8645-22F161709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18BBE-84B0-424D-9C56-31DA3B12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4F96B-E831-B848-9D06-6F1F8B04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0F6E-E1BB-504E-A498-0A551509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6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FC56-774B-B247-B2AC-277A1CC5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0F574-4E85-DE42-A23E-429EC4F35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7E851-989D-8A45-962A-AA62DBB8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12DB8-05D1-EA45-91A2-1C3EEFE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E4A9C-8352-FA4F-8E57-5142269E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4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E5A2-94FE-F74B-A73E-69F797E3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23EF-3EF9-6E41-982E-A91742E7F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81EA-A2CA-C142-A576-3D6368482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A7C62-82E5-BF4B-91A0-56FDBD37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E85FF-EEAB-784F-B672-BC83A802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C501E-E1E6-384E-82A9-6ABC8333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9547-13D4-E24C-A8E6-CE231947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11D77-9FE0-ED41-BD90-8DE2AD4E3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ECB0E-C552-E440-9878-24CB44E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E5D2-04A3-DD43-9CB9-69CCB4782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80742-3FFD-E440-A9CC-454BF8098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EAF7D-6F54-C84F-B0F2-492D45DA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81826-AD2D-CE47-9818-EC3FCC30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F9511-5C5A-3F4A-BC29-699DAB33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5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F426-DF0F-8846-852E-72F92D68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F8E96-AE5D-3E42-AEC6-222B3474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2DF59-6FF0-F04A-A7DA-437294B0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5AB1E-10F4-BA44-BEBD-AFD22B65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7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5CF62-97A6-C34C-81E8-0D9DA4FE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767A3-EB16-E845-BDA9-C5C3DB41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AA980-C4E5-514B-B3C2-9AE3C75A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2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825E-1355-6D4D-BD05-1AF530FA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A8F4-6502-FA41-B8FE-F95074F4E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235BC-6363-924A-B581-173F059D4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8CE90-8E70-EA40-8F54-0E3A8BEC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FB6D2-88A3-DC45-A546-979F81E0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9F336-843C-144B-A346-0B0E2162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7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8D2A-16DA-534C-826B-B0EA586E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7A813-D28A-0A41-9F13-D8BAFD80A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20809-2225-8445-B4F7-B284ECEE1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25E7B-8265-8944-9FDC-8C8607D2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2AF67-760A-2845-8342-B599AF18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F5E5-FECB-9743-B897-D8F405FB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5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0A44-167B-A44B-B05F-AA5FEDC3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503D3-13A4-ED47-9627-5816D287C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D9D2-4023-B14F-A513-65BA3AEE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3BF4C-8CCA-AB4E-8EF1-26FBEC3F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D98A-1568-9F4B-92F3-86CFFA8C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3E512-95E1-7D4A-93DE-8C58F6B94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51599-1C9E-F94E-AB39-5624FE102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750B-603B-0642-AB7A-CA70C340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55D2-BFCE-3C41-958E-9BD6A5F1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B6981-57E7-AD42-A153-C93B4F4A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5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2D02D-660A-314D-8A95-E9AFD731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4F413-A9F8-2343-92B9-BAECFB91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79BBC-EC5F-0947-83DA-33FDD50A3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18AD1-5EA9-DC4F-81BA-55CDDDB406E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99E26-FF96-FB42-B085-0A61AFF84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5D2E6-E8AD-8940-BAF8-948085710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9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sagepub.com/doi/full/10.1177/18344909211038105#co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4492" y="985866"/>
            <a:ext cx="5030313" cy="3892668"/>
          </a:xfrm>
        </p:spPr>
        <p:txBody>
          <a:bodyPr>
            <a:normAutofit fontScale="90000"/>
          </a:bodyPr>
          <a:lstStyle/>
          <a:p>
            <a:pPr algn="l"/>
            <a: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</a:t>
            </a:r>
            <a:b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მიზანი და აქტუალობა, კვლევის პრობლემის შერჩევა, კვლევის შეკითხვა, ნულოვანი და ალტერნატიული ჰიპოთეზა და მისი ფორმულირება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700" b="1" dirty="0" err="1">
                <a:latin typeface="Calibri" panose="020F0502020204030204" pitchFamily="34" charset="0"/>
                <a:cs typeface="Calibri" panose="020F0502020204030204" pitchFamily="34" charset="0"/>
              </a:rPr>
              <a:t>ლექტ</a:t>
            </a:r>
            <a:r>
              <a:rPr lang="ka-GE" sz="27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a-GE" sz="2700" dirty="0">
                <a:latin typeface="Calibri" panose="020F0502020204030204" pitchFamily="34" charset="0"/>
                <a:cs typeface="Calibri" panose="020F0502020204030204" pitchFamily="34" charset="0"/>
              </a:rPr>
              <a:t>გიორგი რატიანი</a:t>
            </a:r>
          </a:p>
        </p:txBody>
      </p:sp>
      <p:pic>
        <p:nvPicPr>
          <p:cNvPr id="2050" name="Picture 2" descr="BTU • ბიზნესისა და ტექნოლოგიების უნივერსიტეტი | Tbilisi">
            <a:extLst>
              <a:ext uri="{FF2B5EF4-FFF2-40B4-BE49-F238E27FC236}">
                <a16:creationId xmlns:a16="http://schemas.microsoft.com/office/drawing/2014/main" id="{9BE989EF-9400-7E38-F968-1AD9D3370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4030" y="1737169"/>
            <a:ext cx="3065526" cy="306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პრობლემა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206684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წარმოვიდგინოთ, რომ გვსურს გავარკვიოთ: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AD644-6445-CAC3-2593-F8D6B55502EC}"/>
              </a:ext>
            </a:extLst>
          </p:cNvPr>
          <p:cNvSpPr txBox="1"/>
          <p:nvPr/>
        </p:nvSpPr>
        <p:spPr>
          <a:xfrm>
            <a:off x="706772" y="1363249"/>
            <a:ext cx="111468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მოქმედებს სტრესი სტუდენტების აკადემიურ მოსწრებაზე და რა მექანიზმები არსებობს მის შესამცირებლად?</a:t>
            </a:r>
          </a:p>
          <a:p>
            <a:pPr marL="342900" indent="-342900">
              <a:buFont typeface="+mj-lt"/>
              <a:buAutoNum type="arabicPeriod"/>
            </a:pPr>
            <a:endParaRPr lang="en-US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მოქმედებს შინაგანი და გარე მოტივაცია სპორტსმენის მიღწევებზე?</a:t>
            </a:r>
          </a:p>
          <a:p>
            <a:pPr marL="342900" indent="-342900">
              <a:buFont typeface="+mj-lt"/>
              <a:buAutoNum type="arabicPeriod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აისახება დეპრესია ადამიანის სამუშაო პროდუქტიულობაზე და რა ფსიქოლოგიური ჩარევები ეხმარება მის გაუმჯობესებაში?</a:t>
            </a:r>
          </a:p>
          <a:p>
            <a:pPr marL="342900" indent="-342900">
              <a:buFont typeface="+mj-lt"/>
              <a:buAutoNum type="arabicPeriod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აისახება სოციალური მედიის გამოყენება მოქალაქეთა პოლიტიკური აქტიურობისა და ჩართულობის გაზრდაზე?</a:t>
            </a:r>
          </a:p>
          <a:p>
            <a:pPr marL="342900" indent="-342900">
              <a:buFont typeface="+mj-lt"/>
              <a:buAutoNum type="arabicPeriod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აისახება სოციალური უთანასწორობა ახალგაზრდების განათლების მიღების შესაძლებლობაზე?</a:t>
            </a:r>
          </a:p>
          <a:p>
            <a:pPr marL="342900" indent="-342900">
              <a:buFont typeface="+mj-lt"/>
              <a:buAutoNum type="arabicPeriod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რა გავლენას ახდენს ახალი </a:t>
            </a:r>
            <a:r>
              <a:rPr lang="ka-GE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კიბერ</a:t>
            </a: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 უსაფრთხოების სისტემა ორგანიზაციის მონაცემთა დაცვაზე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8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Autofit/>
          </a:bodyPr>
          <a:lstStyle/>
          <a:p>
            <a:pPr algn="ctr" eaLnBrk="1" hangingPunct="1"/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ნულოვანი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 ალტერნატიული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H₁)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ჰიპოთეზა</a:t>
            </a:r>
            <a:endParaRPr lang="en-US" alt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E10DC-6E2F-CD9C-9FA9-63D622014921}"/>
              </a:ext>
            </a:extLst>
          </p:cNvPr>
          <p:cNvSpPr txBox="1"/>
          <p:nvPr/>
        </p:nvSpPr>
        <p:spPr>
          <a:xfrm>
            <a:off x="177554" y="506858"/>
            <a:ext cx="119227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ნულოვანი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და ალტერნატიული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H₁)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ჰიპოთეზა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არის ორი ერთმანეთთან დაკავშირებული განცხადება, რომლებიც გამოიყენება კვლევის პროცესში, განსაკუთრებით სტატისტიკური ტესტირებისას. ეს ჰიპოთეზები ასახავენ განსხვავებულ მოსაზრებებს, რომელთაგან ერთი უნდა დამტკიცდეს ან უარყოფილ იქნას კვლევის მონაცემების საფუძველზე.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B9F7A9-3FEE-86A8-5DEC-AC8A7E52A634}"/>
              </a:ext>
            </a:extLst>
          </p:cNvPr>
          <p:cNvSpPr txBox="1"/>
          <p:nvPr/>
        </p:nvSpPr>
        <p:spPr>
          <a:xfrm>
            <a:off x="615520" y="2136407"/>
            <a:ext cx="1128055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1. ნულოვანი ჰიპოთეზა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H₀):</a:t>
            </a:r>
          </a:p>
          <a:p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ეს არის განცხადება, რომელიც გულისხმობს, რომ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არ არის განსხვავება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ან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ეფექტი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.                  ნულოვანი ჰიპოთეზა ცდილობს დაადასტუროს, რომ ცვლილება ან კავშირი არ არსებობს.</a:t>
            </a:r>
          </a:p>
          <a:p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მაგალითი ფსიქოლოგიიდან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„სტრესის დონე არ არის დაკავშირებული ადამიანის </a:t>
            </a:r>
            <a:r>
              <a:rPr lang="ka-GE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შრომისუნარიანობასთან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მაგალითი ბიზნესიდან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„ახალმა მარკეტინგულმა კამპანიამ არ გაზარდა გაყიდვები წინა კამპანიასთან შედარებით.“</a:t>
            </a:r>
          </a:p>
          <a:p>
            <a:pPr>
              <a:buFont typeface="Arial" panose="020B0604020202020204" pitchFamily="34" charset="0"/>
              <a:buChar char="•"/>
            </a:pPr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მაგალითი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სფეროდან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„ახალი ქსელის უსაფრთხოების ალგორითმი არ ზრდის სისტემის დაცვას </a:t>
            </a:r>
            <a:r>
              <a:rPr lang="ka-GE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კიბერ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შეტევებისგან.“</a:t>
            </a:r>
          </a:p>
        </p:txBody>
      </p:sp>
    </p:spTree>
    <p:extLst>
      <p:ext uri="{BB962C8B-B14F-4D97-AF65-F5344CB8AC3E}">
        <p14:creationId xmlns:p14="http://schemas.microsoft.com/office/powerpoint/2010/main" val="512476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Autofit/>
          </a:bodyPr>
          <a:lstStyle/>
          <a:p>
            <a:pPr algn="ctr" eaLnBrk="1" hangingPunct="1"/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ნულოვანი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 ალტერნატიული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H₁)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ჰიპოთეზა</a:t>
            </a:r>
            <a:endParaRPr lang="en-US" alt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E10DC-6E2F-CD9C-9FA9-63D622014921}"/>
              </a:ext>
            </a:extLst>
          </p:cNvPr>
          <p:cNvSpPr txBox="1"/>
          <p:nvPr/>
        </p:nvSpPr>
        <p:spPr>
          <a:xfrm>
            <a:off x="177554" y="506858"/>
            <a:ext cx="119227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ნულოვანი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და ალტერნატიული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H₁)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ჰიპოთეზა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არის ორი ერთმანეთთან დაკავშირებული განცხადება, რომლებიც გამოიყენება კვლევის პროცესში, განსაკუთრებით სტატისტიკური ტესტირებისას. ეს ჰიპოთეზები ასახავენ განსხვავებულ მოსაზრებებს, რომელთაგან ერთი უნდა დამტკიცდეს ან უარყოფილ იქნას კვლევის მონაცემების საფუძველზე.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B9F7A9-3FEE-86A8-5DEC-AC8A7E52A634}"/>
              </a:ext>
            </a:extLst>
          </p:cNvPr>
          <p:cNvSpPr txBox="1"/>
          <p:nvPr/>
        </p:nvSpPr>
        <p:spPr>
          <a:xfrm>
            <a:off x="615520" y="2136407"/>
            <a:ext cx="112805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2. ალტერნატიული ჰიპოთეზა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H₁):</a:t>
            </a:r>
            <a:endParaRPr lang="ka-G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ეს არის განცხადება, რომელიც ეწინააღმდეგება ნულოვან ჰიპოთეზას. ის ასახავს მოსაზრებას, რომ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განსხვავება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ან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ეფექტი არსებობს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მაგალითი ფსიქოლოგიიდან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„სტრესის მაღალი დონე ამცირებს ადამიანის შრომისუნარიანობას.“</a:t>
            </a:r>
          </a:p>
          <a:p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მაგალითი ბიზნესიდან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„ახალი მარკეტინგული კამპანია გაზარდა გაყიდვების მაჩვენებელი წინა კამპანიასთან შედარებით.“</a:t>
            </a:r>
          </a:p>
          <a:p>
            <a:endParaRPr lang="ka-GE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მაგალითი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სფეროდან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„ახალი ქსელის უსაფრთხოების ალგორითმი უფრო ეფექტურად იცავს სისტემას </a:t>
            </a:r>
            <a:r>
              <a:rPr lang="ka-GE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კიბერ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 შეტევებისგან, ვიდრე ძველი ალგორითმი.“</a:t>
            </a:r>
          </a:p>
        </p:txBody>
      </p:sp>
    </p:spTree>
    <p:extLst>
      <p:ext uri="{BB962C8B-B14F-4D97-AF65-F5344CB8AC3E}">
        <p14:creationId xmlns:p14="http://schemas.microsoft.com/office/powerpoint/2010/main" val="275341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Autofit/>
          </a:bodyPr>
          <a:lstStyle/>
          <a:p>
            <a:pPr algn="ctr" eaLnBrk="1" hangingPunct="1"/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ნულოვანი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 ალტერნატიული (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H₁) </a:t>
            </a:r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ჰიპოთეზა</a:t>
            </a:r>
            <a:endParaRPr lang="en-US" alt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FAF52-310A-B697-2B16-38814CBD81BC}"/>
              </a:ext>
            </a:extLst>
          </p:cNvPr>
          <p:cNvSpPr txBox="1"/>
          <p:nvPr/>
        </p:nvSpPr>
        <p:spPr>
          <a:xfrm>
            <a:off x="401714" y="542408"/>
            <a:ext cx="1168079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ნულოვანი და ალტერნატიული ჰიპოთეზის მნიშვნელობა:</a:t>
            </a:r>
          </a:p>
          <a:p>
            <a:endParaRPr lang="ka-G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ნულოვანი ჰიპოთეზა გვაძლევს საწყის წინაპირობას, რომელსაც ვამოწმებთ მონაცემების მიხედვით.</a:t>
            </a:r>
            <a:endParaRPr lang="ka-G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ალტერნატიული ჰიპოთეზა გვაწვდის იმ ვარიანტს, რომელიც უნდა დადასტურდეს იმ შემთხვევაში, თუ ნულოვანი ჰიპოთეზა არ გამართლდება.</a:t>
            </a:r>
            <a:endParaRPr lang="ka-GE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პროცესში, ნულოვანი ჰიპოთეზა უარყოფილი იქნება, თუ მონაცემები აჩვენებს საკმარის სტატისტიკურ მტკიცებულებას განსხვავების ან ეფექტის არსებობისთვის.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1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ეტაპები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871C7D-734F-86A1-7C4C-0D30049DEBFE}"/>
              </a:ext>
            </a:extLst>
          </p:cNvPr>
          <p:cNvSpPr/>
          <p:nvPr/>
        </p:nvSpPr>
        <p:spPr>
          <a:xfrm>
            <a:off x="313678" y="1045786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საკვლევის კითხვის ფორმულირება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4EA2A-3A64-227F-C5AE-5E73F9BFEB93}"/>
              </a:ext>
            </a:extLst>
          </p:cNvPr>
          <p:cNvSpPr txBox="1"/>
          <p:nvPr/>
        </p:nvSpPr>
        <p:spPr>
          <a:xfrm>
            <a:off x="1050524" y="1454160"/>
            <a:ext cx="1045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იმ საკითხის იდენტიფიცირება და იმ საკვლევი კითხვის განსაზღვრა, რომელზეც პასუხის გაცემა არის კონკრეტული კვლევის მიზანი. საკვლევი კითხვის სწორად ფორმულირება კვლევის ერთ-ერთი ყველაზე მნიშვნელოვანი ეტაპია.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4F9714-2D12-1713-4013-21DA074EC649}"/>
              </a:ext>
            </a:extLst>
          </p:cNvPr>
          <p:cNvSpPr/>
          <p:nvPr/>
        </p:nvSpPr>
        <p:spPr>
          <a:xfrm>
            <a:off x="221942" y="2775204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ლიტერატურის მიმოხილვა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8C325-F8DB-4A00-DCAD-B9994A0A8CE7}"/>
              </a:ext>
            </a:extLst>
          </p:cNvPr>
          <p:cNvSpPr txBox="1"/>
          <p:nvPr/>
        </p:nvSpPr>
        <p:spPr>
          <a:xfrm>
            <a:off x="958788" y="3183578"/>
            <a:ext cx="1045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შერჩეულ თემაზე არსებული კვლევების კომპლექსური მიმოხილვა, არსებული ცოდნის უფრო ღრმად გააზრების მიზნით და ლიტერატურაში არსებული ხარვეზების იდენტიფიცირებისთვის, რომლებიც ამ კვლევას შეუძლია აღმოფხვრას.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35601C-5AF1-8CFF-0ED2-9D91BEF1F6DE}"/>
              </a:ext>
            </a:extLst>
          </p:cNvPr>
          <p:cNvSpPr/>
          <p:nvPr/>
        </p:nvSpPr>
        <p:spPr>
          <a:xfrm>
            <a:off x="313677" y="4496672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061AA-C6E3-E440-93ED-9039F2C91F8F}"/>
              </a:ext>
            </a:extLst>
          </p:cNvPr>
          <p:cNvSpPr txBox="1"/>
          <p:nvPr/>
        </p:nvSpPr>
        <p:spPr>
          <a:xfrm>
            <a:off x="1050523" y="4905046"/>
            <a:ext cx="10457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ჩატარების გეგმის შემუშავება, მათ შორის სამიზნე ჯგუფის (პოპულაციის) შერჩევა, მონაცემების შეგროვებისა და ანალიზის მეთოდების განსაზღვრა.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261AA87-7BC8-B3AD-8AC8-C350439E6816}"/>
              </a:ext>
            </a:extLst>
          </p:cNvPr>
          <p:cNvCxnSpPr>
            <a:cxnSpLocks/>
          </p:cNvCxnSpPr>
          <p:nvPr/>
        </p:nvCxnSpPr>
        <p:spPr>
          <a:xfrm rot="5400000">
            <a:off x="-198256" y="2000012"/>
            <a:ext cx="1321047" cy="229341"/>
          </a:xfrm>
          <a:prstGeom prst="bentConnector3">
            <a:avLst/>
          </a:prstGeom>
          <a:ln>
            <a:solidFill>
              <a:srgbClr val="FE007C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E898716-E362-7C9C-EFD7-013C4A437AAA}"/>
              </a:ext>
            </a:extLst>
          </p:cNvPr>
          <p:cNvCxnSpPr>
            <a:cxnSpLocks/>
          </p:cNvCxnSpPr>
          <p:nvPr/>
        </p:nvCxnSpPr>
        <p:spPr>
          <a:xfrm rot="5400000">
            <a:off x="-184829" y="3718773"/>
            <a:ext cx="1321047" cy="229341"/>
          </a:xfrm>
          <a:prstGeom prst="bentConnector3">
            <a:avLst/>
          </a:prstGeom>
          <a:ln>
            <a:solidFill>
              <a:srgbClr val="FE007C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81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24A63B-E3BA-F32D-1E7E-68288A125DAE}"/>
              </a:ext>
            </a:extLst>
          </p:cNvPr>
          <p:cNvSpPr txBox="1">
            <a:spLocks/>
          </p:cNvSpPr>
          <p:nvPr/>
        </p:nvSpPr>
        <p:spPr>
          <a:xfrm>
            <a:off x="701963" y="635616"/>
            <a:ext cx="11018981" cy="5558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რა არის და როგორ შევარჩიოთ კვლევის დიზაინი?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E4F2C6-CB90-982F-EC13-FBEF4EE99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729" y="2046488"/>
            <a:ext cx="10635448" cy="115596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 არის გეგმა, რომელიც განსაზღვრავს, თუ როგორ უნდა ჩატარდეს კვლევა. ის მოიცავს კვლევის პრობლემის შერჩევას, შეკითხვის ფორმირებას, მონაცემთა შეგროვების და ანალიზის სტრატეგიას.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დიზაინის სწორად დაგეგმვა მნიშვნელოვანია, რათა კვლევა იყოს სანდო,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ობიექტური და შედეგიანი.</a:t>
            </a:r>
          </a:p>
          <a:p>
            <a:pPr marL="0" indent="0">
              <a:buNone/>
            </a:pP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მიზნის შესაბამისად თავდაპირველად უნდა შეირჩეს კვლევის რომელ დიზაინს გამოვიყენებთ: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1A7A3-53DE-E444-28CB-CE4B051E37F5}"/>
              </a:ext>
            </a:extLst>
          </p:cNvPr>
          <p:cNvSpPr txBox="1"/>
          <p:nvPr/>
        </p:nvSpPr>
        <p:spPr>
          <a:xfrm>
            <a:off x="2084033" y="4362018"/>
            <a:ext cx="3406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აღწერითი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06118-B64B-C80A-F55E-4E12A1AF5710}"/>
              </a:ext>
            </a:extLst>
          </p:cNvPr>
          <p:cNvSpPr txBox="1"/>
          <p:nvPr/>
        </p:nvSpPr>
        <p:spPr>
          <a:xfrm>
            <a:off x="7004481" y="4269685"/>
            <a:ext cx="4311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DFBE9-63F3-1ED8-382C-AABF0CFC3317}"/>
              </a:ext>
            </a:extLst>
          </p:cNvPr>
          <p:cNvSpPr txBox="1"/>
          <p:nvPr/>
        </p:nvSpPr>
        <p:spPr>
          <a:xfrm>
            <a:off x="1751121" y="5213417"/>
            <a:ext cx="4072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90E0CC-C4B4-6FDA-A237-66FCA69AA8A7}"/>
              </a:ext>
            </a:extLst>
          </p:cNvPr>
          <p:cNvSpPr txBox="1"/>
          <p:nvPr/>
        </p:nvSpPr>
        <p:spPr>
          <a:xfrm>
            <a:off x="7095476" y="5213417"/>
            <a:ext cx="3690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4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თვისებრივი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60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F276-7D6B-DF5E-0C12-6DF29B8DC6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08374"/>
          </a:xfrm>
          <a:prstGeom prst="rect">
            <a:avLst/>
          </a:prstGeom>
          <a:solidFill>
            <a:srgbClr val="1F23A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a-GE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დიზაინის ტიპების მოკლე მიმოხილვა:</a:t>
            </a:r>
            <a:endParaRPr lang="en-US" alt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D8A7F1-8AD0-898B-E00F-5C6D8BCF5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043" y="697807"/>
            <a:ext cx="1204995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1)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აღწერითი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მიზანი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აღწერა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ხდება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მაგ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გამოკითხვები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დაკვირვება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მაგალითი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ტექნოლოგიებს</a:t>
            </a:r>
            <a:r>
              <a:rPr kumimoji="0" lang="ka-GE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რა მიზნით და რამდენად ხშირად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იყენებენ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მომხმარებლები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უფრო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ხშირად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2)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მიზანი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დაადგინოს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არის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თუ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a-GE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კავშირი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ორ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ან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მეტ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ცვლადს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შორის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მაგალითი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არის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თუ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კავშირი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პროგრამული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უზრუნველყოფის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გამოყენებასა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კიბერ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შეტევების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რისკს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შორის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ka-GE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3)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მიზანი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ცვლადების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მანიპულაცია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მიზეზ-შედეგობრივი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ურთიერთობების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დადგენა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მაგალითი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ახდენს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თუ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ახალი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უსაფრთხოების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სისტემა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კიბერ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შეტევების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თავიდან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აცილებას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ka-GE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a-GE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4) თვისებრივი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კვლევის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rgbClr val="1F23A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დიზაინი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1F23A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მიზანი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კონტექსტის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ღრმა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გააზრება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სოციალური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ფენომენების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ანალიზი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მაგალითი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რა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გამოცდილება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აქვთ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სპეციალისტებს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რომლებიც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მუშაობენ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დისტანციურად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123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მიზნის განსაზღვრა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მიზნის განსაზღვრა</a:t>
            </a:r>
          </a:p>
          <a:p>
            <a:pPr marL="457200" indent="-457200">
              <a:buAutoNum type="arabicPeriod"/>
            </a:pPr>
            <a:endParaRPr lang="ka-G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 არის თქვენი კვლევის მთავარი მიზანი?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თუ თქვენი კვლევის მიზანი არის მხოლოდ არსებული მდგომარეობის აღწერა, მაგალითად, მომხმარებელთა ქცევის შესწავლა, მაშინ შეგიძლიათ გამოიყენოთ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აღწერითი კვლევის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დასკვნითი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თუ გსურთ გაარკვიოთ, რატომ ხდება კონკრეტული მოვლენა ან რა გავლენას ახდენს სხვადასხვა ფაქტორები, მაგალითად, ახალი ალგორითმის ეფექტურობა, უნდა აირჩიოთ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დასკვნითი/ექსპერიმენტული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2179782" y="4000268"/>
            <a:ext cx="91255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1: თქვენი შერჩეული პრობლემისათვის, განსაზღვრეთ კვლევის მიზანი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06EF5-A8DC-4515-D940-E42CCBD54247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მიზანი: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270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ჰიპოთეზის განსაზღვრა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2. კვლევის შეკითხვები და ჰიპოთეზა</a:t>
            </a:r>
          </a:p>
          <a:p>
            <a:endParaRPr lang="ka-G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 კითხვებს სვამს თქვენი კვლევა?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თქვენი კითხვები უკავშირდება ურთიერთობების დადგენას ან ცვლილებების წინასწარმეტყველებას, გამოიყენეთ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ან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რაოდენობრივი კვლევის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კვლევა ითხოვს დეტალურ განხილვასა და კონტექსტის გაგებას,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თვისებრივი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შეიძლება უკეთესი არჩევანი იყოს.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2179782" y="3717789"/>
            <a:ext cx="91255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2: თქვენი შერჩეული პრობლემისათვის, ჩამოაყალიბეთ კვლევის ჰიპოთეზა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3AB8C-8946-037A-4069-27D25D8F163F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ჰიპოთეზა: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53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მონაცემთა ტიპი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3. მონაცემთა ტიპი</a:t>
            </a:r>
          </a:p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როგორი მონაცემებია საჭირო?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რაოდენობრივი მონაცემები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თუ გჭირდებათ მონაცემების რაოდენობრივი ანალიზი, გამოიყენეთ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რაოდენობრივი კვლევის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(მაგალითად, ექსპერიმენტები, გამოკითხვები, სტატისტიკური ანალიზი).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ტექსტური ან აღწერითი მონაცემები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თუ ფოკუსი დაკვირვებასა და </a:t>
            </a:r>
            <a:r>
              <a:rPr lang="ka-GE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ინტერვიუებზეა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, გამოიყენეთ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თვისებრივი კვლევის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(მაგალითად, დაკვირვება, ინტერვიუები, ფოკუს ჯგუფები).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1884219" y="3780039"/>
            <a:ext cx="91255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3: განსაზღვრეთ რა ტიპის მონაცემი დაგჭირდებათ, აღწერეთ მონაცემების შეგროვების პრინციპი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3AB8C-8946-037A-4069-27D25D8F163F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3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მონაცემთა შეგროვების მეთოდები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4. მონაცემთა შეგროვების მეთოდები</a:t>
            </a:r>
          </a:p>
          <a:p>
            <a:endParaRPr lang="ka-G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როგორ შეგროვდება მონაცემები?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მონაცემების შეგროვება საჭიროა მხოლოდ ერთჯერადად, გამოიყენეთ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კროს-სექციური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(მაგალითად, ერთჯერადი გამოკითხვა).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გჭირდებათ მონაცემების შეგროვება დროის სხვადასხვა მონაკვეთში, გამოიყენეთ </a:t>
            </a:r>
            <a:r>
              <a:rPr lang="ka-GE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ლონგიტუდინალური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 დიზაინი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 (მაგალითად, მრავალჯერადი დაკვირვება ერთსა და იმავე ჯგუფზე).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1884219" y="3780039"/>
            <a:ext cx="9125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4: შეარჩიეთ მონაცემის შეგროვების ხერხი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3AB8C-8946-037A-4069-27D25D8F163F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7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რესურსები და დრო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5. კვლევის რესურსები და დრო</a:t>
            </a:r>
          </a:p>
          <a:p>
            <a:endParaRPr lang="ka-G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რამდენი დრო და რესურსი გაქვთ?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დრო შეზღუდულია და მონაცემების სწრაფად შეგროვებაა საჭირო, არჩევანი უნდა გააკეთოთ უფრო მარტივ </a:t>
            </a: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 კვლევაზე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თუ რესურსები საკმარისია და კვლევას შეუძლია დროის მეტ ხარჯვას მოითხოვოს, შეგიძლიათ უფრო რთული და დეტალური კვლევის დიზაინი გამოიყენოთ.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1708728" y="3721590"/>
            <a:ext cx="91255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5: განსაზღვრეთ თქვენი დრო და რესურსი, რის საფუძველზეც შეარჩიეთ გამოკითხვის დრო, ადგილი და ტიპი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3AB8C-8946-037A-4069-27D25D8F163F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აღწერეთ პასუხი: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7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დამატებითი ფაქტორები კვლევის დროს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254000" y="704273"/>
            <a:ext cx="11684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6. დამატებითი ფაქტორები:</a:t>
            </a:r>
          </a:p>
          <a:p>
            <a:endParaRPr lang="ka-GE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 ეთიკური საკითხები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კვლევის დროს მნიშვნელოვანია ეთიკური ნორმების დაცვა, განსაკუთრებით მაშინ, თუ კვლევა მოიცავს ადამიანებთან მუშაობას.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2200" b="1" dirty="0">
                <a:latin typeface="Calibri" panose="020F0502020204030204" pitchFamily="34" charset="0"/>
                <a:cs typeface="Calibri" panose="020F0502020204030204" pitchFamily="34" charset="0"/>
              </a:rPr>
              <a:t> კვლევის </a:t>
            </a:r>
            <a:r>
              <a:rPr lang="ka-GE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განმეორებადობა</a:t>
            </a:r>
            <a:r>
              <a:rPr lang="ka-GE" sz="2200" dirty="0">
                <a:latin typeface="Calibri" panose="020F0502020204030204" pitchFamily="34" charset="0"/>
                <a:cs typeface="Calibri" panose="020F0502020204030204" pitchFamily="34" charset="0"/>
              </a:rPr>
              <a:t>: კვლევის დიზაინი უნდა იყოს ისეთი, რომ სხვა მკვლევარებმა საჭიროების შემთხვევაში შეძლონ მისი გამეორება.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1533237" y="3123830"/>
            <a:ext cx="91255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6: რა ეთიკური წინააღმდეგობა შეიძლება </a:t>
            </a:r>
            <a:r>
              <a:rPr lang="ka-GE" sz="2400" b="1" dirty="0" err="1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გქვენდოს</a:t>
            </a:r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ჩვენი შერჩეული საკითხის კვლევის დროს? </a:t>
            </a:r>
            <a:r>
              <a:rPr lang="ka-GE" sz="2400" b="1" dirty="0" err="1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პრამდენად</a:t>
            </a:r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განმეორებადი შეიძლება იყოს ეს კვლევა სხვა მკვლევარებისათვის?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3AB8C-8946-037A-4069-27D25D8F163F}"/>
              </a:ext>
            </a:extLst>
          </p:cNvPr>
          <p:cNvSpPr/>
          <p:nvPr/>
        </p:nvSpPr>
        <p:spPr>
          <a:xfrm>
            <a:off x="748145" y="4886036"/>
            <a:ext cx="10400146" cy="1267691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აღწერეთ პასუხი: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78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ეტაპები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871C7D-734F-86A1-7C4C-0D30049DEBFE}"/>
              </a:ext>
            </a:extLst>
          </p:cNvPr>
          <p:cNvSpPr/>
          <p:nvPr/>
        </p:nvSpPr>
        <p:spPr>
          <a:xfrm>
            <a:off x="341925" y="830708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მონაცემების შეგროვება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4EA2A-3A64-227F-C5AE-5E73F9BFEB93}"/>
              </a:ext>
            </a:extLst>
          </p:cNvPr>
          <p:cNvSpPr txBox="1"/>
          <p:nvPr/>
        </p:nvSpPr>
        <p:spPr>
          <a:xfrm>
            <a:off x="1039974" y="1194514"/>
            <a:ext cx="1045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ინფორმაციის შეგროვება კვლევის დიზაინში ასახული შერჩეული მეთოდების გამოყენებით. კვლევის სპეციფიკიდან გამომდინარე, ეს შეიძლება მოიცავდეს ინტერვიუებს, ანკეტების შევსებას, გამოკითხვის ან დაკვირვების შედეგების ფიქსაციას ცვლადებში ან დოკუმენტების ანალიზს.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4F9714-2D12-1713-4013-21DA074EC649}"/>
              </a:ext>
            </a:extLst>
          </p:cNvPr>
          <p:cNvSpPr/>
          <p:nvPr/>
        </p:nvSpPr>
        <p:spPr>
          <a:xfrm>
            <a:off x="250189" y="2188370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მონაცემების დამუშავება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8C325-F8DB-4A00-DCAD-B9994A0A8CE7}"/>
              </a:ext>
            </a:extLst>
          </p:cNvPr>
          <p:cNvSpPr txBox="1"/>
          <p:nvPr/>
        </p:nvSpPr>
        <p:spPr>
          <a:xfrm>
            <a:off x="987035" y="2590624"/>
            <a:ext cx="1045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შეგროვებული მონაცემების ორგანიზება, ინტერპრეტაცია და წარდგენა. ეს ნაბიჯი მოიცავს სტატისტიკური ან სხვა ანალიტიკური მეთოდების გამოყენებას, რაც დამოკიდებულია კვლევის ბუნებაზე და მიღებულ მონაცემებზე.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35601C-5AF1-8CFF-0ED2-9D91BEF1F6DE}"/>
              </a:ext>
            </a:extLst>
          </p:cNvPr>
          <p:cNvSpPr/>
          <p:nvPr/>
        </p:nvSpPr>
        <p:spPr>
          <a:xfrm>
            <a:off x="341924" y="3605435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შედეგების ინტერპრეტაცია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061AA-C6E3-E440-93ED-9039F2C91F8F}"/>
              </a:ext>
            </a:extLst>
          </p:cNvPr>
          <p:cNvSpPr txBox="1"/>
          <p:nvPr/>
        </p:nvSpPr>
        <p:spPr>
          <a:xfrm>
            <a:off x="1078771" y="4174704"/>
            <a:ext cx="1045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მონაცემთა ანალიზის საფუძველზე დასკვნების გამოტანა, ჰიპოთეზის შემოწმება.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9CEECC-899A-40EF-9082-6496428FA614}"/>
              </a:ext>
            </a:extLst>
          </p:cNvPr>
          <p:cNvSpPr/>
          <p:nvPr/>
        </p:nvSpPr>
        <p:spPr>
          <a:xfrm>
            <a:off x="341925" y="4813223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ანგარიშის დაწერა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37C8B-CE14-B051-945D-4FB454C9A683}"/>
              </a:ext>
            </a:extLst>
          </p:cNvPr>
          <p:cNvSpPr txBox="1"/>
          <p:nvPr/>
        </p:nvSpPr>
        <p:spPr>
          <a:xfrm>
            <a:off x="1078770" y="5202941"/>
            <a:ext cx="1045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სტრუქტურირებული და ლაკონური ანგარიშის დაწერა, წერის აკადემიურ სტილში წყაროების შესაბამისი ციტირებით. მაგისტრანტის ნაშრომში ანგარიში სასურველია იყოს 40-დან 80 გვერდამდე, ხოლო სადოქტოროს შემთხვევაში ნაშრომი უნდა იყოს 100-დან 200 გვერდამდე.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15055A6-CB11-3FE9-F99B-76B7A8389F38}"/>
              </a:ext>
            </a:extLst>
          </p:cNvPr>
          <p:cNvCxnSpPr>
            <a:cxnSpLocks/>
          </p:cNvCxnSpPr>
          <p:nvPr/>
        </p:nvCxnSpPr>
        <p:spPr>
          <a:xfrm rot="5400000">
            <a:off x="107010" y="1614247"/>
            <a:ext cx="955806" cy="218437"/>
          </a:xfrm>
          <a:prstGeom prst="bentConnector3">
            <a:avLst/>
          </a:prstGeom>
          <a:ln>
            <a:solidFill>
              <a:srgbClr val="FE007C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B7A378E-D6D7-0EF6-691B-E24BD22412BA}"/>
              </a:ext>
            </a:extLst>
          </p:cNvPr>
          <p:cNvCxnSpPr>
            <a:cxnSpLocks/>
          </p:cNvCxnSpPr>
          <p:nvPr/>
        </p:nvCxnSpPr>
        <p:spPr>
          <a:xfrm rot="5400000">
            <a:off x="39593" y="3026637"/>
            <a:ext cx="1014900" cy="142697"/>
          </a:xfrm>
          <a:prstGeom prst="bentConnector3">
            <a:avLst/>
          </a:prstGeom>
          <a:ln>
            <a:solidFill>
              <a:srgbClr val="FE007C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5A04A42-71A5-3857-802B-B0AA3A284C9B}"/>
              </a:ext>
            </a:extLst>
          </p:cNvPr>
          <p:cNvCxnSpPr>
            <a:cxnSpLocks/>
          </p:cNvCxnSpPr>
          <p:nvPr/>
        </p:nvCxnSpPr>
        <p:spPr>
          <a:xfrm rot="5400000">
            <a:off x="206868" y="4325959"/>
            <a:ext cx="799414" cy="175115"/>
          </a:xfrm>
          <a:prstGeom prst="bentConnector3">
            <a:avLst/>
          </a:prstGeom>
          <a:ln>
            <a:solidFill>
              <a:srgbClr val="FE007C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CDE251E-B9D7-F251-8DEA-FA363C173E5D}"/>
                  </a:ext>
                </a:extLst>
              </p14:cNvPr>
              <p14:cNvContentPartPr/>
              <p14:nvPr/>
            </p14:nvContentPartPr>
            <p14:xfrm>
              <a:off x="3685149" y="5605196"/>
              <a:ext cx="7812720" cy="95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CDE251E-B9D7-F251-8DEA-FA363C173E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1149" y="5497556"/>
                <a:ext cx="79203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339C081-CD7D-FF6B-389A-41BF8B4741F6}"/>
                  </a:ext>
                </a:extLst>
              </p14:cNvPr>
              <p14:cNvContentPartPr/>
              <p14:nvPr/>
            </p14:nvContentPartPr>
            <p14:xfrm>
              <a:off x="1163709" y="5920196"/>
              <a:ext cx="8225280" cy="95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339C081-CD7D-FF6B-389A-41BF8B4741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9709" y="5812556"/>
                <a:ext cx="8332920" cy="3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622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სტატიის მაგალითი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3D51-B0EB-C644-D7A6-E31DAA96B58B}"/>
              </a:ext>
            </a:extLst>
          </p:cNvPr>
          <p:cNvSpPr txBox="1"/>
          <p:nvPr/>
        </p:nvSpPr>
        <p:spPr>
          <a:xfrm>
            <a:off x="1186156" y="704273"/>
            <a:ext cx="1168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რამდენიმე სამეცნიერო სტატიის მაგალითზე კვლევის დიზაინის განხილვა</a:t>
            </a:r>
            <a:endParaRPr lang="ka-G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27D1D-8945-4EC5-95A0-40768BA8282C}"/>
              </a:ext>
            </a:extLst>
          </p:cNvPr>
          <p:cNvSpPr txBox="1"/>
          <p:nvPr/>
        </p:nvSpPr>
        <p:spPr>
          <a:xfrm>
            <a:off x="1043189" y="1554170"/>
            <a:ext cx="98375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განათლების ტექნოლოგიური პლატფორმა, როგორც ინოვაციური სწავლების მოდელი უნივერისტეტებისათვის: გამოწვევები და პერსპექტივები. </a:t>
            </a:r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სადისერტაციო ნაშრომი: ავტორი: მაია ნონიაშვილი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arenR"/>
            </a:pPr>
            <a:endParaRPr lang="en-US" sz="2400" b="1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AutoNum type="arabicParenR"/>
            </a:pPr>
            <a:r>
              <a:rPr lang="en-US" sz="2400" b="1" i="0" dirty="0">
                <a:solidFill>
                  <a:srgbClr val="555555"/>
                </a:solidFill>
                <a:effectLst/>
                <a:latin typeface="Sage Peak"/>
              </a:rPr>
              <a:t>AI in learning: </a:t>
            </a:r>
            <a:r>
              <a:rPr lang="en-US" sz="2400" b="1" i="0" dirty="0">
                <a:solidFill>
                  <a:srgbClr val="555555"/>
                </a:solidFill>
                <a:effectLst/>
                <a:latin typeface="unset"/>
              </a:rPr>
              <a:t>Preparing grounds for future learning. </a:t>
            </a:r>
            <a:r>
              <a:rPr lang="en-US" sz="2400" b="0" i="0" u="sng" dirty="0" err="1">
                <a:solidFill>
                  <a:srgbClr val="046FF8"/>
                </a:solidFill>
                <a:effectLst/>
                <a:latin typeface="Open Sans" panose="020B0606030504020204" pitchFamily="34" charset="0"/>
                <a:hlinkClick r:id="rId2"/>
              </a:rPr>
              <a:t>Hannele</a:t>
            </a:r>
            <a:r>
              <a:rPr lang="en-US" sz="2400" b="0" i="0" u="sng" dirty="0">
                <a:solidFill>
                  <a:srgbClr val="046FF8"/>
                </a:solidFill>
                <a:effectLst/>
                <a:latin typeface="Open Sans" panose="020B0606030504020204" pitchFamily="34" charset="0"/>
                <a:hlinkClick r:id="rId2"/>
              </a:rPr>
              <a:t> Niemi</a:t>
            </a:r>
            <a:endParaRPr lang="en-US" sz="2400" b="0" i="0" u="sng" dirty="0">
              <a:solidFill>
                <a:srgbClr val="046FF8"/>
              </a:solidFill>
              <a:effectLst/>
              <a:latin typeface="Open Sans" panose="020B0606030504020204" pitchFamily="34" charset="0"/>
            </a:endParaRPr>
          </a:p>
          <a:p>
            <a:pPr marL="457200" indent="-457200">
              <a:buFontTx/>
              <a:buAutoNum type="arabicParenR"/>
            </a:pPr>
            <a:endParaRPr lang="en-US" sz="2400" u="sng" dirty="0">
              <a:solidFill>
                <a:srgbClr val="046FF8"/>
              </a:solidFill>
              <a:latin typeface="Open Sans" panose="020B0606030504020204" pitchFamily="34" charset="0"/>
            </a:endParaRPr>
          </a:p>
          <a:p>
            <a:pPr marL="457200" indent="-457200">
              <a:buFontTx/>
              <a:buAutoNum type="arabicParenR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Use of Artificial Intelligence (AI) in Online Learning and Distance Education Processes: A Systematic Review of Empirical Studies. Murat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Ertan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Dogan</a:t>
            </a:r>
          </a:p>
          <a:p>
            <a:pPr marL="457200" indent="-457200">
              <a:buFontTx/>
              <a:buAutoNum type="arabicParenR"/>
            </a:pPr>
            <a:endParaRPr lang="en-US" sz="24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Tx/>
              <a:buAutoNum type="arabicParenR"/>
            </a:pPr>
            <a:endParaRPr lang="en-US" sz="2400" b="1" i="0" dirty="0">
              <a:solidFill>
                <a:srgbClr val="555555"/>
              </a:solidFill>
              <a:effectLst/>
              <a:latin typeface="Sage Peak"/>
            </a:endParaRPr>
          </a:p>
          <a:p>
            <a:pPr marL="457200" indent="-457200">
              <a:buAutoNum type="arabicParenR"/>
            </a:pPr>
            <a:endParaRPr lang="ka-GE" sz="2400" b="1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84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18C1B9-8D51-6AA7-B907-81DE414400BA}"/>
              </a:ext>
            </a:extLst>
          </p:cNvPr>
          <p:cNvSpPr txBox="1"/>
          <p:nvPr/>
        </p:nvSpPr>
        <p:spPr>
          <a:xfrm>
            <a:off x="215283" y="4837344"/>
            <a:ext cx="119027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4. რომელ კვლევის ტიპში ხდება ორი ან მეტი ცვლადების ურთიერთობის დადგენა?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თვისებრივი კვლევის დიზაინი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B7993-5474-0C2B-8712-1E59FF690C95}"/>
              </a:ext>
            </a:extLst>
          </p:cNvPr>
          <p:cNvSpPr txBox="1"/>
          <p:nvPr/>
        </p:nvSpPr>
        <p:spPr>
          <a:xfrm>
            <a:off x="215283" y="58544"/>
            <a:ext cx="86357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1. რა არის კვლევის დიზაინის მთავარი მიზანი?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შეკითხვის განსაზღვრა და ჰიპოთეზის ფორმირება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ორგანიზება და </a:t>
            </a:r>
            <a:r>
              <a:rPr lang="ka-GE" dirty="0" err="1">
                <a:latin typeface="Calibri" panose="020F0502020204030204" pitchFamily="34" charset="0"/>
                <a:cs typeface="Calibri" panose="020F0502020204030204" pitchFamily="34" charset="0"/>
              </a:rPr>
              <a:t>სტრუქტურირება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, თუ როგორ ჩატარდება კვლევა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მონაცემების შეგროვება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ყველა ზემოთჩამოთვლილი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215283" y="1220731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C3BF5F-F09D-90C8-EAD2-C3ABEE654A75}"/>
              </a:ext>
            </a:extLst>
          </p:cNvPr>
          <p:cNvSpPr/>
          <p:nvPr/>
        </p:nvSpPr>
        <p:spPr>
          <a:xfrm>
            <a:off x="135753" y="2392514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135753" y="4213094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F3D0DF-7F52-B773-4465-2EEDF00F836C}"/>
              </a:ext>
            </a:extLst>
          </p:cNvPr>
          <p:cNvSpPr/>
          <p:nvPr/>
        </p:nvSpPr>
        <p:spPr>
          <a:xfrm>
            <a:off x="135752" y="5132187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717F6-D853-81F3-A012-28DDE4F60B49}"/>
              </a:ext>
            </a:extLst>
          </p:cNvPr>
          <p:cNvSpPr txBox="1"/>
          <p:nvPr/>
        </p:nvSpPr>
        <p:spPr>
          <a:xfrm>
            <a:off x="215283" y="1816673"/>
            <a:ext cx="91447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2. რომელია ნულოვანი ჰიპოთეზის 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H₀) </a:t>
            </a:r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მაგალითი?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ახალი პროგრამა ზრდის მომხმარებლის პროდუქტიულობას.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სისტემური განახლებების და პროგრამული ავარიების შორის არ არსებობს კავშირი.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ქსელის უსაფრთხოების გაუმჯობესება ამცირებს შეტევების რისკს.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მარკეტინგული კამპანია ზრდის მომხმარებლის ჩართულობას.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F5037-4EC5-925A-2BFD-1EC03767CBB5}"/>
              </a:ext>
            </a:extLst>
          </p:cNvPr>
          <p:cNvSpPr txBox="1"/>
          <p:nvPr/>
        </p:nvSpPr>
        <p:spPr>
          <a:xfrm>
            <a:off x="215283" y="3358972"/>
            <a:ext cx="116630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3. რომელ კვლევის დიზაინში ხდება ცვლადებით მანიპულირება მათი გავლენის დასაკვირვებლად?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რაოდენობრივი კვლევის დიზაინი</a:t>
            </a:r>
          </a:p>
        </p:txBody>
      </p:sp>
    </p:spTree>
    <p:extLst>
      <p:ext uri="{BB962C8B-B14F-4D97-AF65-F5344CB8AC3E}">
        <p14:creationId xmlns:p14="http://schemas.microsoft.com/office/powerpoint/2010/main" val="174991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D211E39-7548-ADE1-8B34-B90D386FB572}"/>
              </a:ext>
            </a:extLst>
          </p:cNvPr>
          <p:cNvSpPr txBox="1"/>
          <p:nvPr/>
        </p:nvSpPr>
        <p:spPr>
          <a:xfrm>
            <a:off x="344470" y="2285339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6. რას გულისხმობს ალტერნატიული ჰიპოთეზა 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H₁)?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არ არსებობს განსხვავება ცვლადებს შორის.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ნულოვანი ჰიპოთეზა არასწორია.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არსებობს განსხვავება ან ეფექტი ცვლადებს შორის.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 არ იქნება დასკვნითი.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D0A19-356C-D0F7-2A4E-CA3E5DC2EEA0}"/>
              </a:ext>
            </a:extLst>
          </p:cNvPr>
          <p:cNvSpPr txBox="1"/>
          <p:nvPr/>
        </p:nvSpPr>
        <p:spPr>
          <a:xfrm>
            <a:off x="332217" y="109712"/>
            <a:ext cx="11159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5. რომელი მონაცემთა შეგროვების მეთოდი ყველაზე შესაფერისია ერთჯერადი მომხმარებელთა კმაყოფილების გამოკითხვისთვის?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 err="1">
                <a:latin typeface="Calibri" panose="020F0502020204030204" pitchFamily="34" charset="0"/>
                <a:cs typeface="Calibri" panose="020F0502020204030204" pitchFamily="34" charset="0"/>
              </a:rPr>
              <a:t>ლონგიტუდური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კვლევა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კროს-სექციური კვლევა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 კვლევა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შემთხვევითი კვლევა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307622" y="951936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C3BF5F-F09D-90C8-EAD2-C3ABEE654A75}"/>
              </a:ext>
            </a:extLst>
          </p:cNvPr>
          <p:cNvSpPr/>
          <p:nvPr/>
        </p:nvSpPr>
        <p:spPr>
          <a:xfrm>
            <a:off x="296705" y="3067566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215283" y="5539063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19BFA-E610-9A37-BDB6-DFC4A4160BD4}"/>
              </a:ext>
            </a:extLst>
          </p:cNvPr>
          <p:cNvSpPr txBox="1"/>
          <p:nvPr/>
        </p:nvSpPr>
        <p:spPr>
          <a:xfrm>
            <a:off x="215283" y="4140227"/>
            <a:ext cx="88214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7. თუ მკვლევარს სურს გაიგოს, როგორ მართავენ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სპეციალისტები დისტანციურ მუშაობას, რომელი კვლევის დიზაინია ყველაზე შესაფერისი?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აღწერითი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კორელაციური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 კვლევის დიზაინი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თვისებრივი კვლევის დიზაინი</a:t>
            </a:r>
          </a:p>
        </p:txBody>
      </p:sp>
    </p:spTree>
    <p:extLst>
      <p:ext uri="{BB962C8B-B14F-4D97-AF65-F5344CB8AC3E}">
        <p14:creationId xmlns:p14="http://schemas.microsoft.com/office/powerpoint/2010/main" val="18091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493170" y="2853883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C3BF5F-F09D-90C8-EAD2-C3ABEE654A75}"/>
              </a:ext>
            </a:extLst>
          </p:cNvPr>
          <p:cNvSpPr/>
          <p:nvPr/>
        </p:nvSpPr>
        <p:spPr>
          <a:xfrm>
            <a:off x="499350" y="4938841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454626" y="715292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8ACFD-02E2-1B56-F784-BABC2FB6BE3E}"/>
              </a:ext>
            </a:extLst>
          </p:cNvPr>
          <p:cNvSpPr txBox="1"/>
          <p:nvPr/>
        </p:nvSpPr>
        <p:spPr>
          <a:xfrm>
            <a:off x="493170" y="171937"/>
            <a:ext cx="88125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8. რომელია თვისებრივი კვლევის დიზაინის მაგალითი?</a:t>
            </a:r>
          </a:p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მომხმარებლის კმაყოფილების გაზომვა რიცხვების მასშტაბით.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მომხმარებელთა გამოცდილების შესწავლა.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დიდი მონაცემების ანალიზი ტრენდების პროგნოზირებისთვის.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ახალი სისტემის ეფექტურობის ტესტირება.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344B6-1A8C-1AF1-DBF1-38DD24F9C626}"/>
              </a:ext>
            </a:extLst>
          </p:cNvPr>
          <p:cNvSpPr txBox="1"/>
          <p:nvPr/>
        </p:nvSpPr>
        <p:spPr>
          <a:xfrm>
            <a:off x="554271" y="2011168"/>
            <a:ext cx="86074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9. რომელი ფაქტორია ყველაზე მნიშვნელოვანი რაოდენობრივი ან თვისებრივი კვლევის დიზაინის არჩევისას?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დროთა შეზღუდულობა.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შეკითხვის ბუნება და მონაცემების ტიპი.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მონაწილეთა რაოდენობა.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ტექნოლოგიის ტიპი, რომელიც შეისწავლება.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75091-E78E-3856-DC6C-F441D7A55F6D}"/>
              </a:ext>
            </a:extLst>
          </p:cNvPr>
          <p:cNvSpPr txBox="1"/>
          <p:nvPr/>
        </p:nvSpPr>
        <p:spPr>
          <a:xfrm>
            <a:off x="554271" y="4031383"/>
            <a:ext cx="9690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10. რომელი მეთოდით შეგროვდება მონაცემები ექსპერიმენტული კვლევის დიზაინში?</a:t>
            </a:r>
            <a:endParaRPr lang="ka-G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ინტერვიუების ჩატარება მონაწილეებთან.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მონაწილეების ბუნებრივ გარემოში დაკვირვება.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ერთი ცვლადის მანიპულაცია და მისი გავლენის გაზომვა სხვა ცვლადზე.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წინა კვლევების განხილვა და მათი შედეგების ანალიზი.</a:t>
            </a:r>
          </a:p>
        </p:txBody>
      </p:sp>
    </p:spTree>
    <p:extLst>
      <p:ext uri="{BB962C8B-B14F-4D97-AF65-F5344CB8AC3E}">
        <p14:creationId xmlns:p14="http://schemas.microsoft.com/office/powerpoint/2010/main" val="170011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Autofit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დავალება #1 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4EA2A-3A64-227F-C5AE-5E73F9BFEB93}"/>
              </a:ext>
            </a:extLst>
          </p:cNvPr>
          <p:cNvSpPr txBox="1"/>
          <p:nvPr/>
        </p:nvSpPr>
        <p:spPr>
          <a:xfrm>
            <a:off x="1435224" y="505118"/>
            <a:ext cx="1045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ქვემოთ ჩამოთვლილი თემებიდან, კვლევისათვის შეარჩიეთ ერთი რომელიმე თემა.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D9981-9250-579A-EF91-BCFEE779DE36}"/>
              </a:ext>
            </a:extLst>
          </p:cNvPr>
          <p:cNvSpPr txBox="1"/>
          <p:nvPr/>
        </p:nvSpPr>
        <p:spPr>
          <a:xfrm>
            <a:off x="798990" y="1305899"/>
            <a:ext cx="86912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Artificial Intelligence and Machine Learning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Cybersecurity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Big Data and Data Analytics</a:t>
            </a:r>
            <a:endParaRPr lang="ka-GE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. Software Development and Engineering</a:t>
            </a:r>
          </a:p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. Human-Computer Interaction (HCI)</a:t>
            </a:r>
            <a:endParaRPr lang="ka-GE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ka-GE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B5099-5994-DC27-BF11-23A4F004DD60}"/>
              </a:ext>
            </a:extLst>
          </p:cNvPr>
          <p:cNvSpPr txBox="1"/>
          <p:nvPr/>
        </p:nvSpPr>
        <p:spPr>
          <a:xfrm>
            <a:off x="7406195" y="1305899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AutoNum type="arabicPeriod"/>
            </a:lvl1pPr>
          </a:lstStyle>
          <a:p>
            <a:r>
              <a:rPr lang="en-US" b="1" dirty="0"/>
              <a:t>Customer Behavior Analysis</a:t>
            </a:r>
            <a:endParaRPr lang="ka-GE" b="1" dirty="0"/>
          </a:p>
          <a:p>
            <a:r>
              <a:rPr lang="en-US" b="1" dirty="0"/>
              <a:t>Marketing Analytics</a:t>
            </a:r>
            <a:endParaRPr lang="ka-GE" b="1" dirty="0"/>
          </a:p>
          <a:p>
            <a:r>
              <a:rPr lang="en-US" b="1" dirty="0"/>
              <a:t>Sales Forecasting</a:t>
            </a:r>
            <a:endParaRPr lang="ka-GE" b="1" dirty="0"/>
          </a:p>
          <a:p>
            <a:r>
              <a:rPr lang="en-US" b="1" dirty="0"/>
              <a:t>Risk Management</a:t>
            </a:r>
            <a:endParaRPr lang="ka-GE" b="1" dirty="0"/>
          </a:p>
          <a:p>
            <a:r>
              <a:rPr lang="en-US" b="1" dirty="0"/>
              <a:t>Human Resources Analytics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BB5C3-A2B2-E68B-F15E-92362E18DDA0}"/>
              </a:ext>
            </a:extLst>
          </p:cNvPr>
          <p:cNvSpPr txBox="1"/>
          <p:nvPr/>
        </p:nvSpPr>
        <p:spPr>
          <a:xfrm>
            <a:off x="2037055" y="969092"/>
            <a:ext cx="206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ტექნოლოგიები: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FAB90-45C6-AAA3-851C-680D43A3E63E}"/>
              </a:ext>
            </a:extLst>
          </p:cNvPr>
          <p:cNvSpPr txBox="1"/>
          <p:nvPr/>
        </p:nvSpPr>
        <p:spPr>
          <a:xfrm>
            <a:off x="7380670" y="936567"/>
            <a:ext cx="206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ბიზნესი: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88BAAC-DCDC-24E8-0B96-5A6759EA5CFB}"/>
              </a:ext>
            </a:extLst>
          </p:cNvPr>
          <p:cNvSpPr txBox="1"/>
          <p:nvPr/>
        </p:nvSpPr>
        <p:spPr>
          <a:xfrm>
            <a:off x="689499" y="2862439"/>
            <a:ext cx="10457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კვლევისათვის შეიმუშავეთ ჰიპოთეზა და ალტერნატიული ჰიპოთეზა;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შერჩეულ თემაზე მოიძიეთ და გაარჩიეთ არანაკლებ სამი სამეცნიერო სტატია;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შეიმუშავეთ თქვენი კვლევის დიზაინი;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a-GE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წარმოადგინეთ </a:t>
            </a:r>
            <a:r>
              <a:rPr lang="en-US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Word-</a:t>
            </a:r>
            <a:r>
              <a:rPr lang="ka-GE" sz="2400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ის დოკუმენტის სახით, სადაც დასაბუთებული იქნება კვლევის აქტუალობა, მოკლედ აღწერილი იქნება ლიტერატურის მიმოხილვა და გაწერილი იქნება კვლევის დიზაინი. </a:t>
            </a:r>
            <a:endParaRPr lang="en-US" sz="2400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3936C-A73C-AC7D-B398-FDC5D9F23937}"/>
              </a:ext>
            </a:extLst>
          </p:cNvPr>
          <p:cNvSpPr txBox="1"/>
          <p:nvPr/>
        </p:nvSpPr>
        <p:spPr>
          <a:xfrm>
            <a:off x="168677" y="5746229"/>
            <a:ext cx="12023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დავალების შესრულების ვადა 1 კვირა. დავალება უნდა გამომიგზავნოთ </a:t>
            </a:r>
            <a:r>
              <a:rPr lang="ka-GE" dirty="0" err="1">
                <a:latin typeface="Calibri" panose="020F0502020204030204" pitchFamily="34" charset="0"/>
                <a:cs typeface="Calibri" panose="020F0502020204030204" pitchFamily="34" charset="0"/>
              </a:rPr>
              <a:t>იმეილზე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. ფაილს დაარქვით თქვენი </a:t>
            </a:r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სახელი და გვარი_დავალება1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74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042" y="586856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დასკვნა და </a:t>
            </a:r>
            <a:b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კითხვა-პასუხი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4256" y="3974353"/>
            <a:ext cx="6767744" cy="1231655"/>
          </a:xfrm>
        </p:spPr>
        <p:txBody>
          <a:bodyPr anchor="ctr">
            <a:normAutofit fontScale="92500" lnSpcReduction="20000"/>
          </a:bodyPr>
          <a:lstStyle/>
          <a:p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პროცესის ძირითადი ელემენტების შეჯამება.</a:t>
            </a:r>
          </a:p>
          <a:p>
            <a:r>
              <a:rPr lang="ka-GE" sz="2400" dirty="0">
                <a:latin typeface="Calibri" panose="020F0502020204030204" pitchFamily="34" charset="0"/>
                <a:cs typeface="Calibri" panose="020F0502020204030204" pitchFamily="34" charset="0"/>
              </a:rPr>
              <a:t>სტუდენტებთან ინტერაქტიული დისკუსია და კითხვები.</a:t>
            </a:r>
          </a:p>
        </p:txBody>
      </p:sp>
      <p:pic>
        <p:nvPicPr>
          <p:cNvPr id="4" name="Picture 2" descr="BTU • ბიზნესისა და ტექნოლოგიების უნივერსიტეტი | Tbilisi">
            <a:extLst>
              <a:ext uri="{FF2B5EF4-FFF2-40B4-BE49-F238E27FC236}">
                <a16:creationId xmlns:a16="http://schemas.microsoft.com/office/drawing/2014/main" id="{29E55A58-4C48-276F-6FEC-17736EE84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0770" y="36682"/>
            <a:ext cx="3065526" cy="306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The End · Typographic design by Robin Mientjes">
            <a:extLst>
              <a:ext uri="{FF2B5EF4-FFF2-40B4-BE49-F238E27FC236}">
                <a16:creationId xmlns:a16="http://schemas.microsoft.com/office/drawing/2014/main" id="{26846AB5-0DB9-0F11-B685-C54BCB3AA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20" y="269986"/>
            <a:ext cx="48768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BA58216-EC49-349B-068F-88AA493E1C7D}"/>
              </a:ext>
            </a:extLst>
          </p:cNvPr>
          <p:cNvSpPr txBox="1">
            <a:spLocks/>
          </p:cNvSpPr>
          <p:nvPr/>
        </p:nvSpPr>
        <p:spPr>
          <a:xfrm>
            <a:off x="1022030" y="2693076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100" b="1" dirty="0">
                <a:latin typeface="Calibri" panose="020F0502020204030204" pitchFamily="34" charset="0"/>
                <a:cs typeface="Calibri" panose="020F0502020204030204" pitchFamily="34" charset="0"/>
              </a:rPr>
              <a:t>მესამე ლექციის დასასრული</a:t>
            </a:r>
            <a:br>
              <a:rPr lang="ka-GE" sz="2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100" b="1" dirty="0" err="1">
                <a:latin typeface="Calibri" panose="020F0502020204030204" pitchFamily="34" charset="0"/>
                <a:cs typeface="Calibri" panose="020F0502020204030204" pitchFamily="34" charset="0"/>
              </a:rPr>
              <a:t>ლექტ</a:t>
            </a:r>
            <a:r>
              <a:rPr lang="ka-GE" sz="21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a-GE" sz="2100" dirty="0">
                <a:latin typeface="Calibri" panose="020F0502020204030204" pitchFamily="34" charset="0"/>
                <a:cs typeface="Calibri" panose="020F0502020204030204" pitchFamily="34" charset="0"/>
              </a:rPr>
              <a:t>გიორგი რატიანი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1851</Words>
  <Application>Microsoft Office PowerPoint</Application>
  <PresentationFormat>Widescreen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Open Sans</vt:lpstr>
      <vt:lpstr>Sage Peak</vt:lpstr>
      <vt:lpstr>Sylfaen</vt:lpstr>
      <vt:lpstr>unset</vt:lpstr>
      <vt:lpstr>Wingdings</vt:lpstr>
      <vt:lpstr>Office Theme</vt:lpstr>
      <vt:lpstr>კვლევის დიზაინი  კვლევის მიზანი და აქტუალობა, კვლევის პრობლემის შერჩევა, კვლევის შეკითხვა, ნულოვანი და ალტერნატიული ჰიპოთეზა და მისი ფორმულირება  ლექტ. გიორგი რატიანი</vt:lpstr>
      <vt:lpstr>კვლევის პრობლემა</vt:lpstr>
      <vt:lpstr>ნულოვანი (H₀) და ალტერნატიული (H₁) ჰიპოთეზა</vt:lpstr>
      <vt:lpstr>ნულოვანი (H₀) და ალტერნატიული (H₁) ჰიპოთეზა</vt:lpstr>
      <vt:lpstr>ნულოვანი (H₀) და ალტერნატიული (H₁) ჰიპოთეზა</vt:lpstr>
      <vt:lpstr>კვლევის ეტაპები</vt:lpstr>
      <vt:lpstr>კვლევის დიზაინი</vt:lpstr>
      <vt:lpstr>PowerPoint Presentation</vt:lpstr>
      <vt:lpstr>კვლევის მიზნის განსაზღვრა</vt:lpstr>
      <vt:lpstr>ჰიპოთეზის განსაზღვრა</vt:lpstr>
      <vt:lpstr>მონაცემთა ტიპი</vt:lpstr>
      <vt:lpstr>მონაცემთა შეგროვების მეთოდები</vt:lpstr>
      <vt:lpstr>კვლევის რესურსები და დრო</vt:lpstr>
      <vt:lpstr>დამატებითი ფაქტორები კვლევის დროს</vt:lpstr>
      <vt:lpstr>კვლევის ეტაპები</vt:lpstr>
      <vt:lpstr>სამეცნიერო სტატიის მაგალითი</vt:lpstr>
      <vt:lpstr>PowerPoint Presentation</vt:lpstr>
      <vt:lpstr>PowerPoint Presentation</vt:lpstr>
      <vt:lpstr>PowerPoint Presentation</vt:lpstr>
      <vt:lpstr>პრაქტიკული დავალება #1 </vt:lpstr>
      <vt:lpstr>დასკვნა და  კითხვა-პასუხი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Giorgi Ratiani</cp:lastModifiedBy>
  <cp:revision>66</cp:revision>
  <dcterms:created xsi:type="dcterms:W3CDTF">2021-03-10T15:14:38Z</dcterms:created>
  <dcterms:modified xsi:type="dcterms:W3CDTF">2024-10-09T07:50:02Z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2b3a5-926f-4111-8eea-9c5318b8762f_Enabled">
    <vt:lpwstr>true</vt:lpwstr>
  </property>
  <property fmtid="{D5CDD505-2E9C-101B-9397-08002B2CF9AE}" pid="3" name="MSIP_Label_cdd2b3a5-926f-4111-8eea-9c5318b8762f_SetDate">
    <vt:lpwstr>2024-09-24T06:07:04Z</vt:lpwstr>
  </property>
  <property fmtid="{D5CDD505-2E9C-101B-9397-08002B2CF9AE}" pid="4" name="MSIP_Label_cdd2b3a5-926f-4111-8eea-9c5318b8762f_Method">
    <vt:lpwstr>Standard</vt:lpwstr>
  </property>
  <property fmtid="{D5CDD505-2E9C-101B-9397-08002B2CF9AE}" pid="5" name="MSIP_Label_cdd2b3a5-926f-4111-8eea-9c5318b8762f_Name">
    <vt:lpwstr>defa4170-0d19-0005-0004-bc88714345d2</vt:lpwstr>
  </property>
  <property fmtid="{D5CDD505-2E9C-101B-9397-08002B2CF9AE}" pid="6" name="MSIP_Label_cdd2b3a5-926f-4111-8eea-9c5318b8762f_SiteId">
    <vt:lpwstr>61d2e93c-423d-43b4-8f23-1580c2341952</vt:lpwstr>
  </property>
  <property fmtid="{D5CDD505-2E9C-101B-9397-08002B2CF9AE}" pid="7" name="MSIP_Label_cdd2b3a5-926f-4111-8eea-9c5318b8762f_ActionId">
    <vt:lpwstr>abd0cee9-70aa-4660-a2de-8a6811a1fcd7</vt:lpwstr>
  </property>
  <property fmtid="{D5CDD505-2E9C-101B-9397-08002B2CF9AE}" pid="8" name="MSIP_Label_cdd2b3a5-926f-4111-8eea-9c5318b8762f_ContentBits">
    <vt:lpwstr>0</vt:lpwstr>
  </property>
</Properties>
</file>