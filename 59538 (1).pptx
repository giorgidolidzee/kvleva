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9" r:id="rId2"/>
    <p:sldId id="287" r:id="rId3"/>
    <p:sldId id="288" r:id="rId4"/>
    <p:sldId id="289" r:id="rId5"/>
    <p:sldId id="260" r:id="rId6"/>
    <p:sldId id="294" r:id="rId7"/>
    <p:sldId id="295" r:id="rId8"/>
    <p:sldId id="296" r:id="rId9"/>
    <p:sldId id="297" r:id="rId10"/>
    <p:sldId id="263" r:id="rId11"/>
    <p:sldId id="277" r:id="rId12"/>
    <p:sldId id="278" r:id="rId13"/>
    <p:sldId id="279" r:id="rId14"/>
    <p:sldId id="264" r:id="rId15"/>
    <p:sldId id="280" r:id="rId16"/>
    <p:sldId id="276" r:id="rId17"/>
    <p:sldId id="291" r:id="rId18"/>
    <p:sldId id="290" r:id="rId19"/>
    <p:sldId id="292" r:id="rId20"/>
    <p:sldId id="293" r:id="rId21"/>
    <p:sldId id="269" r:id="rId22"/>
    <p:sldId id="281" r:id="rId23"/>
    <p:sldId id="270" r:id="rId24"/>
    <p:sldId id="271" r:id="rId25"/>
    <p:sldId id="298" r:id="rId26"/>
    <p:sldId id="299" r:id="rId27"/>
    <p:sldId id="300" r:id="rId28"/>
    <p:sldId id="301" r:id="rId29"/>
    <p:sldId id="272" r:id="rId30"/>
    <p:sldId id="285" r:id="rId31"/>
    <p:sldId id="286" r:id="rId32"/>
    <p:sldId id="273" r:id="rId33"/>
    <p:sldId id="262" r:id="rId3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50"/>
    <p:restoredTop sz="94587"/>
  </p:normalViewPr>
  <p:slideViewPr>
    <p:cSldViewPr snapToGrid="0" snapToObjects="1">
      <p:cViewPr varScale="1">
        <p:scale>
          <a:sx n="108" d="100"/>
          <a:sy n="108" d="100"/>
        </p:scale>
        <p:origin x="672"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23DBA-DF2B-4F45-987C-FFC11F950F3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00733E3-D73A-514C-8080-026404A509D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EDD2E74-6BFE-AB48-B142-D0FFBDD04371}"/>
              </a:ext>
            </a:extLst>
          </p:cNvPr>
          <p:cNvSpPr>
            <a:spLocks noGrp="1"/>
          </p:cNvSpPr>
          <p:nvPr>
            <p:ph type="dt" sz="half" idx="10"/>
          </p:nvPr>
        </p:nvSpPr>
        <p:spPr/>
        <p:txBody>
          <a:bodyPr/>
          <a:lstStyle/>
          <a:p>
            <a:fld id="{7D618AD1-5EA9-DC4F-81BA-55CDDDB406E8}" type="datetimeFigureOut">
              <a:rPr lang="en-US" smtClean="0"/>
              <a:t>10/2/2024</a:t>
            </a:fld>
            <a:endParaRPr lang="en-US"/>
          </a:p>
        </p:txBody>
      </p:sp>
      <p:sp>
        <p:nvSpPr>
          <p:cNvPr id="5" name="Footer Placeholder 4">
            <a:extLst>
              <a:ext uri="{FF2B5EF4-FFF2-40B4-BE49-F238E27FC236}">
                <a16:creationId xmlns:a16="http://schemas.microsoft.com/office/drawing/2014/main" id="{1D9D4078-DAD2-DB4A-8B06-2E2A8784F2E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E73DA6-AF3E-234F-80B6-DA7FD4314B5C}"/>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3578635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63A810-663F-3C42-88E3-AA6ADF27584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23F44CEF-4240-4D42-8645-22F161709FE5}"/>
              </a:ext>
            </a:extLst>
          </p:cNvPr>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5218BBE-84B0-424D-9C56-31DA3B125987}"/>
              </a:ext>
            </a:extLst>
          </p:cNvPr>
          <p:cNvSpPr>
            <a:spLocks noGrp="1"/>
          </p:cNvSpPr>
          <p:nvPr>
            <p:ph type="dt" sz="half" idx="10"/>
          </p:nvPr>
        </p:nvSpPr>
        <p:spPr/>
        <p:txBody>
          <a:bodyPr/>
          <a:lstStyle/>
          <a:p>
            <a:fld id="{7D618AD1-5EA9-DC4F-81BA-55CDDDB406E8}" type="datetimeFigureOut">
              <a:rPr lang="en-US" smtClean="0"/>
              <a:t>10/2/2024</a:t>
            </a:fld>
            <a:endParaRPr lang="en-US"/>
          </a:p>
        </p:txBody>
      </p:sp>
      <p:sp>
        <p:nvSpPr>
          <p:cNvPr id="5" name="Footer Placeholder 4">
            <a:extLst>
              <a:ext uri="{FF2B5EF4-FFF2-40B4-BE49-F238E27FC236}">
                <a16:creationId xmlns:a16="http://schemas.microsoft.com/office/drawing/2014/main" id="{23B4F96B-E831-B848-9D06-6F1F8B04CD6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A370F6E-E1BB-504E-A498-0A5515096734}"/>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427146200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7FC56-774B-B247-B2AC-277A1CC5E1BE}"/>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EC0F574-4E85-DE42-A23E-429EC4F3557D}"/>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537E851-989D-8A45-962A-AA62DBB89B24}"/>
              </a:ext>
            </a:extLst>
          </p:cNvPr>
          <p:cNvSpPr>
            <a:spLocks noGrp="1"/>
          </p:cNvSpPr>
          <p:nvPr>
            <p:ph type="dt" sz="half" idx="10"/>
          </p:nvPr>
        </p:nvSpPr>
        <p:spPr/>
        <p:txBody>
          <a:bodyPr/>
          <a:lstStyle/>
          <a:p>
            <a:fld id="{7D618AD1-5EA9-DC4F-81BA-55CDDDB406E8}" type="datetimeFigureOut">
              <a:rPr lang="en-US" smtClean="0"/>
              <a:t>10/2/2024</a:t>
            </a:fld>
            <a:endParaRPr lang="en-US"/>
          </a:p>
        </p:txBody>
      </p:sp>
      <p:sp>
        <p:nvSpPr>
          <p:cNvPr id="5" name="Footer Placeholder 4">
            <a:extLst>
              <a:ext uri="{FF2B5EF4-FFF2-40B4-BE49-F238E27FC236}">
                <a16:creationId xmlns:a16="http://schemas.microsoft.com/office/drawing/2014/main" id="{53912DB8-05D1-EA45-91A2-1C3EEFE9DCC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9BE4A9C-8352-FA4F-8E57-5142269E1968}"/>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34474449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1E5A2-94FE-F74B-A73E-69F797E3360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5EF23EF-3EF9-6E41-982E-A91742E7FF64}"/>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AD81EA-A2CA-C142-A576-3D63684823B0}"/>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20AA7C62-82E5-BF4B-91A0-56FDBD37011B}"/>
              </a:ext>
            </a:extLst>
          </p:cNvPr>
          <p:cNvSpPr>
            <a:spLocks noGrp="1"/>
          </p:cNvSpPr>
          <p:nvPr>
            <p:ph type="dt" sz="half" idx="10"/>
          </p:nvPr>
        </p:nvSpPr>
        <p:spPr/>
        <p:txBody>
          <a:bodyPr/>
          <a:lstStyle/>
          <a:p>
            <a:fld id="{7D618AD1-5EA9-DC4F-81BA-55CDDDB406E8}" type="datetimeFigureOut">
              <a:rPr lang="en-US" smtClean="0"/>
              <a:t>10/2/2024</a:t>
            </a:fld>
            <a:endParaRPr lang="en-US"/>
          </a:p>
        </p:txBody>
      </p:sp>
      <p:sp>
        <p:nvSpPr>
          <p:cNvPr id="6" name="Footer Placeholder 5">
            <a:extLst>
              <a:ext uri="{FF2B5EF4-FFF2-40B4-BE49-F238E27FC236}">
                <a16:creationId xmlns:a16="http://schemas.microsoft.com/office/drawing/2014/main" id="{0A6E85FF-EEAB-784F-B672-BC83A80275D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866C501E-E1E6-384E-82A9-6ABC83334929}"/>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383803278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E29547-13D4-E24C-A8E6-CE231947D7C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2F11D77-9FE0-ED41-BD90-8DE2AD4E3639}"/>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C9CECB0E-C552-E440-9878-24CB44E0D595}"/>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BA3E5D2-04A3-DD43-9CB9-69CCB478299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D3380742-3FFD-E440-A9CC-454BF8098967}"/>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C8EAF7D-6F54-C84F-B0F2-492D45DA9EB2}"/>
              </a:ext>
            </a:extLst>
          </p:cNvPr>
          <p:cNvSpPr>
            <a:spLocks noGrp="1"/>
          </p:cNvSpPr>
          <p:nvPr>
            <p:ph type="dt" sz="half" idx="10"/>
          </p:nvPr>
        </p:nvSpPr>
        <p:spPr/>
        <p:txBody>
          <a:bodyPr/>
          <a:lstStyle/>
          <a:p>
            <a:fld id="{7D618AD1-5EA9-DC4F-81BA-55CDDDB406E8}" type="datetimeFigureOut">
              <a:rPr lang="en-US" smtClean="0"/>
              <a:t>10/2/2024</a:t>
            </a:fld>
            <a:endParaRPr lang="en-US"/>
          </a:p>
        </p:txBody>
      </p:sp>
      <p:sp>
        <p:nvSpPr>
          <p:cNvPr id="8" name="Footer Placeholder 7">
            <a:extLst>
              <a:ext uri="{FF2B5EF4-FFF2-40B4-BE49-F238E27FC236}">
                <a16:creationId xmlns:a16="http://schemas.microsoft.com/office/drawing/2014/main" id="{C5481826-AD2D-CE47-9818-EC3FCC301DFF}"/>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F11F9511-5C5A-3F4A-BC29-699DAB33701E}"/>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234225355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DF426-DF0F-8846-852E-72F92D6895F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7F8E96-AE5D-3E42-AEC6-222B3474F49D}"/>
              </a:ext>
            </a:extLst>
          </p:cNvPr>
          <p:cNvSpPr>
            <a:spLocks noGrp="1"/>
          </p:cNvSpPr>
          <p:nvPr>
            <p:ph type="dt" sz="half" idx="10"/>
          </p:nvPr>
        </p:nvSpPr>
        <p:spPr/>
        <p:txBody>
          <a:bodyPr/>
          <a:lstStyle/>
          <a:p>
            <a:fld id="{7D618AD1-5EA9-DC4F-81BA-55CDDDB406E8}" type="datetimeFigureOut">
              <a:rPr lang="en-US" smtClean="0"/>
              <a:t>10/2/2024</a:t>
            </a:fld>
            <a:endParaRPr lang="en-US"/>
          </a:p>
        </p:txBody>
      </p:sp>
      <p:sp>
        <p:nvSpPr>
          <p:cNvPr id="4" name="Footer Placeholder 3">
            <a:extLst>
              <a:ext uri="{FF2B5EF4-FFF2-40B4-BE49-F238E27FC236}">
                <a16:creationId xmlns:a16="http://schemas.microsoft.com/office/drawing/2014/main" id="{4362DF59-6FF0-F04A-A7DA-437294B0873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2475AB1E-10F4-BA44-BEBD-AFD22B65A44B}"/>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33945762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505CF62-97A6-C34C-81E8-0D9DA4FE785C}"/>
              </a:ext>
            </a:extLst>
          </p:cNvPr>
          <p:cNvSpPr>
            <a:spLocks noGrp="1"/>
          </p:cNvSpPr>
          <p:nvPr>
            <p:ph type="dt" sz="half" idx="10"/>
          </p:nvPr>
        </p:nvSpPr>
        <p:spPr/>
        <p:txBody>
          <a:bodyPr/>
          <a:lstStyle/>
          <a:p>
            <a:fld id="{7D618AD1-5EA9-DC4F-81BA-55CDDDB406E8}" type="datetimeFigureOut">
              <a:rPr lang="en-US" smtClean="0"/>
              <a:t>10/2/2024</a:t>
            </a:fld>
            <a:endParaRPr lang="en-US"/>
          </a:p>
        </p:txBody>
      </p:sp>
      <p:sp>
        <p:nvSpPr>
          <p:cNvPr id="3" name="Footer Placeholder 2">
            <a:extLst>
              <a:ext uri="{FF2B5EF4-FFF2-40B4-BE49-F238E27FC236}">
                <a16:creationId xmlns:a16="http://schemas.microsoft.com/office/drawing/2014/main" id="{46A767A3-EB16-E845-BDA9-C5C3DB4132F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F53AA980-C4E5-514B-B3C2-9AE3C75A5791}"/>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277312893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93825E-1355-6D4D-BD05-1AF530FA503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407A8F4-6502-FA41-B8FE-F95074F4E8B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12235BC-6363-924A-B581-173F059D479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5C8CE90-8E70-EA40-8F54-0E3A8BEC5DD9}"/>
              </a:ext>
            </a:extLst>
          </p:cNvPr>
          <p:cNvSpPr>
            <a:spLocks noGrp="1"/>
          </p:cNvSpPr>
          <p:nvPr>
            <p:ph type="dt" sz="half" idx="10"/>
          </p:nvPr>
        </p:nvSpPr>
        <p:spPr/>
        <p:txBody>
          <a:bodyPr/>
          <a:lstStyle/>
          <a:p>
            <a:fld id="{7D618AD1-5EA9-DC4F-81BA-55CDDDB406E8}" type="datetimeFigureOut">
              <a:rPr lang="en-US" smtClean="0"/>
              <a:t>10/2/2024</a:t>
            </a:fld>
            <a:endParaRPr lang="en-US"/>
          </a:p>
        </p:txBody>
      </p:sp>
      <p:sp>
        <p:nvSpPr>
          <p:cNvPr id="6" name="Footer Placeholder 5">
            <a:extLst>
              <a:ext uri="{FF2B5EF4-FFF2-40B4-BE49-F238E27FC236}">
                <a16:creationId xmlns:a16="http://schemas.microsoft.com/office/drawing/2014/main" id="{57CFB6D2-88A3-DC45-A546-979F81E0286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1A49F336-843C-144B-A346-0B0E21623EAB}"/>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280637370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128D2A-16DA-534C-826B-B0EA586EBBD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F017A813-D28A-0A41-9F13-D8BAFD80AF2A}"/>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0720809-2225-8445-B4F7-B284ECEE132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63525E7B-8265-8944-9FDC-8C8607D243C7}"/>
              </a:ext>
            </a:extLst>
          </p:cNvPr>
          <p:cNvSpPr>
            <a:spLocks noGrp="1"/>
          </p:cNvSpPr>
          <p:nvPr>
            <p:ph type="dt" sz="half" idx="10"/>
          </p:nvPr>
        </p:nvSpPr>
        <p:spPr/>
        <p:txBody>
          <a:bodyPr/>
          <a:lstStyle/>
          <a:p>
            <a:fld id="{7D618AD1-5EA9-DC4F-81BA-55CDDDB406E8}" type="datetimeFigureOut">
              <a:rPr lang="en-US" smtClean="0"/>
              <a:t>10/2/2024</a:t>
            </a:fld>
            <a:endParaRPr lang="en-US"/>
          </a:p>
        </p:txBody>
      </p:sp>
      <p:sp>
        <p:nvSpPr>
          <p:cNvPr id="6" name="Footer Placeholder 5">
            <a:extLst>
              <a:ext uri="{FF2B5EF4-FFF2-40B4-BE49-F238E27FC236}">
                <a16:creationId xmlns:a16="http://schemas.microsoft.com/office/drawing/2014/main" id="{76E2AF67-760A-2845-8342-B599AF18F5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303F5E5-FECB-9743-B897-D8F405FB4CB8}"/>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33227574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B50A44-167B-A44B-B05F-AA5FEDC33CA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9D503D3-13A4-ED47-9627-5816D287CDBD}"/>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BFD9D2-4023-B14F-A513-65BA3AEE48E4}"/>
              </a:ext>
            </a:extLst>
          </p:cNvPr>
          <p:cNvSpPr>
            <a:spLocks noGrp="1"/>
          </p:cNvSpPr>
          <p:nvPr>
            <p:ph type="dt" sz="half" idx="10"/>
          </p:nvPr>
        </p:nvSpPr>
        <p:spPr/>
        <p:txBody>
          <a:bodyPr/>
          <a:lstStyle/>
          <a:p>
            <a:fld id="{7D618AD1-5EA9-DC4F-81BA-55CDDDB406E8}" type="datetimeFigureOut">
              <a:rPr lang="en-US" smtClean="0"/>
              <a:t>10/2/2024</a:t>
            </a:fld>
            <a:endParaRPr lang="en-US"/>
          </a:p>
        </p:txBody>
      </p:sp>
      <p:sp>
        <p:nvSpPr>
          <p:cNvPr id="5" name="Footer Placeholder 4">
            <a:extLst>
              <a:ext uri="{FF2B5EF4-FFF2-40B4-BE49-F238E27FC236}">
                <a16:creationId xmlns:a16="http://schemas.microsoft.com/office/drawing/2014/main" id="{AC83BF4C-8CCA-AB4E-8EF1-26FBEC3FC4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4DDD98A-1568-9F4B-92F3-86CFFA8CF4B9}"/>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136163316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523E512-95E1-7D4A-93DE-8C58F6B94DFF}"/>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7D51599-1C9E-F94E-AB39-5624FE10286E}"/>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F9E750B-603B-0642-AB7A-CA70C340E1DB}"/>
              </a:ext>
            </a:extLst>
          </p:cNvPr>
          <p:cNvSpPr>
            <a:spLocks noGrp="1"/>
          </p:cNvSpPr>
          <p:nvPr>
            <p:ph type="dt" sz="half" idx="10"/>
          </p:nvPr>
        </p:nvSpPr>
        <p:spPr/>
        <p:txBody>
          <a:bodyPr/>
          <a:lstStyle/>
          <a:p>
            <a:fld id="{7D618AD1-5EA9-DC4F-81BA-55CDDDB406E8}" type="datetimeFigureOut">
              <a:rPr lang="en-US" smtClean="0"/>
              <a:t>10/2/2024</a:t>
            </a:fld>
            <a:endParaRPr lang="en-US"/>
          </a:p>
        </p:txBody>
      </p:sp>
      <p:sp>
        <p:nvSpPr>
          <p:cNvPr id="5" name="Footer Placeholder 4">
            <a:extLst>
              <a:ext uri="{FF2B5EF4-FFF2-40B4-BE49-F238E27FC236}">
                <a16:creationId xmlns:a16="http://schemas.microsoft.com/office/drawing/2014/main" id="{BAC555D2-BFCE-3C41-958E-9BD6A5F1E40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CDB6981-57E7-AD42-A153-C93B4F4A815F}"/>
              </a:ext>
            </a:extLst>
          </p:cNvPr>
          <p:cNvSpPr>
            <a:spLocks noGrp="1"/>
          </p:cNvSpPr>
          <p:nvPr>
            <p:ph type="sldNum" sz="quarter" idx="12"/>
          </p:nvPr>
        </p:nvSpPr>
        <p:spPr/>
        <p:txBody>
          <a:bodyPr/>
          <a:lstStyle/>
          <a:p>
            <a:fld id="{059A9CB1-8B9D-E54A-8D15-C7AD7A01024F}" type="slidenum">
              <a:rPr lang="en-US" smtClean="0"/>
              <a:t>‹#›</a:t>
            </a:fld>
            <a:endParaRPr lang="en-US"/>
          </a:p>
        </p:txBody>
      </p:sp>
    </p:spTree>
    <p:extLst>
      <p:ext uri="{BB962C8B-B14F-4D97-AF65-F5344CB8AC3E}">
        <p14:creationId xmlns:p14="http://schemas.microsoft.com/office/powerpoint/2010/main" val="396475463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472D02D-660A-314D-8A95-E9AFD731B32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DB4F413-A9F8-2343-92B9-BAECFB91A3C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A879BBC-EC5F-0947-83DA-33FDD50A343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D618AD1-5EA9-DC4F-81BA-55CDDDB406E8}" type="datetimeFigureOut">
              <a:rPr lang="en-US" smtClean="0"/>
              <a:t>10/2/2024</a:t>
            </a:fld>
            <a:endParaRPr lang="en-US"/>
          </a:p>
        </p:txBody>
      </p:sp>
      <p:sp>
        <p:nvSpPr>
          <p:cNvPr id="5" name="Footer Placeholder 4">
            <a:extLst>
              <a:ext uri="{FF2B5EF4-FFF2-40B4-BE49-F238E27FC236}">
                <a16:creationId xmlns:a16="http://schemas.microsoft.com/office/drawing/2014/main" id="{07099E26-FF96-FB42-B085-0A61AFF843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5535D2E6-E8AD-8940-BAF8-94808571018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59A9CB1-8B9D-E54A-8D15-C7AD7A01024F}" type="slidenum">
              <a:rPr lang="en-US" smtClean="0"/>
              <a:t>‹#›</a:t>
            </a:fld>
            <a:endParaRPr lang="en-US"/>
          </a:p>
        </p:txBody>
      </p:sp>
    </p:spTree>
    <p:extLst>
      <p:ext uri="{BB962C8B-B14F-4D97-AF65-F5344CB8AC3E}">
        <p14:creationId xmlns:p14="http://schemas.microsoft.com/office/powerpoint/2010/main" val="395729600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hyperlink" Target="https://www.facebook.com/sciteai?__cft__%5b0%5d=AZWTn3GQ5FQqKEglsaK_svwdcLni6mlCNEe9iJAiBVflwhEhhShg-aCq5MxBGfjKd6Az-JSzOrpbiaGLm2C0GvzxGFgf9u2ZEukrELmiTo982_H2RE0u7F595dEBGJUCGPz6F5rE2WtDRxngM3LOnCFEdTcFUSNy9P9iAnPFysh6wzPQYxxZsGgJjn1GniRtHwisO46h3QaAE5FXy-nPnuRZ9BaBP-Vvz9NYLJMtur2mu4p4pUGzY70hjzGfc3-TT-HQ81gJRNb7x0KlxSiqaOVTf_eRTg5zkcTJKmpZmnSZ60hVHzJ5eIjehUsWZxwBjSFlKx8tZydfFVV0bET0hleCxNvdq_wnagr61WlTKB2DBCzpV5mu-9Ce9ZQCWfbdV3I&amp;__tn__=-UC%2CP-R" TargetMode="Externa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5164273" y="4329321"/>
            <a:ext cx="6598639" cy="1906798"/>
          </a:xfrm>
        </p:spPr>
        <p:txBody>
          <a:bodyPr>
            <a:noAutofit/>
          </a:bodyPr>
          <a:lstStyle/>
          <a:p>
            <a:pPr algn="l">
              <a:spcBef>
                <a:spcPts val="0"/>
              </a:spcBef>
            </a:pPr>
            <a:r>
              <a:rPr lang="ka-GE" sz="1600" dirty="0">
                <a:latin typeface="Calibri" panose="020F0502020204030204" pitchFamily="34" charset="0"/>
                <a:cs typeface="Calibri" panose="020F0502020204030204" pitchFamily="34" charset="0"/>
              </a:rPr>
              <a:t>ონლაინ ბიბლიოთეკები და მონაცემთა ბაზები მძლავრი რესურსებია, რომლებიც სხვადასხვა სფეროში ცოდნის გაღრმავებას, კვლევების ჩატარებასა და სწავლებას ამარტივებენ. მათზე წვდომა უზრუნველყოფს წიგნების, სტატიების, ჟურნალების, კვლევითი ნაშრომების, თეზისებისა და სხვა აკადემიური მასალის მოპოვებას. წინამდებარე ლექციაში გაეცნობით მნიშვნელოვანი ონლაინ ბიბლიოთეკებს.</a:t>
            </a:r>
            <a:endParaRPr lang="en-US" sz="1600" dirty="0">
              <a:latin typeface="Calibri" panose="020F0502020204030204" pitchFamily="34" charset="0"/>
              <a:cs typeface="Calibri" panose="020F0502020204030204" pitchFamily="34" charset="0"/>
            </a:endParaRPr>
          </a:p>
        </p:txBody>
      </p:sp>
      <p:pic>
        <p:nvPicPr>
          <p:cNvPr id="2050" name="Picture 2" descr="BTU • ბიზნესისა და ტექნოლოგიების უნივერსიტეტი | Tbilisi">
            <a:extLst>
              <a:ext uri="{FF2B5EF4-FFF2-40B4-BE49-F238E27FC236}">
                <a16:creationId xmlns:a16="http://schemas.microsoft.com/office/drawing/2014/main" id="{9BE989EF-9400-7E38-F968-1AD9D337039C}"/>
              </a:ext>
            </a:extLst>
          </p:cNvPr>
          <p:cNvPicPr>
            <a:picLocks noChangeAspect="1" noChangeArrowheads="1"/>
          </p:cNvPicPr>
          <p:nvPr/>
        </p:nvPicPr>
        <p:blipFill>
          <a:blip r:embed="rId2">
            <a:extLst>
              <a:ext uri="{28A0092B-C50C-407E-A947-70E740481C1C}">
                <a14:useLocalDpi xmlns:a14="http://schemas.microsoft.com/office/drawing/2010/main" val="0"/>
              </a:ext>
            </a:extLst>
          </a:blip>
          <a:stretch>
            <a:fillRect/>
          </a:stretch>
        </p:blipFill>
        <p:spPr bwMode="auto">
          <a:xfrm>
            <a:off x="1764030" y="1737169"/>
            <a:ext cx="3065526" cy="3065526"/>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23996747-80D8-92AA-7831-52F76C5F6759}"/>
              </a:ext>
            </a:extLst>
          </p:cNvPr>
          <p:cNvSpPr txBox="1"/>
          <p:nvPr/>
        </p:nvSpPr>
        <p:spPr>
          <a:xfrm>
            <a:off x="2692757" y="5157926"/>
            <a:ext cx="1713391" cy="400110"/>
          </a:xfrm>
          <a:prstGeom prst="rect">
            <a:avLst/>
          </a:prstGeom>
          <a:noFill/>
        </p:spPr>
        <p:txBody>
          <a:bodyPr wrap="square" rtlCol="0">
            <a:spAutoFit/>
          </a:bodyPr>
          <a:lstStyle/>
          <a:p>
            <a:r>
              <a:rPr lang="ka-GE" sz="2000" b="1" dirty="0">
                <a:solidFill>
                  <a:srgbClr val="FE007C"/>
                </a:solidFill>
                <a:latin typeface="Calibri" panose="020F0502020204030204" pitchFamily="34" charset="0"/>
                <a:cs typeface="Calibri" panose="020F0502020204030204" pitchFamily="34" charset="0"/>
              </a:rPr>
              <a:t>ლექცია 2</a:t>
            </a:r>
            <a:endParaRPr lang="en-US" sz="2000" b="1" dirty="0">
              <a:solidFill>
                <a:srgbClr val="FE007C"/>
              </a:solidFill>
              <a:latin typeface="Calibri" panose="020F0502020204030204" pitchFamily="34" charset="0"/>
              <a:cs typeface="Calibri" panose="020F0502020204030204" pitchFamily="34" charset="0"/>
            </a:endParaRPr>
          </a:p>
        </p:txBody>
      </p:sp>
      <p:sp>
        <p:nvSpPr>
          <p:cNvPr id="2" name="Title 1"/>
          <p:cNvSpPr>
            <a:spLocks noGrp="1"/>
          </p:cNvSpPr>
          <p:nvPr>
            <p:ph type="ctrTitle"/>
          </p:nvPr>
        </p:nvSpPr>
        <p:spPr>
          <a:xfrm>
            <a:off x="5237825" y="265539"/>
            <a:ext cx="6883153" cy="3892668"/>
          </a:xfrm>
        </p:spPr>
        <p:txBody>
          <a:bodyPr>
            <a:noAutofit/>
          </a:bodyPr>
          <a:lstStyle/>
          <a:p>
            <a:pPr algn="l"/>
            <a:r>
              <a:rPr lang="ka-GE" sz="4000" dirty="0" err="1">
                <a:latin typeface="Calibri" panose="020F0502020204030204" pitchFamily="34" charset="0"/>
                <a:cs typeface="Calibri" panose="020F0502020204030204" pitchFamily="34" charset="0"/>
              </a:rPr>
              <a:t>ონლიან</a:t>
            </a:r>
            <a:r>
              <a:rPr lang="ka-GE" sz="4000" dirty="0">
                <a:latin typeface="Calibri" panose="020F0502020204030204" pitchFamily="34" charset="0"/>
                <a:cs typeface="Calibri" panose="020F0502020204030204" pitchFamily="34" charset="0"/>
              </a:rPr>
              <a:t> ბიბლიოთეკების</a:t>
            </a:r>
            <a:r>
              <a:rPr lang="en-US" sz="4000" dirty="0">
                <a:latin typeface="Calibri" panose="020F0502020204030204" pitchFamily="34" charset="0"/>
                <a:cs typeface="Calibri" panose="020F0502020204030204" pitchFamily="34" charset="0"/>
              </a:rPr>
              <a:t> </a:t>
            </a:r>
            <a:r>
              <a:rPr lang="ka-GE" sz="4000" dirty="0">
                <a:latin typeface="Calibri" panose="020F0502020204030204" pitchFamily="34" charset="0"/>
                <a:cs typeface="Calibri" panose="020F0502020204030204" pitchFamily="34" charset="0"/>
              </a:rPr>
              <a:t>ბაზების მიმოხილვა; ციტირების ინდექსი, </a:t>
            </a:r>
            <a:r>
              <a:rPr lang="ka-GE" sz="4000" dirty="0" err="1">
                <a:latin typeface="Calibri" panose="020F0502020204030204" pitchFamily="34" charset="0"/>
                <a:cs typeface="Calibri" panose="020F0502020204030204" pitchFamily="34" charset="0"/>
              </a:rPr>
              <a:t>ზეგავლენის„იმფაქტ</a:t>
            </a:r>
            <a:r>
              <a:rPr lang="ka-GE" sz="4000" dirty="0">
                <a:latin typeface="Calibri" panose="020F0502020204030204" pitchFamily="34" charset="0"/>
                <a:cs typeface="Calibri" panose="020F0502020204030204" pitchFamily="34" charset="0"/>
              </a:rPr>
              <a:t>“ ფაქტორი</a:t>
            </a:r>
            <a:br>
              <a:rPr lang="ka-GE" sz="4000" dirty="0">
                <a:latin typeface="Calibri" panose="020F0502020204030204" pitchFamily="34" charset="0"/>
                <a:cs typeface="Calibri" panose="020F0502020204030204" pitchFamily="34" charset="0"/>
              </a:rPr>
            </a:br>
            <a:br>
              <a:rPr lang="ka-GE" sz="4000" dirty="0">
                <a:latin typeface="Calibri" panose="020F0502020204030204" pitchFamily="34" charset="0"/>
                <a:cs typeface="Calibri" panose="020F0502020204030204" pitchFamily="34" charset="0"/>
              </a:rPr>
            </a:br>
            <a:r>
              <a:rPr lang="ka-GE" sz="4000" dirty="0">
                <a:latin typeface="Calibri" panose="020F0502020204030204" pitchFamily="34" charset="0"/>
                <a:cs typeface="Calibri" panose="020F0502020204030204" pitchFamily="34" charset="0"/>
              </a:rPr>
              <a:t>(</a:t>
            </a:r>
            <a:r>
              <a:rPr lang="en-US" sz="4000" dirty="0">
                <a:latin typeface="Calibri" panose="020F0502020204030204" pitchFamily="34" charset="0"/>
                <a:cs typeface="Calibri" panose="020F0502020204030204" pitchFamily="34" charset="0"/>
              </a:rPr>
              <a:t>IF), Peer review</a:t>
            </a:r>
            <a:endParaRPr lang="ka-GE" sz="4000" dirty="0">
              <a:latin typeface="Calibri" panose="020F0502020204030204" pitchFamily="34" charset="0"/>
              <a:cs typeface="Calibri" panose="020F050202020403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6448" y="628448"/>
            <a:ext cx="11482896" cy="1173719"/>
          </a:xfrm>
        </p:spPr>
        <p:txBody>
          <a:bodyPr anchor="ctr">
            <a:noAutofit/>
          </a:bodyPr>
          <a:lstStyle/>
          <a:p>
            <a:pPr>
              <a:buFont typeface="Arial" panose="020B0604020202020204" pitchFamily="34" charset="0"/>
              <a:buChar char="•"/>
            </a:pPr>
            <a:r>
              <a:rPr lang="ka-GE" sz="2400" dirty="0">
                <a:latin typeface="Calibri" panose="020F0502020204030204" pitchFamily="34" charset="0"/>
                <a:cs typeface="Calibri" panose="020F0502020204030204" pitchFamily="34" charset="0"/>
              </a:rPr>
              <a:t>კვლევის შედეგად მიღებული ცოდნა არის </a:t>
            </a:r>
            <a:r>
              <a:rPr lang="ka-GE" sz="2400" b="1" dirty="0">
                <a:latin typeface="Calibri" panose="020F0502020204030204" pitchFamily="34" charset="0"/>
                <a:cs typeface="Calibri" panose="020F0502020204030204" pitchFamily="34" charset="0"/>
              </a:rPr>
              <a:t>საფუძვლიანი, მტკიცებულებაზე დაფუძნებული და გამოყენებადი ინფორმაცია</a:t>
            </a:r>
            <a:r>
              <a:rPr lang="ka-GE" sz="2400" dirty="0">
                <a:latin typeface="Calibri" panose="020F0502020204030204" pitchFamily="34" charset="0"/>
                <a:cs typeface="Calibri" panose="020F0502020204030204" pitchFamily="34" charset="0"/>
              </a:rPr>
              <a:t>, რომელიც მიღებულია მეცნიერული მეთოდების გამოყენებით.</a:t>
            </a:r>
          </a:p>
        </p:txBody>
      </p:sp>
      <p:sp>
        <p:nvSpPr>
          <p:cNvPr id="4" name="Title 1">
            <a:extLst>
              <a:ext uri="{FF2B5EF4-FFF2-40B4-BE49-F238E27FC236}">
                <a16:creationId xmlns:a16="http://schemas.microsoft.com/office/drawing/2014/main" id="{9B57A041-7A3B-18FF-0B0B-4DE3E891815C}"/>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sz="3600" b="1" dirty="0">
                <a:solidFill>
                  <a:schemeClr val="bg1"/>
                </a:solidFill>
                <a:latin typeface="Calibri" panose="020F0502020204030204" pitchFamily="34" charset="0"/>
                <a:cs typeface="Calibri" panose="020F0502020204030204" pitchFamily="34" charset="0"/>
              </a:rPr>
              <a:t>წინა ლექციაზე, ვთქვით, რომ</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757519F-959F-31A2-EF38-295E25C89707}"/>
              </a:ext>
            </a:extLst>
          </p:cNvPr>
          <p:cNvSpPr txBox="1"/>
          <p:nvPr/>
        </p:nvSpPr>
        <p:spPr>
          <a:xfrm>
            <a:off x="579637" y="1828800"/>
            <a:ext cx="10881436" cy="4247317"/>
          </a:xfrm>
          <a:prstGeom prst="rect">
            <a:avLst/>
          </a:prstGeom>
          <a:noFill/>
        </p:spPr>
        <p:txBody>
          <a:bodyPr wrap="square">
            <a:spAutoFit/>
          </a:bodyPr>
          <a:lstStyle/>
          <a:p>
            <a:r>
              <a:rPr lang="ka-GE" sz="2400" b="1" dirty="0">
                <a:latin typeface="Calibri" panose="020F0502020204030204" pitchFamily="34" charset="0"/>
                <a:cs typeface="Calibri" panose="020F0502020204030204" pitchFamily="34" charset="0"/>
              </a:rPr>
              <a:t>ცოდნა, რომელსაც კვლევის შედეგად მივიღებთ, უნდა იყოს:</a:t>
            </a:r>
          </a:p>
          <a:p>
            <a:endParaRPr lang="ka-GE" sz="600" b="1" dirty="0">
              <a:latin typeface="Calibri" panose="020F0502020204030204" pitchFamily="34" charset="0"/>
              <a:cs typeface="Calibri" panose="020F0502020204030204" pitchFamily="34" charset="0"/>
            </a:endParaRPr>
          </a:p>
          <a:p>
            <a:pPr>
              <a:buFont typeface="+mj-lt"/>
              <a:buAutoNum type="arabicPeriod"/>
            </a:pPr>
            <a:r>
              <a:rPr lang="ka-GE" sz="2400" b="1" dirty="0">
                <a:latin typeface="Calibri" panose="020F0502020204030204" pitchFamily="34" charset="0"/>
                <a:cs typeface="Calibri" panose="020F0502020204030204" pitchFamily="34" charset="0"/>
              </a:rPr>
              <a:t>დადასტურებულ მტკიცებულებაზე დაფუძნებული</a:t>
            </a:r>
            <a:r>
              <a:rPr lang="ka-GE" sz="2400" dirty="0">
                <a:latin typeface="Calibri" panose="020F0502020204030204" pitchFamily="34" charset="0"/>
                <a:cs typeface="Calibri" panose="020F0502020204030204" pitchFamily="34" charset="0"/>
              </a:rPr>
              <a:t>: კვლევის შედეგად მიღებული ცოდნა ეფუძნება სტატისტიკურ, ექსპერიმენტულ, ანალიტიკურ, ან დაკვირვებით მიღებულ მონაცემებს. ეს არ არის უბრალოდ მოსაზრება ან სუბიექტური შეფასება.</a:t>
            </a:r>
          </a:p>
          <a:p>
            <a:pPr>
              <a:buFont typeface="+mj-lt"/>
              <a:buAutoNum type="arabicPeriod"/>
            </a:pPr>
            <a:r>
              <a:rPr lang="ka-GE" sz="2400" b="1" dirty="0">
                <a:latin typeface="Calibri" panose="020F0502020204030204" pitchFamily="34" charset="0"/>
                <a:cs typeface="Calibri" panose="020F0502020204030204" pitchFamily="34" charset="0"/>
              </a:rPr>
              <a:t>გენერალიზაციის უნარი</a:t>
            </a:r>
            <a:r>
              <a:rPr lang="ka-GE" sz="2400" dirty="0">
                <a:latin typeface="Calibri" panose="020F0502020204030204" pitchFamily="34" charset="0"/>
                <a:cs typeface="Calibri" panose="020F0502020204030204" pitchFamily="34" charset="0"/>
              </a:rPr>
              <a:t>: ხშირად, კვლევის შედეგად მიღებული ცოდნა შეიძლება განზოგადდეს უფრო ფართო კონტექსტში და გამოიყენებოდეს ახალი ჰიპოთეზების, მოდელების ან სისტემების შესაქმნელად.</a:t>
            </a:r>
          </a:p>
          <a:p>
            <a:pPr>
              <a:buFont typeface="+mj-lt"/>
              <a:buAutoNum type="arabicPeriod"/>
            </a:pPr>
            <a:r>
              <a:rPr lang="ka-GE" sz="2400" b="1" dirty="0">
                <a:latin typeface="Calibri" panose="020F0502020204030204" pitchFamily="34" charset="0"/>
                <a:cs typeface="Calibri" panose="020F0502020204030204" pitchFamily="34" charset="0"/>
              </a:rPr>
              <a:t>პრაქტიკული და გამოყენებადი</a:t>
            </a:r>
            <a:r>
              <a:rPr lang="ka-GE" sz="2400" dirty="0">
                <a:latin typeface="Calibri" panose="020F0502020204030204" pitchFamily="34" charset="0"/>
                <a:cs typeface="Calibri" panose="020F0502020204030204" pitchFamily="34" charset="0"/>
              </a:rPr>
              <a:t>: კვლევის შედეგად მიღებული ცოდნა ხშირად გამოიყენება რეალურ პრობლემების გადასაჭრელად, პროცესების გასაუმჯობესებლად, ან ახალი პროდუქტების ან სერვისების შესაქმნელად.</a:t>
            </a:r>
          </a:p>
        </p:txBody>
      </p:sp>
    </p:spTree>
    <p:extLst>
      <p:ext uri="{BB962C8B-B14F-4D97-AF65-F5344CB8AC3E}">
        <p14:creationId xmlns:p14="http://schemas.microsoft.com/office/powerpoint/2010/main" val="18336000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B57A041-7A3B-18FF-0B0B-4DE3E891815C}"/>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altLang="en-US" sz="3600" b="1" dirty="0">
                <a:solidFill>
                  <a:schemeClr val="bg1"/>
                </a:solidFill>
                <a:latin typeface="Calibri" panose="020F0502020204030204" pitchFamily="34" charset="0"/>
                <a:cs typeface="Calibri" panose="020F0502020204030204" pitchFamily="34" charset="0"/>
              </a:rPr>
              <a:t>როგორ გავარჩიოთ სწორი და არასწორი ინფორმაცია?</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757519F-959F-31A2-EF38-295E25C89707}"/>
              </a:ext>
            </a:extLst>
          </p:cNvPr>
          <p:cNvSpPr txBox="1"/>
          <p:nvPr/>
        </p:nvSpPr>
        <p:spPr>
          <a:xfrm>
            <a:off x="304428" y="710213"/>
            <a:ext cx="11887571" cy="5909310"/>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1. ინფორმაციის წყაროს სანდოობა:</a:t>
            </a:r>
          </a:p>
          <a:p>
            <a:pPr>
              <a:buFont typeface="Arial" panose="020B0604020202020204" pitchFamily="34" charset="0"/>
              <a:buChar char="•"/>
            </a:pPr>
            <a:r>
              <a:rPr lang="ka-GE" b="1" dirty="0">
                <a:latin typeface="Calibri" panose="020F0502020204030204" pitchFamily="34" charset="0"/>
                <a:cs typeface="Calibri" panose="020F0502020204030204" pitchFamily="34" charset="0"/>
              </a:rPr>
              <a:t> სანდო წყარო</a:t>
            </a:r>
            <a:r>
              <a:rPr lang="ka-GE" dirty="0">
                <a:latin typeface="Calibri" panose="020F0502020204030204" pitchFamily="34" charset="0"/>
                <a:cs typeface="Calibri" panose="020F0502020204030204" pitchFamily="34" charset="0"/>
              </a:rPr>
              <a:t>: თუ ინფორმაცია მოყვანილია სანდო და ავტორიტეტული წყაროდან (მაგ., სამეცნიერო ჟურნალები, აკადემიური ნაშრომები, აღიარებული ორგანიზაციების ანგარიშები), ეს არის კარგი ნიშანი, რომ ინფორმაცია დაფუძნებულია კვლევაზე და სანდოა.</a:t>
            </a:r>
          </a:p>
          <a:p>
            <a:pPr>
              <a:buFont typeface="Arial" panose="020B0604020202020204" pitchFamily="34" charset="0"/>
              <a:buChar char="•"/>
            </a:pPr>
            <a:endParaRPr lang="ka-GE" dirty="0">
              <a:latin typeface="Calibri" panose="020F0502020204030204" pitchFamily="34" charset="0"/>
              <a:cs typeface="Calibri" panose="020F0502020204030204" pitchFamily="34" charset="0"/>
            </a:endParaRPr>
          </a:p>
          <a:p>
            <a:r>
              <a:rPr lang="ka-GE" b="1" dirty="0">
                <a:latin typeface="Calibri" panose="020F0502020204030204" pitchFamily="34" charset="0"/>
                <a:cs typeface="Calibri" panose="020F0502020204030204" pitchFamily="34" charset="0"/>
              </a:rPr>
              <a:t>2. წყაროს ავტორიტეტი:</a:t>
            </a:r>
          </a:p>
          <a:p>
            <a:pPr>
              <a:buFont typeface="Arial" panose="020B0604020202020204" pitchFamily="34" charset="0"/>
              <a:buChar char="•"/>
            </a:pPr>
            <a:r>
              <a:rPr lang="ka-GE" b="1" dirty="0">
                <a:latin typeface="Calibri" panose="020F0502020204030204" pitchFamily="34" charset="0"/>
                <a:cs typeface="Calibri" panose="020F0502020204030204" pitchFamily="34" charset="0"/>
              </a:rPr>
              <a:t>კვლევის ავტორები</a:t>
            </a:r>
            <a:r>
              <a:rPr lang="ka-GE" dirty="0">
                <a:latin typeface="Calibri" panose="020F0502020204030204" pitchFamily="34" charset="0"/>
                <a:cs typeface="Calibri" panose="020F0502020204030204" pitchFamily="34" charset="0"/>
              </a:rPr>
              <a:t>: აკადემიური კვლევები ხშირად წარმოდგენილია დარგის ექსპერტების მიერ, რომლებიც აქვთ გამოცემული ნაშრომები ან </a:t>
            </a:r>
            <a:r>
              <a:rPr lang="ka-GE" dirty="0" err="1">
                <a:latin typeface="Calibri" panose="020F0502020204030204" pitchFamily="34" charset="0"/>
                <a:cs typeface="Calibri" panose="020F0502020204030204" pitchFamily="34" charset="0"/>
              </a:rPr>
              <a:t>აფილირებული</a:t>
            </a:r>
            <a:r>
              <a:rPr lang="ka-GE" dirty="0">
                <a:latin typeface="Calibri" panose="020F0502020204030204" pitchFamily="34" charset="0"/>
                <a:cs typeface="Calibri" panose="020F0502020204030204" pitchFamily="34" charset="0"/>
              </a:rPr>
              <a:t> არიან უნივერსიტეტებთან ან კვლევით ინსტიტუტებთან.</a:t>
            </a:r>
          </a:p>
          <a:p>
            <a:pPr>
              <a:buFont typeface="Arial" panose="020B0604020202020204" pitchFamily="34" charset="0"/>
              <a:buChar char="•"/>
            </a:pPr>
            <a:endParaRPr lang="ka-GE" dirty="0">
              <a:latin typeface="Calibri" panose="020F0502020204030204" pitchFamily="34" charset="0"/>
              <a:cs typeface="Calibri" panose="020F0502020204030204" pitchFamily="34" charset="0"/>
            </a:endParaRPr>
          </a:p>
          <a:p>
            <a:r>
              <a:rPr lang="ka-GE" b="1" dirty="0">
                <a:latin typeface="Calibri" panose="020F0502020204030204" pitchFamily="34" charset="0"/>
                <a:cs typeface="Calibri" panose="020F0502020204030204" pitchFamily="34" charset="0"/>
              </a:rPr>
              <a:t>3. კვლევითი მტკიცებულება:</a:t>
            </a:r>
          </a:p>
          <a:p>
            <a:pPr>
              <a:buFont typeface="Arial" panose="020B0604020202020204" pitchFamily="34" charset="0"/>
              <a:buChar char="•"/>
            </a:pPr>
            <a:r>
              <a:rPr lang="ka-GE" b="1" dirty="0">
                <a:latin typeface="Calibri" panose="020F0502020204030204" pitchFamily="34" charset="0"/>
                <a:cs typeface="Calibri" panose="020F0502020204030204" pitchFamily="34" charset="0"/>
              </a:rPr>
              <a:t>დამადასტურებელი მონაცემები</a:t>
            </a:r>
            <a:r>
              <a:rPr lang="ka-GE" dirty="0">
                <a:latin typeface="Calibri" panose="020F0502020204030204" pitchFamily="34" charset="0"/>
                <a:cs typeface="Calibri" panose="020F0502020204030204" pitchFamily="34" charset="0"/>
              </a:rPr>
              <a:t>: ინფორმაციის უკან უნდა იდგეს მონაცემები, ექსპერიმენტები, გამოკითხვები ან დაკვირვებები. კვლევითი ინფორმაცია მოიცავს კონკრეტულ მეთოდებსა და ანალიზებს, რაც მას სანდოს ხდის.</a:t>
            </a:r>
          </a:p>
          <a:p>
            <a:pPr>
              <a:buFont typeface="Arial" panose="020B0604020202020204" pitchFamily="34" charset="0"/>
              <a:buChar char="•"/>
            </a:pPr>
            <a:endParaRPr lang="ka-GE" dirty="0">
              <a:latin typeface="Calibri" panose="020F0502020204030204" pitchFamily="34" charset="0"/>
              <a:cs typeface="Calibri" panose="020F0502020204030204" pitchFamily="34" charset="0"/>
            </a:endParaRPr>
          </a:p>
          <a:p>
            <a:r>
              <a:rPr lang="ka-GE" b="1" dirty="0">
                <a:latin typeface="Calibri" panose="020F0502020204030204" pitchFamily="34" charset="0"/>
                <a:cs typeface="Calibri" panose="020F0502020204030204" pitchFamily="34" charset="0"/>
              </a:rPr>
              <a:t>4. კვლევის მეთოდი და პროცესი:</a:t>
            </a:r>
          </a:p>
          <a:p>
            <a:pPr>
              <a:buFont typeface="Arial" panose="020B0604020202020204" pitchFamily="34" charset="0"/>
              <a:buChar char="•"/>
            </a:pPr>
            <a:r>
              <a:rPr lang="ka-GE" b="1" dirty="0">
                <a:latin typeface="Calibri" panose="020F0502020204030204" pitchFamily="34" charset="0"/>
                <a:cs typeface="Calibri" panose="020F0502020204030204" pitchFamily="34" charset="0"/>
              </a:rPr>
              <a:t>სტრუქტურირებული პროცესი</a:t>
            </a:r>
            <a:r>
              <a:rPr lang="ka-GE" dirty="0">
                <a:latin typeface="Calibri" panose="020F0502020204030204" pitchFamily="34" charset="0"/>
                <a:cs typeface="Calibri" panose="020F0502020204030204" pitchFamily="34" charset="0"/>
              </a:rPr>
              <a:t>: კვლევაზე დაფუძნებული ინფორმაცია ხშირად ახსნის, თუ როგორ ჩატარდა კვლევა, რა მეთოდები იქნა გამოყენებული და როგორ ანალიზდება შედეგები. მაგალითად, კვლევის სტატისტიკური ანალიზი, შერჩევის მეთოდი, ცვლადების კონტროლი და სხვა ფაქტორები ხდის ინფორმაციას სანდოს.</a:t>
            </a:r>
          </a:p>
          <a:p>
            <a:pPr>
              <a:buFont typeface="Arial" panose="020B0604020202020204" pitchFamily="34" charset="0"/>
              <a:buChar char="•"/>
            </a:pPr>
            <a:endParaRPr lang="ka-GE"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ka-GE"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ka-G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1953201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9B57A041-7A3B-18FF-0B0B-4DE3E891815C}"/>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altLang="en-US" sz="3600" b="1" dirty="0">
                <a:solidFill>
                  <a:schemeClr val="bg1"/>
                </a:solidFill>
                <a:latin typeface="Calibri" panose="020F0502020204030204" pitchFamily="34" charset="0"/>
                <a:cs typeface="Calibri" panose="020F0502020204030204" pitchFamily="34" charset="0"/>
              </a:rPr>
              <a:t>როგორ გავარჩიოთ სწორი და არასწორი ინფორმაცია?</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1757519F-959F-31A2-EF38-295E25C89707}"/>
              </a:ext>
            </a:extLst>
          </p:cNvPr>
          <p:cNvSpPr txBox="1"/>
          <p:nvPr/>
        </p:nvSpPr>
        <p:spPr>
          <a:xfrm>
            <a:off x="304428" y="710213"/>
            <a:ext cx="11887571" cy="5355312"/>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5. განზოგადების შესაძლებლობა:</a:t>
            </a:r>
          </a:p>
          <a:p>
            <a:pPr>
              <a:buFont typeface="Arial" panose="020B0604020202020204" pitchFamily="34" charset="0"/>
              <a:buChar char="•"/>
            </a:pPr>
            <a:r>
              <a:rPr lang="ka-GE" b="1" dirty="0">
                <a:latin typeface="Calibri" panose="020F0502020204030204" pitchFamily="34" charset="0"/>
                <a:cs typeface="Calibri" panose="020F0502020204030204" pitchFamily="34" charset="0"/>
              </a:rPr>
              <a:t>ფრთხილი დასკვნები</a:t>
            </a:r>
            <a:r>
              <a:rPr lang="ka-GE" dirty="0">
                <a:latin typeface="Calibri" panose="020F0502020204030204" pitchFamily="34" charset="0"/>
                <a:cs typeface="Calibri" panose="020F0502020204030204" pitchFamily="34" charset="0"/>
              </a:rPr>
              <a:t>: სანდო ინფორმაცია აღიარებს, რომ კვლევის შედეგები შეიძლება არ იყოს აბსოლუტურად უნივერსალური და შემოთავაზებული დასკვნები არის კონტექსტზე დამოკიდებული.</a:t>
            </a:r>
          </a:p>
          <a:p>
            <a:pPr>
              <a:buFont typeface="Arial" panose="020B0604020202020204" pitchFamily="34" charset="0"/>
              <a:buChar char="•"/>
            </a:pPr>
            <a:endParaRPr lang="ka-GE" dirty="0">
              <a:latin typeface="Calibri" panose="020F0502020204030204" pitchFamily="34" charset="0"/>
              <a:cs typeface="Calibri" panose="020F0502020204030204" pitchFamily="34" charset="0"/>
            </a:endParaRPr>
          </a:p>
          <a:p>
            <a:r>
              <a:rPr lang="ka-GE" b="1" dirty="0">
                <a:latin typeface="Calibri" panose="020F0502020204030204" pitchFamily="34" charset="0"/>
                <a:cs typeface="Calibri" panose="020F0502020204030204" pitchFamily="34" charset="0"/>
              </a:rPr>
              <a:t>6. სიმარტივე და სირთულე:</a:t>
            </a:r>
          </a:p>
          <a:p>
            <a:pPr>
              <a:buFont typeface="Arial" panose="020B0604020202020204" pitchFamily="34" charset="0"/>
              <a:buChar char="•"/>
            </a:pPr>
            <a:r>
              <a:rPr lang="ka-GE" b="1" dirty="0">
                <a:latin typeface="Calibri" panose="020F0502020204030204" pitchFamily="34" charset="0"/>
                <a:cs typeface="Calibri" panose="020F0502020204030204" pitchFamily="34" charset="0"/>
              </a:rPr>
              <a:t>განმარტებების სირთულე</a:t>
            </a:r>
            <a:r>
              <a:rPr lang="ka-GE" dirty="0">
                <a:latin typeface="Calibri" panose="020F0502020204030204" pitchFamily="34" charset="0"/>
                <a:cs typeface="Calibri" panose="020F0502020204030204" pitchFamily="34" charset="0"/>
              </a:rPr>
              <a:t>: კვლევითი ინფორმაცია ხშირად მოიცავს დეტალურ და რთულ განმარტებებს, რადგან კვლევის პროცესს დრო სჭირდება და მას სჭირდება მრავალი ფენის გაგება.</a:t>
            </a:r>
          </a:p>
          <a:p>
            <a:pPr>
              <a:buFont typeface="Arial" panose="020B0604020202020204" pitchFamily="34" charset="0"/>
              <a:buChar char="•"/>
            </a:pPr>
            <a:endParaRPr lang="ka-GE" dirty="0">
              <a:latin typeface="Calibri" panose="020F0502020204030204" pitchFamily="34" charset="0"/>
              <a:cs typeface="Calibri" panose="020F0502020204030204" pitchFamily="34" charset="0"/>
            </a:endParaRPr>
          </a:p>
          <a:p>
            <a:r>
              <a:rPr lang="ka-GE" b="1" dirty="0">
                <a:latin typeface="Calibri" panose="020F0502020204030204" pitchFamily="34" charset="0"/>
                <a:cs typeface="Calibri" panose="020F0502020204030204" pitchFamily="34" charset="0"/>
              </a:rPr>
              <a:t>7. ციტირება და წყაროები:</a:t>
            </a:r>
          </a:p>
          <a:p>
            <a:pPr>
              <a:buFont typeface="Arial" panose="020B0604020202020204" pitchFamily="34" charset="0"/>
              <a:buChar char="•"/>
            </a:pPr>
            <a:r>
              <a:rPr lang="ka-GE" b="1" dirty="0">
                <a:latin typeface="Calibri" panose="020F0502020204030204" pitchFamily="34" charset="0"/>
                <a:cs typeface="Calibri" panose="020F0502020204030204" pitchFamily="34" charset="0"/>
              </a:rPr>
              <a:t>წყაროების მითითება</a:t>
            </a:r>
            <a:r>
              <a:rPr lang="ka-GE" dirty="0">
                <a:latin typeface="Calibri" panose="020F0502020204030204" pitchFamily="34" charset="0"/>
                <a:cs typeface="Calibri" panose="020F0502020204030204" pitchFamily="34" charset="0"/>
              </a:rPr>
              <a:t>: კვლევაზე დაფუძნებული ინფორმაცია ყოველთვის მოიცავს წყაროების ციტირებას, სადაც მკითხველს შეუძლია გადამოწმება. ეს მოიცავს ლიტერატურის მიმოხილვას, კვლევის დეტალებსა და გამოყენებულ წყაროებს. </a:t>
            </a:r>
            <a:r>
              <a:rPr lang="ka-GE" dirty="0">
                <a:highlight>
                  <a:srgbClr val="00FFFF"/>
                </a:highlight>
                <a:latin typeface="Calibri" panose="020F0502020204030204" pitchFamily="34" charset="0"/>
                <a:cs typeface="Calibri" panose="020F0502020204030204" pitchFamily="34" charset="0"/>
              </a:rPr>
              <a:t>თუ წყაროები არ არის მითითებული ან არ არის მოცემული წყაროს ბმული, ეს შეიძლება მიუთითებდეს, რომ ინფორმაცია არ არის სანდო</a:t>
            </a:r>
            <a:r>
              <a:rPr lang="ka-GE" dirty="0">
                <a:latin typeface="Calibri" panose="020F0502020204030204" pitchFamily="34" charset="0"/>
                <a:cs typeface="Calibri" panose="020F0502020204030204" pitchFamily="34" charset="0"/>
              </a:rPr>
              <a:t>.</a:t>
            </a:r>
          </a:p>
          <a:p>
            <a:pPr>
              <a:buFont typeface="Arial" panose="020B0604020202020204" pitchFamily="34" charset="0"/>
              <a:buChar char="•"/>
            </a:pPr>
            <a:endParaRPr lang="ka-GE" dirty="0">
              <a:latin typeface="Calibri" panose="020F0502020204030204" pitchFamily="34" charset="0"/>
              <a:cs typeface="Calibri" panose="020F0502020204030204" pitchFamily="34" charset="0"/>
            </a:endParaRPr>
          </a:p>
          <a:p>
            <a:r>
              <a:rPr lang="ka-GE" b="1" dirty="0">
                <a:latin typeface="Calibri" panose="020F0502020204030204" pitchFamily="34" charset="0"/>
                <a:cs typeface="Calibri" panose="020F0502020204030204" pitchFamily="34" charset="0"/>
              </a:rPr>
              <a:t>8. ემოციური ტონი და ობიექტურობა:</a:t>
            </a:r>
          </a:p>
          <a:p>
            <a:pPr>
              <a:buFont typeface="Arial" panose="020B0604020202020204" pitchFamily="34" charset="0"/>
              <a:buChar char="•"/>
            </a:pPr>
            <a:r>
              <a:rPr lang="ka-GE" b="1" dirty="0">
                <a:latin typeface="Calibri" panose="020F0502020204030204" pitchFamily="34" charset="0"/>
                <a:cs typeface="Calibri" panose="020F0502020204030204" pitchFamily="34" charset="0"/>
              </a:rPr>
              <a:t>ობიექტური და მიუკერძოებელი ინფორმაცია</a:t>
            </a:r>
            <a:r>
              <a:rPr lang="ka-GE" dirty="0">
                <a:latin typeface="Calibri" panose="020F0502020204030204" pitchFamily="34" charset="0"/>
                <a:cs typeface="Calibri" panose="020F0502020204030204" pitchFamily="34" charset="0"/>
              </a:rPr>
              <a:t>: კვლევითი ინფორმაცია ემყარება ფაქტებს და ობიექტურ ანალიზს, ემოციური ზეწოლის გარეშე. თუ ინფორმაცია ცდილობს, მომხმარებელში გამოიწვიოს ემოციური რეაქცია ან შიშზე დაფუძნებული განცხადებები (მაგ., „ეს აუცილებლად უნდა იცოდე!“ ან „ეს გიცავს საფრთხისგან“), ის შეიძლება არ იყოს სანდო.</a:t>
            </a:r>
          </a:p>
        </p:txBody>
      </p:sp>
    </p:spTree>
    <p:extLst>
      <p:ext uri="{BB962C8B-B14F-4D97-AF65-F5344CB8AC3E}">
        <p14:creationId xmlns:p14="http://schemas.microsoft.com/office/powerpoint/2010/main" val="7753437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6448" y="628448"/>
            <a:ext cx="11482896" cy="3683358"/>
          </a:xfrm>
        </p:spPr>
        <p:txBody>
          <a:bodyPr anchor="ctr">
            <a:noAutofit/>
          </a:bodyPr>
          <a:lstStyle/>
          <a:p>
            <a:pPr>
              <a:buFont typeface="Arial" panose="020B0604020202020204" pitchFamily="34" charset="0"/>
              <a:buChar char="•"/>
            </a:pPr>
            <a:r>
              <a:rPr lang="ka-GE" sz="2400" b="1" dirty="0">
                <a:latin typeface="Calibri" panose="020F0502020204030204" pitchFamily="34" charset="0"/>
                <a:cs typeface="Calibri" panose="020F0502020204030204" pitchFamily="34" charset="0"/>
              </a:rPr>
              <a:t>მრავალფეროვანი რესურსები:</a:t>
            </a:r>
            <a:r>
              <a:rPr lang="ka-GE" sz="2400" dirty="0">
                <a:latin typeface="Calibri" panose="020F0502020204030204" pitchFamily="34" charset="0"/>
                <a:cs typeface="Calibri" panose="020F0502020204030204" pitchFamily="34" charset="0"/>
              </a:rPr>
              <a:t> უზრუნველყოფს სხვადასხვა ფორმატში (ელექტრონული წიგნები, სტატიები, აუდიო და ვიდეო მასალები) სასწავლო და კვლევითი რესურსების მოპოვებას.</a:t>
            </a:r>
          </a:p>
          <a:p>
            <a:pPr>
              <a:buFont typeface="Arial" panose="020B0604020202020204" pitchFamily="34" charset="0"/>
              <a:buChar char="•"/>
            </a:pPr>
            <a:r>
              <a:rPr lang="ka-GE" sz="2400" b="1" dirty="0">
                <a:latin typeface="Calibri" panose="020F0502020204030204" pitchFamily="34" charset="0"/>
                <a:cs typeface="Calibri" panose="020F0502020204030204" pitchFamily="34" charset="0"/>
              </a:rPr>
              <a:t>ხელმისაწვდომობა:</a:t>
            </a:r>
            <a:r>
              <a:rPr lang="ka-GE" sz="2400" dirty="0">
                <a:latin typeface="Calibri" panose="020F0502020204030204" pitchFamily="34" charset="0"/>
                <a:cs typeface="Calibri" panose="020F0502020204030204" pitchFamily="34" charset="0"/>
              </a:rPr>
              <a:t> 24/7 წვდომა ნებისმიერ დროს და ადგილიდან, რაც მოსახერხებელია სტუდენტებისა და მკვლევრებისთვის.</a:t>
            </a:r>
          </a:p>
          <a:p>
            <a:pPr>
              <a:buFont typeface="Arial" panose="020B0604020202020204" pitchFamily="34" charset="0"/>
              <a:buChar char="•"/>
            </a:pPr>
            <a:r>
              <a:rPr lang="ka-GE" sz="2400" b="1" dirty="0">
                <a:latin typeface="Calibri" panose="020F0502020204030204" pitchFamily="34" charset="0"/>
                <a:cs typeface="Calibri" panose="020F0502020204030204" pitchFamily="34" charset="0"/>
              </a:rPr>
              <a:t>მოძიება და გამოკვლევა:</a:t>
            </a:r>
            <a:r>
              <a:rPr lang="ka-GE" sz="2400" dirty="0">
                <a:latin typeface="Calibri" panose="020F0502020204030204" pitchFamily="34" charset="0"/>
                <a:cs typeface="Calibri" panose="020F0502020204030204" pitchFamily="34" charset="0"/>
              </a:rPr>
              <a:t> სწრაფი და ეფექტური ძიების სისტემები, რაც იძლევა საჭირო მასალის მარტივად პოვნას საშუალებას, განსაკუთრებით დიდ მოცულობის მასალებში.</a:t>
            </a:r>
          </a:p>
        </p:txBody>
      </p:sp>
      <p:sp>
        <p:nvSpPr>
          <p:cNvPr id="4" name="Title 1">
            <a:extLst>
              <a:ext uri="{FF2B5EF4-FFF2-40B4-BE49-F238E27FC236}">
                <a16:creationId xmlns:a16="http://schemas.microsoft.com/office/drawing/2014/main" id="{9B57A041-7A3B-18FF-0B0B-4DE3E891815C}"/>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sz="3600" b="1" dirty="0">
                <a:solidFill>
                  <a:schemeClr val="bg1"/>
                </a:solidFill>
                <a:latin typeface="Calibri" panose="020F0502020204030204" pitchFamily="34" charset="0"/>
                <a:cs typeface="Calibri" panose="020F0502020204030204" pitchFamily="34" charset="0"/>
              </a:rPr>
              <a:t>ონლაინ ბიბლიოთეკების უპირატესობები:</a:t>
            </a:r>
            <a:endParaRPr lang="en-US" altLang="en-US" sz="3600" dirty="0">
              <a:solidFill>
                <a:schemeClr val="bg1"/>
              </a:solidFill>
              <a:latin typeface="Calibri" panose="020F0502020204030204" pitchFamily="34" charset="0"/>
              <a:cs typeface="Calibri" panose="020F050202020403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D52ACB1-B19B-7749-0C58-C6C7C0E90EF9}"/>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sz="2700" b="1" dirty="0">
                <a:solidFill>
                  <a:schemeClr val="bg1"/>
                </a:solidFill>
                <a:latin typeface="Calibri" panose="020F0502020204030204" pitchFamily="34" charset="0"/>
                <a:cs typeface="Calibri" panose="020F0502020204030204" pitchFamily="34" charset="0"/>
              </a:rPr>
              <a:t>მეცნიერების ჟურნალების და სტატიების (ლიტერატურის) ონლაინ მოძიების პროცესი</a:t>
            </a:r>
            <a:endParaRPr lang="en-US" altLang="en-US" sz="2700" b="1"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76359A5-210F-D6EA-C36E-E35C429DAECF}"/>
              </a:ext>
            </a:extLst>
          </p:cNvPr>
          <p:cNvSpPr txBox="1"/>
          <p:nvPr/>
        </p:nvSpPr>
        <p:spPr>
          <a:xfrm>
            <a:off x="508987" y="588730"/>
            <a:ext cx="11683013" cy="4401205"/>
          </a:xfrm>
          <a:prstGeom prst="rect">
            <a:avLst/>
          </a:prstGeom>
          <a:noFill/>
        </p:spPr>
        <p:txBody>
          <a:bodyPr wrap="square">
            <a:spAutoFit/>
          </a:bodyPr>
          <a:lstStyle/>
          <a:p>
            <a:r>
              <a:rPr lang="ka-GE" sz="2000" b="1" dirty="0">
                <a:latin typeface="Calibri" panose="020F0502020204030204" pitchFamily="34" charset="0"/>
                <a:cs typeface="Calibri" panose="020F0502020204030204" pitchFamily="34" charset="0"/>
              </a:rPr>
              <a:t>1. სათანადო პლატფორმების შერჩევა</a:t>
            </a:r>
          </a:p>
          <a:p>
            <a:r>
              <a:rPr lang="ka-GE" sz="2000" dirty="0">
                <a:latin typeface="Calibri" panose="020F0502020204030204" pitchFamily="34" charset="0"/>
                <a:cs typeface="Calibri" panose="020F0502020204030204" pitchFamily="34" charset="0"/>
              </a:rPr>
              <a:t>პირველი ნაბიჯია შესაბამისი ონლაინ პლატფორმის შერჩევა, რომელიც აკადემიურ სტატიებსა და ჟურნალებს გთავაზობთ. რამდენიმე ყველაზე გავრცელებული პლატფორმა მოიცავს:</a:t>
            </a:r>
            <a:endParaRPr lang="en-US" sz="2000" dirty="0">
              <a:latin typeface="Calibri" panose="020F0502020204030204" pitchFamily="34" charset="0"/>
              <a:cs typeface="Calibri" panose="020F0502020204030204" pitchFamily="34" charset="0"/>
            </a:endParaRPr>
          </a:p>
          <a:p>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sz="2000" b="1" dirty="0">
                <a:latin typeface="Calibri" panose="020F0502020204030204" pitchFamily="34" charset="0"/>
                <a:cs typeface="Calibri" panose="020F0502020204030204" pitchFamily="34" charset="0"/>
              </a:rPr>
              <a:t>Google Scholar</a:t>
            </a:r>
            <a:r>
              <a:rPr lang="en-US" sz="2000" dirty="0">
                <a:latin typeface="Calibri" panose="020F0502020204030204" pitchFamily="34" charset="0"/>
                <a:cs typeface="Calibri" panose="020F0502020204030204" pitchFamily="34" charset="0"/>
              </a:rPr>
              <a:t>: </a:t>
            </a:r>
            <a:r>
              <a:rPr lang="ka-GE" sz="2000" dirty="0">
                <a:latin typeface="Calibri" panose="020F0502020204030204" pitchFamily="34" charset="0"/>
                <a:cs typeface="Calibri" panose="020F0502020204030204" pitchFamily="34" charset="0"/>
              </a:rPr>
              <a:t>აკადემიური სტატიების საძიებო სისტემა, რომელიც ფართო ლიტერატურას გვაწვდის.</a:t>
            </a:r>
          </a:p>
          <a:p>
            <a:pPr>
              <a:buFont typeface="Arial" panose="020B0604020202020204" pitchFamily="34" charset="0"/>
              <a:buChar char="•"/>
            </a:pPr>
            <a:r>
              <a:rPr lang="en-US" sz="2000" b="1" dirty="0">
                <a:latin typeface="Calibri" panose="020F0502020204030204" pitchFamily="34" charset="0"/>
                <a:cs typeface="Calibri" panose="020F0502020204030204" pitchFamily="34" charset="0"/>
              </a:rPr>
              <a:t>JSTOR</a:t>
            </a:r>
            <a:r>
              <a:rPr lang="en-US" sz="2000" dirty="0">
                <a:latin typeface="Calibri" panose="020F0502020204030204" pitchFamily="34" charset="0"/>
                <a:cs typeface="Calibri" panose="020F0502020204030204" pitchFamily="34" charset="0"/>
              </a:rPr>
              <a:t>: </a:t>
            </a:r>
            <a:r>
              <a:rPr lang="ka-GE" sz="2000" dirty="0">
                <a:latin typeface="Calibri" panose="020F0502020204030204" pitchFamily="34" charset="0"/>
                <a:cs typeface="Calibri" panose="020F0502020204030204" pitchFamily="34" charset="0"/>
              </a:rPr>
              <a:t>სტატიათა და წიგნების მძლავრი არქივი.</a:t>
            </a:r>
          </a:p>
          <a:p>
            <a:pPr>
              <a:buFont typeface="Arial" panose="020B0604020202020204" pitchFamily="34" charset="0"/>
              <a:buChar char="•"/>
            </a:pPr>
            <a:r>
              <a:rPr lang="en-US" sz="2000" b="1" dirty="0">
                <a:latin typeface="Calibri" panose="020F0502020204030204" pitchFamily="34" charset="0"/>
                <a:cs typeface="Calibri" panose="020F0502020204030204" pitchFamily="34" charset="0"/>
              </a:rPr>
              <a:t>PubMed</a:t>
            </a:r>
            <a:r>
              <a:rPr lang="en-US" sz="2000" dirty="0">
                <a:latin typeface="Calibri" panose="020F0502020204030204" pitchFamily="34" charset="0"/>
                <a:cs typeface="Calibri" panose="020F0502020204030204" pitchFamily="34" charset="0"/>
              </a:rPr>
              <a:t>: </a:t>
            </a:r>
            <a:r>
              <a:rPr lang="ka-GE" sz="2000" dirty="0">
                <a:latin typeface="Calibri" panose="020F0502020204030204" pitchFamily="34" charset="0"/>
                <a:cs typeface="Calibri" panose="020F0502020204030204" pitchFamily="34" charset="0"/>
              </a:rPr>
              <a:t>ბიოლოგიისა და სამედიცინო სფეროების ლიტერატურისთვის.</a:t>
            </a:r>
          </a:p>
          <a:p>
            <a:pPr>
              <a:buFont typeface="Arial" panose="020B0604020202020204" pitchFamily="34" charset="0"/>
              <a:buChar char="•"/>
            </a:pPr>
            <a:r>
              <a:rPr lang="en-US" sz="2000" b="1" dirty="0">
                <a:latin typeface="Calibri" panose="020F0502020204030204" pitchFamily="34" charset="0"/>
                <a:cs typeface="Calibri" panose="020F0502020204030204" pitchFamily="34" charset="0"/>
              </a:rPr>
              <a:t>ScienceDirect</a:t>
            </a:r>
            <a:r>
              <a:rPr lang="en-US" sz="2000" dirty="0">
                <a:latin typeface="Calibri" panose="020F0502020204030204" pitchFamily="34" charset="0"/>
                <a:cs typeface="Calibri" panose="020F0502020204030204" pitchFamily="34" charset="0"/>
              </a:rPr>
              <a:t>: </a:t>
            </a:r>
            <a:r>
              <a:rPr lang="ka-GE" sz="2000" dirty="0">
                <a:latin typeface="Calibri" panose="020F0502020204030204" pitchFamily="34" charset="0"/>
                <a:cs typeface="Calibri" panose="020F0502020204030204" pitchFamily="34" charset="0"/>
              </a:rPr>
              <a:t>ტექნიკური და სამეცნიერო კვლევებისთვის </a:t>
            </a:r>
          </a:p>
          <a:p>
            <a:pPr>
              <a:buFont typeface="Arial" panose="020B0604020202020204" pitchFamily="34" charset="0"/>
              <a:buChar char="•"/>
            </a:pPr>
            <a:r>
              <a:rPr lang="ka-GE" sz="2000" dirty="0">
                <a:latin typeface="Calibri" panose="020F0502020204030204" pitchFamily="34" charset="0"/>
                <a:cs typeface="Calibri" panose="020F0502020204030204" pitchFamily="34" charset="0"/>
              </a:rPr>
              <a:t> და </a:t>
            </a:r>
            <a:r>
              <a:rPr lang="ka-GE" sz="2000" dirty="0" err="1">
                <a:latin typeface="Calibri" panose="020F0502020204030204" pitchFamily="34" charset="0"/>
                <a:cs typeface="Calibri" panose="020F0502020204030204" pitchFamily="34" charset="0"/>
              </a:rPr>
              <a:t>ა.შ</a:t>
            </a:r>
            <a:r>
              <a:rPr lang="ka-GE" sz="2000" dirty="0">
                <a:latin typeface="Calibri" panose="020F0502020204030204" pitchFamily="34" charset="0"/>
                <a:cs typeface="Calibri" panose="020F0502020204030204" pitchFamily="34" charset="0"/>
              </a:rPr>
              <a:t>.</a:t>
            </a:r>
            <a:endParaRPr lang="en-US" sz="2000"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r>
              <a:rPr lang="ka-GE" sz="2000" b="1" dirty="0">
                <a:latin typeface="Calibri" panose="020F0502020204030204" pitchFamily="34" charset="0"/>
                <a:cs typeface="Calibri" panose="020F0502020204030204" pitchFamily="34" charset="0"/>
              </a:rPr>
              <a:t>მაგალითი:</a:t>
            </a:r>
            <a:r>
              <a:rPr lang="ka-GE" sz="2000" dirty="0">
                <a:latin typeface="Calibri" panose="020F0502020204030204" pitchFamily="34" charset="0"/>
                <a:cs typeface="Calibri" panose="020F0502020204030204" pitchFamily="34" charset="0"/>
              </a:rPr>
              <a:t> სტუდენტს სურს, მოიძიოს მასალა თემაზე „მდგრადი განვითარება“. </a:t>
            </a:r>
          </a:p>
          <a:p>
            <a:r>
              <a:rPr lang="ka-GE" sz="2000" dirty="0">
                <a:latin typeface="Calibri" panose="020F0502020204030204" pitchFamily="34" charset="0"/>
                <a:cs typeface="Calibri" panose="020F0502020204030204" pitchFamily="34" charset="0"/>
              </a:rPr>
              <a:t>პირველ რიგში, მას </a:t>
            </a:r>
            <a:r>
              <a:rPr lang="en-US" sz="2000" dirty="0">
                <a:latin typeface="Calibri" panose="020F0502020204030204" pitchFamily="34" charset="0"/>
                <a:cs typeface="Calibri" panose="020F0502020204030204" pitchFamily="34" charset="0"/>
              </a:rPr>
              <a:t>Google Scholar-</a:t>
            </a:r>
            <a:r>
              <a:rPr lang="ka-GE" sz="2000" dirty="0">
                <a:latin typeface="Calibri" panose="020F0502020204030204" pitchFamily="34" charset="0"/>
                <a:cs typeface="Calibri" panose="020F0502020204030204" pitchFamily="34" charset="0"/>
              </a:rPr>
              <a:t>ზე შეუძლია მოძებნოს სტატიები, ხოლო თუ უფრო სპეციფიკურ თემაზე მუშაობს, მაგალითად, მედიცინასთან დაკავშირებული საკითხები, გამოიყენოს </a:t>
            </a:r>
            <a:r>
              <a:rPr lang="en-US" sz="2000" dirty="0">
                <a:latin typeface="Calibri" panose="020F0502020204030204" pitchFamily="34" charset="0"/>
                <a:cs typeface="Calibri" panose="020F0502020204030204" pitchFamily="34" charset="0"/>
              </a:rPr>
              <a:t>PubMed.</a:t>
            </a:r>
          </a:p>
        </p:txBody>
      </p:sp>
    </p:spTree>
    <p:extLst>
      <p:ext uri="{BB962C8B-B14F-4D97-AF65-F5344CB8AC3E}">
        <p14:creationId xmlns:p14="http://schemas.microsoft.com/office/powerpoint/2010/main" val="356238615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6D52ACB1-B19B-7749-0C58-C6C7C0E90EF9}"/>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sz="2700" b="1" dirty="0">
                <a:solidFill>
                  <a:schemeClr val="bg1"/>
                </a:solidFill>
                <a:latin typeface="Calibri" panose="020F0502020204030204" pitchFamily="34" charset="0"/>
                <a:cs typeface="Calibri" panose="020F0502020204030204" pitchFamily="34" charset="0"/>
              </a:rPr>
              <a:t>მეცნიერების ჟურნალების და სტატიების (ლიტერატურის) ონლაინ მოძიების პროცესი</a:t>
            </a:r>
            <a:endParaRPr lang="en-US" altLang="en-US" sz="2700" b="1"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76359A5-210F-D6EA-C36E-E35C429DAECF}"/>
              </a:ext>
            </a:extLst>
          </p:cNvPr>
          <p:cNvSpPr txBox="1"/>
          <p:nvPr/>
        </p:nvSpPr>
        <p:spPr>
          <a:xfrm>
            <a:off x="508987" y="588730"/>
            <a:ext cx="11683013" cy="5940088"/>
          </a:xfrm>
          <a:prstGeom prst="rect">
            <a:avLst/>
          </a:prstGeom>
          <a:noFill/>
        </p:spPr>
        <p:txBody>
          <a:bodyPr wrap="square">
            <a:spAutoFit/>
          </a:bodyPr>
          <a:lstStyle/>
          <a:p>
            <a:r>
              <a:rPr lang="ka-GE" sz="2000" b="1" dirty="0">
                <a:latin typeface="Calibri" panose="020F0502020204030204" pitchFamily="34" charset="0"/>
                <a:cs typeface="Calibri" panose="020F0502020204030204" pitchFamily="34" charset="0"/>
              </a:rPr>
              <a:t>2. ძებნის პარამეტრების სწორად განსაზღვრა</a:t>
            </a:r>
          </a:p>
          <a:p>
            <a:r>
              <a:rPr lang="ka-GE" sz="2000" dirty="0">
                <a:latin typeface="Calibri" panose="020F0502020204030204" pitchFamily="34" charset="0"/>
                <a:cs typeface="Calibri" panose="020F0502020204030204" pitchFamily="34" charset="0"/>
              </a:rPr>
              <a:t>აკადემიურ ძიებაში მნიშვნელოვანია, რომ სწორად გამოვიყენოთ სიტყვები და პარამეტრები, რათა შედეგები მაქსიმალურად რელევანტური იყოს:</a:t>
            </a: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საკვანძო სიტყვები</a:t>
            </a:r>
            <a:r>
              <a:rPr lang="ka-GE" sz="2000" dirty="0">
                <a:latin typeface="Calibri" panose="020F0502020204030204" pitchFamily="34" charset="0"/>
                <a:cs typeface="Calibri" panose="020F0502020204030204" pitchFamily="34" charset="0"/>
              </a:rPr>
              <a:t>: სტუდენტებს ვურჩევთ, გამოიყენონ ძირითადი და სპეციფიკური ტერმინები, რომლებიც პირდაპირ უკავშირდება მათ კვლევით კითხვებს.</a:t>
            </a:r>
          </a:p>
          <a:p>
            <a:pPr>
              <a:buFont typeface="Arial" panose="020B0604020202020204" pitchFamily="34" charset="0"/>
              <a:buChar char="•"/>
            </a:pPr>
            <a:r>
              <a:rPr lang="en-US" sz="2000" b="1" dirty="0">
                <a:latin typeface="Calibri" panose="020F0502020204030204" pitchFamily="34" charset="0"/>
                <a:cs typeface="Calibri" panose="020F0502020204030204" pitchFamily="34" charset="0"/>
              </a:rPr>
              <a:t>Boole-</a:t>
            </a:r>
            <a:r>
              <a:rPr lang="ka-GE" sz="2000" b="1" dirty="0">
                <a:latin typeface="Calibri" panose="020F0502020204030204" pitchFamily="34" charset="0"/>
                <a:cs typeface="Calibri" panose="020F0502020204030204" pitchFamily="34" charset="0"/>
              </a:rPr>
              <a:t>ის ოპერატორები</a:t>
            </a:r>
            <a:r>
              <a:rPr lang="ka-GE"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AND, OR, NOT): </a:t>
            </a:r>
            <a:r>
              <a:rPr lang="ka-GE" sz="2000" dirty="0">
                <a:latin typeface="Calibri" panose="020F0502020204030204" pitchFamily="34" charset="0"/>
                <a:cs typeface="Calibri" panose="020F0502020204030204" pitchFamily="34" charset="0"/>
              </a:rPr>
              <a:t>ამ ოპერატორების საშუალებით შესაძლებელი ხდება ძებნის შედეგების გაფილტვრა.</a:t>
            </a:r>
          </a:p>
          <a:p>
            <a:pPr marL="742950" lvl="1" indent="-285750">
              <a:buFont typeface="Arial" panose="020B0604020202020204" pitchFamily="34" charset="0"/>
              <a:buChar char="•"/>
            </a:pPr>
            <a:r>
              <a:rPr lang="en-US" sz="2000" b="1" dirty="0">
                <a:latin typeface="Calibri" panose="020F0502020204030204" pitchFamily="34" charset="0"/>
                <a:cs typeface="Calibri" panose="020F0502020204030204" pitchFamily="34" charset="0"/>
              </a:rPr>
              <a:t>AND</a:t>
            </a:r>
            <a:r>
              <a:rPr lang="en-US" sz="2000" dirty="0">
                <a:latin typeface="Calibri" panose="020F0502020204030204" pitchFamily="34" charset="0"/>
                <a:cs typeface="Calibri" panose="020F0502020204030204" pitchFamily="34" charset="0"/>
              </a:rPr>
              <a:t>: </a:t>
            </a:r>
            <a:r>
              <a:rPr lang="ka-GE" sz="2000" dirty="0">
                <a:latin typeface="Calibri" panose="020F0502020204030204" pitchFamily="34" charset="0"/>
                <a:cs typeface="Calibri" panose="020F0502020204030204" pitchFamily="34" charset="0"/>
              </a:rPr>
              <a:t>ძებნის შედეგები მოიცავს სტატიებს, რომლებიც მოიცავს ორივე სიტყვას (მაგალითად, „</a:t>
            </a:r>
            <a:r>
              <a:rPr lang="en-US" sz="2000" dirty="0">
                <a:latin typeface="Calibri" panose="020F0502020204030204" pitchFamily="34" charset="0"/>
                <a:cs typeface="Calibri" panose="020F0502020204030204" pitchFamily="34" charset="0"/>
              </a:rPr>
              <a:t>sustainable development AND energy“).</a:t>
            </a:r>
          </a:p>
          <a:p>
            <a:pPr marL="742950" lvl="1" indent="-285750">
              <a:buFont typeface="Arial" panose="020B0604020202020204" pitchFamily="34" charset="0"/>
              <a:buChar char="•"/>
            </a:pPr>
            <a:r>
              <a:rPr lang="en-US" sz="2000" b="1" dirty="0">
                <a:latin typeface="Calibri" panose="020F0502020204030204" pitchFamily="34" charset="0"/>
                <a:cs typeface="Calibri" panose="020F0502020204030204" pitchFamily="34" charset="0"/>
              </a:rPr>
              <a:t>OR</a:t>
            </a:r>
            <a:r>
              <a:rPr lang="en-US" sz="2000" dirty="0">
                <a:latin typeface="Calibri" panose="020F0502020204030204" pitchFamily="34" charset="0"/>
                <a:cs typeface="Calibri" panose="020F0502020204030204" pitchFamily="34" charset="0"/>
              </a:rPr>
              <a:t>: </a:t>
            </a:r>
            <a:r>
              <a:rPr lang="ka-GE" sz="2000" dirty="0">
                <a:latin typeface="Calibri" panose="020F0502020204030204" pitchFamily="34" charset="0"/>
                <a:cs typeface="Calibri" panose="020F0502020204030204" pitchFamily="34" charset="0"/>
              </a:rPr>
              <a:t>მოიცავს სტატიებს, რომლებიც შეიცავენ ერთ ან მეორე ტერმინს (მაგალითად, „</a:t>
            </a:r>
            <a:r>
              <a:rPr lang="en-US" sz="2000" dirty="0">
                <a:latin typeface="Calibri" panose="020F0502020204030204" pitchFamily="34" charset="0"/>
                <a:cs typeface="Calibri" panose="020F0502020204030204" pitchFamily="34" charset="0"/>
              </a:rPr>
              <a:t>climate change OR global warming“).</a:t>
            </a:r>
          </a:p>
          <a:p>
            <a:pPr marL="742950" lvl="1" indent="-285750">
              <a:buFont typeface="Arial" panose="020B0604020202020204" pitchFamily="34" charset="0"/>
              <a:buChar char="•"/>
            </a:pPr>
            <a:r>
              <a:rPr lang="en-US" sz="2000" b="1" dirty="0">
                <a:latin typeface="Calibri" panose="020F0502020204030204" pitchFamily="34" charset="0"/>
                <a:cs typeface="Calibri" panose="020F0502020204030204" pitchFamily="34" charset="0"/>
              </a:rPr>
              <a:t>NOT</a:t>
            </a:r>
            <a:r>
              <a:rPr lang="en-US" sz="2000" dirty="0">
                <a:latin typeface="Calibri" panose="020F0502020204030204" pitchFamily="34" charset="0"/>
                <a:cs typeface="Calibri" panose="020F0502020204030204" pitchFamily="34" charset="0"/>
              </a:rPr>
              <a:t>: </a:t>
            </a:r>
            <a:r>
              <a:rPr lang="ka-GE" sz="2000" dirty="0">
                <a:latin typeface="Calibri" panose="020F0502020204030204" pitchFamily="34" charset="0"/>
                <a:cs typeface="Calibri" panose="020F0502020204030204" pitchFamily="34" charset="0"/>
              </a:rPr>
              <a:t>გამორიცხავს სტატიებს, რომლებიც შეიცავენ მიუღებელ სიტყვას (მაგალითად, „</a:t>
            </a:r>
            <a:r>
              <a:rPr lang="en-US" sz="2000" dirty="0">
                <a:latin typeface="Calibri" panose="020F0502020204030204" pitchFamily="34" charset="0"/>
                <a:cs typeface="Calibri" panose="020F0502020204030204" pitchFamily="34" charset="0"/>
              </a:rPr>
              <a:t>genetics NOT cancer“).</a:t>
            </a: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ციტატების ძებნა</a:t>
            </a:r>
            <a:r>
              <a:rPr lang="ka-GE" sz="2000" dirty="0">
                <a:latin typeface="Calibri" panose="020F0502020204030204" pitchFamily="34" charset="0"/>
                <a:cs typeface="Calibri" panose="020F0502020204030204" pitchFamily="34" charset="0"/>
              </a:rPr>
              <a:t>: ეს ტექნიკა გამოიყენება, როდესაც გსურთ ნახოთ, რამდენად ხშირად ციტირებულია კონკრეტული სტატია და მისი გავლენა კვლევებში.</a:t>
            </a:r>
          </a:p>
          <a:p>
            <a:pPr>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r>
              <a:rPr lang="ka-GE" sz="2000" b="1" dirty="0">
                <a:latin typeface="Calibri" panose="020F0502020204030204" pitchFamily="34" charset="0"/>
                <a:cs typeface="Calibri" panose="020F0502020204030204" pitchFamily="34" charset="0"/>
              </a:rPr>
              <a:t>მაგალითი:</a:t>
            </a:r>
            <a:r>
              <a:rPr lang="ka-GE" sz="2000" dirty="0">
                <a:latin typeface="Calibri" panose="020F0502020204030204" pitchFamily="34" charset="0"/>
                <a:cs typeface="Calibri" panose="020F0502020204030204" pitchFamily="34" charset="0"/>
              </a:rPr>
              <a:t> თუ სტუდენტი ეძებს მასალებს ტექნოლოგიების გავლენაზე გარემოს დაცვაზე, მან უნდა გამოიყენოს „</a:t>
            </a:r>
            <a:r>
              <a:rPr lang="en-US" sz="2000" dirty="0">
                <a:latin typeface="Calibri" panose="020F0502020204030204" pitchFamily="34" charset="0"/>
                <a:cs typeface="Calibri" panose="020F0502020204030204" pitchFamily="34" charset="0"/>
              </a:rPr>
              <a:t>technology AND environmental protection“. </a:t>
            </a:r>
            <a:r>
              <a:rPr lang="ka-GE" sz="2000" dirty="0">
                <a:latin typeface="Calibri" panose="020F0502020204030204" pitchFamily="34" charset="0"/>
                <a:cs typeface="Calibri" panose="020F0502020204030204" pitchFamily="34" charset="0"/>
              </a:rPr>
              <a:t>ანალოგიურად, თუ მას არ სურს სტატიები, რომლებიც მხოლოდ კლიმატის ცვლილებაზეა, უნდა ჩართოს „</a:t>
            </a:r>
            <a:r>
              <a:rPr lang="en-US" sz="2000" dirty="0">
                <a:latin typeface="Calibri" panose="020F0502020204030204" pitchFamily="34" charset="0"/>
                <a:cs typeface="Calibri" panose="020F0502020204030204" pitchFamily="34" charset="0"/>
              </a:rPr>
              <a:t>NOT climate change“.</a:t>
            </a:r>
          </a:p>
        </p:txBody>
      </p:sp>
    </p:spTree>
    <p:extLst>
      <p:ext uri="{BB962C8B-B14F-4D97-AF65-F5344CB8AC3E}">
        <p14:creationId xmlns:p14="http://schemas.microsoft.com/office/powerpoint/2010/main" val="386499164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2B22F92C-1B07-4FB9-B169-D733D081A2D7}"/>
              </a:ext>
            </a:extLst>
          </p:cNvPr>
          <p:cNvSpPr txBox="1"/>
          <p:nvPr/>
        </p:nvSpPr>
        <p:spPr>
          <a:xfrm>
            <a:off x="390617" y="689668"/>
            <a:ext cx="11603115" cy="4708981"/>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3. </a:t>
            </a:r>
            <a:r>
              <a:rPr lang="ka-GE" sz="2000" b="1" dirty="0">
                <a:latin typeface="Calibri" panose="020F0502020204030204" pitchFamily="34" charset="0"/>
                <a:cs typeface="Calibri" panose="020F0502020204030204" pitchFamily="34" charset="0"/>
              </a:rPr>
              <a:t>ძებნის გაფილტვრა და შედეგების სიზუსტე</a:t>
            </a:r>
            <a:endParaRPr lang="en-US" sz="2000" b="1" dirty="0">
              <a:latin typeface="Calibri" panose="020F0502020204030204" pitchFamily="34" charset="0"/>
              <a:cs typeface="Calibri" panose="020F0502020204030204" pitchFamily="34" charset="0"/>
            </a:endParaRPr>
          </a:p>
          <a:p>
            <a:endParaRPr lang="ka-GE" sz="2000" b="1" dirty="0">
              <a:latin typeface="Calibri" panose="020F0502020204030204" pitchFamily="34" charset="0"/>
              <a:cs typeface="Calibri" panose="020F0502020204030204" pitchFamily="34" charset="0"/>
            </a:endParaRPr>
          </a:p>
          <a:p>
            <a:r>
              <a:rPr lang="ka-GE" sz="2000" dirty="0">
                <a:latin typeface="Calibri" panose="020F0502020204030204" pitchFamily="34" charset="0"/>
                <a:cs typeface="Calibri" panose="020F0502020204030204" pitchFamily="34" charset="0"/>
              </a:rPr>
              <a:t>პლატფორმების უმეტესობა საშუალებას იძლევა, რომ სტუდენტმა მოიძიოს შედეგები სხვადასხვა კრიტერიუმებით:</a:t>
            </a:r>
            <a:endParaRPr lang="en-US" sz="2000" dirty="0">
              <a:latin typeface="Calibri" panose="020F0502020204030204" pitchFamily="34" charset="0"/>
              <a:cs typeface="Calibri" panose="020F0502020204030204" pitchFamily="34" charset="0"/>
            </a:endParaRPr>
          </a:p>
          <a:p>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გამოცემის წელი</a:t>
            </a:r>
            <a:r>
              <a:rPr lang="ka-GE" sz="2000" dirty="0">
                <a:latin typeface="Calibri" panose="020F0502020204030204" pitchFamily="34" charset="0"/>
                <a:cs typeface="Calibri" panose="020F0502020204030204" pitchFamily="34" charset="0"/>
              </a:rPr>
              <a:t>: ხშირად თანამედროვე კვლევები უფრო რელევანტურია, ამიტომ შედეგები შეიძლება გაფილტროს ბოლო 5-10 წლის მიხედვით.</a:t>
            </a:r>
            <a:endParaRPr lang="en-US" sz="2000"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ავტორები</a:t>
            </a:r>
            <a:r>
              <a:rPr lang="ka-GE" sz="2000" dirty="0">
                <a:latin typeface="Calibri" panose="020F0502020204030204" pitchFamily="34" charset="0"/>
                <a:cs typeface="Calibri" panose="020F0502020204030204" pitchFamily="34" charset="0"/>
              </a:rPr>
              <a:t>: ცნობილ მკვლევარებზე ან ავტორებზე დამყარებული ძებნა ასევე ეფექტურია.</a:t>
            </a:r>
            <a:endParaRPr lang="en-US" sz="2000"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ჟურნალის ტიპი</a:t>
            </a:r>
            <a:r>
              <a:rPr lang="ka-GE" sz="2000" dirty="0">
                <a:latin typeface="Calibri" panose="020F0502020204030204" pitchFamily="34" charset="0"/>
                <a:cs typeface="Calibri" panose="020F0502020204030204" pitchFamily="34" charset="0"/>
              </a:rPr>
              <a:t>: ზოგჯერ გვჭირდება კონკრეტული ჟურნალების გამოყენება, რაც შესაძლებელია ძებნის დასაზუსტებლად.</a:t>
            </a:r>
            <a:endParaRPr lang="en-US" sz="2000"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r>
              <a:rPr lang="ka-GE" sz="2000" b="1" dirty="0">
                <a:latin typeface="Calibri" panose="020F0502020204030204" pitchFamily="34" charset="0"/>
                <a:cs typeface="Calibri" panose="020F0502020204030204" pitchFamily="34" charset="0"/>
              </a:rPr>
              <a:t>მაგალითი:</a:t>
            </a:r>
            <a:r>
              <a:rPr lang="ka-GE" sz="2000" dirty="0">
                <a:latin typeface="Calibri" panose="020F0502020204030204" pitchFamily="34" charset="0"/>
                <a:cs typeface="Calibri" panose="020F0502020204030204" pitchFamily="34" charset="0"/>
              </a:rPr>
              <a:t> თუ სტუდენტი მუშაობს თანამედროვე ეკოლოგიურ გამოწვევებზე, მან უნდა გამოიყენოს 2018 წლიდან გამოქვეყნებული სტატიები, რაც მისცემს ახალ ინფორმაციას.</a:t>
            </a:r>
          </a:p>
        </p:txBody>
      </p:sp>
      <p:sp>
        <p:nvSpPr>
          <p:cNvPr id="6" name="Title 1">
            <a:extLst>
              <a:ext uri="{FF2B5EF4-FFF2-40B4-BE49-F238E27FC236}">
                <a16:creationId xmlns:a16="http://schemas.microsoft.com/office/drawing/2014/main" id="{14BC6940-2410-561D-67AF-DDE77A425F0D}"/>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sz="2700" b="1" dirty="0">
                <a:solidFill>
                  <a:schemeClr val="bg1"/>
                </a:solidFill>
                <a:latin typeface="Calibri" panose="020F0502020204030204" pitchFamily="34" charset="0"/>
                <a:cs typeface="Calibri" panose="020F0502020204030204" pitchFamily="34" charset="0"/>
              </a:rPr>
              <a:t>მეცნიერების ჟურნალების და სტატიების (ლიტერატურის) ონლაინ მოძიების პროცესი</a:t>
            </a:r>
            <a:endParaRPr lang="en-US" altLang="en-US" sz="2700" b="1"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7322997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16753EE6-E08A-477D-AB9C-1593FB42B023}"/>
              </a:ext>
            </a:extLst>
          </p:cNvPr>
          <p:cNvSpPr txBox="1"/>
          <p:nvPr/>
        </p:nvSpPr>
        <p:spPr>
          <a:xfrm>
            <a:off x="417249" y="568171"/>
            <a:ext cx="11549849" cy="2862322"/>
          </a:xfrm>
          <a:prstGeom prst="rect">
            <a:avLst/>
          </a:prstGeom>
          <a:noFill/>
        </p:spPr>
        <p:txBody>
          <a:bodyPr wrap="square">
            <a:spAutoFit/>
          </a:bodyPr>
          <a:lstStyle/>
          <a:p>
            <a:r>
              <a:rPr lang="ka-GE" sz="2000" b="1" dirty="0">
                <a:latin typeface="Calibri" panose="020F0502020204030204" pitchFamily="34" charset="0"/>
                <a:cs typeface="Calibri" panose="020F0502020204030204" pitchFamily="34" charset="0"/>
              </a:rPr>
              <a:t>4. შედეგების შეფასება და </a:t>
            </a:r>
            <a:r>
              <a:rPr lang="ka-GE" sz="2000" b="1" dirty="0" err="1">
                <a:latin typeface="Calibri" panose="020F0502020204030204" pitchFamily="34" charset="0"/>
                <a:cs typeface="Calibri" panose="020F0502020204030204" pitchFamily="34" charset="0"/>
              </a:rPr>
              <a:t>ფოკუსირება</a:t>
            </a:r>
            <a:endParaRPr lang="ka-GE" sz="2000" b="1" dirty="0">
              <a:latin typeface="Calibri" panose="020F0502020204030204" pitchFamily="34" charset="0"/>
              <a:cs typeface="Calibri" panose="020F0502020204030204" pitchFamily="34" charset="0"/>
            </a:endParaRPr>
          </a:p>
          <a:p>
            <a:r>
              <a:rPr lang="ka-GE" sz="2000" dirty="0">
                <a:latin typeface="Calibri" panose="020F0502020204030204" pitchFamily="34" charset="0"/>
                <a:cs typeface="Calibri" panose="020F0502020204030204" pitchFamily="34" charset="0"/>
              </a:rPr>
              <a:t>მას შემდეგ, რაც შედეგები გვექნება, აუცილებელია მათი გადახედვა და შეფასება. უნდა გვახსოვდეს, რომ მნიშვნელოვანია:</a:t>
            </a:r>
            <a:endParaRPr lang="en-US" sz="2000" dirty="0">
              <a:latin typeface="Calibri" panose="020F0502020204030204" pitchFamily="34" charset="0"/>
              <a:cs typeface="Calibri" panose="020F0502020204030204" pitchFamily="34" charset="0"/>
            </a:endParaRPr>
          </a:p>
          <a:p>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a:t>
            </a:r>
            <a:r>
              <a:rPr lang="ka-GE" sz="2000" b="1" dirty="0" err="1">
                <a:latin typeface="Calibri" panose="020F0502020204030204" pitchFamily="34" charset="0"/>
                <a:cs typeface="Calibri" panose="020F0502020204030204" pitchFamily="34" charset="0"/>
              </a:rPr>
              <a:t>აბსტრაქტის</a:t>
            </a:r>
            <a:r>
              <a:rPr lang="ka-GE" sz="2000" b="1" dirty="0">
                <a:latin typeface="Calibri" panose="020F0502020204030204" pitchFamily="34" charset="0"/>
                <a:cs typeface="Calibri" panose="020F0502020204030204" pitchFamily="34" charset="0"/>
              </a:rPr>
              <a:t> კითხვა</a:t>
            </a:r>
            <a:r>
              <a:rPr lang="ka-GE" sz="2000" dirty="0">
                <a:latin typeface="Calibri" panose="020F0502020204030204" pitchFamily="34" charset="0"/>
                <a:cs typeface="Calibri" panose="020F0502020204030204" pitchFamily="34" charset="0"/>
              </a:rPr>
              <a:t>: ეს დაგვეხმარება სწრაფად </a:t>
            </a:r>
            <a:r>
              <a:rPr lang="ka-GE" sz="2000" dirty="0" err="1">
                <a:latin typeface="Calibri" panose="020F0502020204030204" pitchFamily="34" charset="0"/>
                <a:cs typeface="Calibri" panose="020F0502020204030204" pitchFamily="34" charset="0"/>
              </a:rPr>
              <a:t>გაავარკვიოთ</a:t>
            </a:r>
            <a:r>
              <a:rPr lang="ka-GE" sz="2000" dirty="0">
                <a:latin typeface="Calibri" panose="020F0502020204030204" pitchFamily="34" charset="0"/>
                <a:cs typeface="Calibri" panose="020F0502020204030204" pitchFamily="34" charset="0"/>
              </a:rPr>
              <a:t>, რამდენად შესაფერისია სტატია ჩვენი კვლევისთვის.</a:t>
            </a:r>
            <a:endParaRPr lang="en-US" sz="2000" dirty="0">
              <a:latin typeface="Calibri" panose="020F0502020204030204" pitchFamily="34" charset="0"/>
              <a:cs typeface="Calibri" panose="020F0502020204030204" pitchFamily="34" charset="0"/>
            </a:endParaRPr>
          </a:p>
          <a:p>
            <a:pPr>
              <a:buFont typeface="Arial" panose="020B0604020202020204" pitchFamily="34" charset="0"/>
              <a:buChar char="•"/>
            </a:pPr>
            <a:endParaRPr lang="ka-GE" sz="2000"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sz="2000" b="1" dirty="0">
                <a:latin typeface="Calibri" panose="020F0502020204030204" pitchFamily="34" charset="0"/>
                <a:cs typeface="Calibri" panose="020F0502020204030204" pitchFamily="34" charset="0"/>
              </a:rPr>
              <a:t> საყრდენი ციტატების გადახედვა</a:t>
            </a:r>
            <a:r>
              <a:rPr lang="ka-GE" sz="2000" dirty="0">
                <a:latin typeface="Calibri" panose="020F0502020204030204" pitchFamily="34" charset="0"/>
                <a:cs typeface="Calibri" panose="020F0502020204030204" pitchFamily="34" charset="0"/>
              </a:rPr>
              <a:t>: ხანდახან შეიძლება საინტერესო იყოს ციტატების ძებნა სტატიის ავტორების ნამუშევრებში.</a:t>
            </a:r>
          </a:p>
        </p:txBody>
      </p:sp>
      <p:sp>
        <p:nvSpPr>
          <p:cNvPr id="6" name="Title 1">
            <a:extLst>
              <a:ext uri="{FF2B5EF4-FFF2-40B4-BE49-F238E27FC236}">
                <a16:creationId xmlns:a16="http://schemas.microsoft.com/office/drawing/2014/main" id="{C9F3A048-3807-70AF-59D5-47630DFFBA8B}"/>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825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sz="2700" b="1" dirty="0">
                <a:solidFill>
                  <a:schemeClr val="bg1"/>
                </a:solidFill>
                <a:latin typeface="Calibri" panose="020F0502020204030204" pitchFamily="34" charset="0"/>
                <a:cs typeface="Calibri" panose="020F0502020204030204" pitchFamily="34" charset="0"/>
              </a:rPr>
              <a:t>მეცნიერების ჟურნალების და სტატიების (ლიტერატურის) ონლაინ მოძიების პროცესი</a:t>
            </a:r>
            <a:endParaRPr lang="en-US" altLang="en-US" sz="2700" b="1" dirty="0">
              <a:solidFill>
                <a:schemeClr val="bg1"/>
              </a:solidFill>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AC1056F6-ECE6-74C3-7352-37E8EEC62C37}"/>
              </a:ext>
            </a:extLst>
          </p:cNvPr>
          <p:cNvSpPr txBox="1"/>
          <p:nvPr/>
        </p:nvSpPr>
        <p:spPr>
          <a:xfrm>
            <a:off x="417249" y="3798683"/>
            <a:ext cx="11774751" cy="2246769"/>
          </a:xfrm>
          <a:prstGeom prst="rect">
            <a:avLst/>
          </a:prstGeom>
          <a:noFill/>
        </p:spPr>
        <p:txBody>
          <a:bodyPr wrap="square">
            <a:spAutoFit/>
          </a:bodyPr>
          <a:lstStyle/>
          <a:p>
            <a:r>
              <a:rPr lang="ka-GE" sz="2000" b="1" dirty="0">
                <a:latin typeface="Calibri" panose="020F0502020204030204" pitchFamily="34" charset="0"/>
                <a:cs typeface="Calibri" panose="020F0502020204030204" pitchFamily="34" charset="0"/>
              </a:rPr>
              <a:t>5. სტატიების ციტირება და წყაროების მართვა</a:t>
            </a:r>
          </a:p>
          <a:p>
            <a:r>
              <a:rPr lang="ka-GE" sz="2000" dirty="0">
                <a:latin typeface="Calibri" panose="020F0502020204030204" pitchFamily="34" charset="0"/>
                <a:cs typeface="Calibri" panose="020F0502020204030204" pitchFamily="34" charset="0"/>
              </a:rPr>
              <a:t>ასევე უნდა გავითვალისწინოთ, რომ თუ გვინდა საკუთარი ნაშრომებიდან ციტირება, უნდა გამოვიყენოთ ციტირების ხელსაწყოები (მაგალითად, </a:t>
            </a:r>
            <a:r>
              <a:rPr lang="en-US" sz="2000" dirty="0">
                <a:latin typeface="Calibri" panose="020F0502020204030204" pitchFamily="34" charset="0"/>
                <a:cs typeface="Calibri" panose="020F0502020204030204" pitchFamily="34" charset="0"/>
              </a:rPr>
              <a:t>Zotero, Mendeley) </a:t>
            </a:r>
            <a:r>
              <a:rPr lang="ka-GE" sz="2000" dirty="0">
                <a:latin typeface="Calibri" panose="020F0502020204030204" pitchFamily="34" charset="0"/>
                <a:cs typeface="Calibri" panose="020F0502020204030204" pitchFamily="34" charset="0"/>
              </a:rPr>
              <a:t>და დავალაგოთ ჩვენივე წყაროები.</a:t>
            </a:r>
            <a:endParaRPr lang="en-US" sz="2000" dirty="0">
              <a:latin typeface="Calibri" panose="020F0502020204030204" pitchFamily="34" charset="0"/>
              <a:cs typeface="Calibri" panose="020F0502020204030204" pitchFamily="34" charset="0"/>
            </a:endParaRPr>
          </a:p>
          <a:p>
            <a:endParaRPr lang="ka-GE" sz="2000" dirty="0">
              <a:latin typeface="Calibri" panose="020F0502020204030204" pitchFamily="34" charset="0"/>
              <a:cs typeface="Calibri" panose="020F0502020204030204" pitchFamily="34" charset="0"/>
            </a:endParaRPr>
          </a:p>
          <a:p>
            <a:r>
              <a:rPr lang="ka-GE" sz="2000" dirty="0">
                <a:latin typeface="Calibri" panose="020F0502020204030204" pitchFamily="34" charset="0"/>
                <a:cs typeface="Calibri" panose="020F0502020204030204" pitchFamily="34" charset="0"/>
              </a:rPr>
              <a:t>ეს პროცესი მათ საშუალებას მისცემს სწრაფად და ეფექტურად მოვძებნოთ საჭირო სამეცნიერო მასალა, განვსაზღვროთ სწორი პარამეტრები და მოვახდინოთ შედეგების ანალიზი.</a:t>
            </a:r>
          </a:p>
        </p:txBody>
      </p:sp>
    </p:spTree>
    <p:extLst>
      <p:ext uri="{BB962C8B-B14F-4D97-AF65-F5344CB8AC3E}">
        <p14:creationId xmlns:p14="http://schemas.microsoft.com/office/powerpoint/2010/main" val="286768405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8" name="Picture 27">
            <a:extLst>
              <a:ext uri="{FF2B5EF4-FFF2-40B4-BE49-F238E27FC236}">
                <a16:creationId xmlns:a16="http://schemas.microsoft.com/office/drawing/2014/main" id="{C7BF6785-390B-257B-99D5-2234ABEFDBAC}"/>
              </a:ext>
            </a:extLst>
          </p:cNvPr>
          <p:cNvPicPr>
            <a:picLocks noChangeAspect="1"/>
          </p:cNvPicPr>
          <p:nvPr/>
        </p:nvPicPr>
        <p:blipFill>
          <a:blip r:embed="rId2"/>
          <a:stretch>
            <a:fillRect/>
          </a:stretch>
        </p:blipFill>
        <p:spPr>
          <a:xfrm>
            <a:off x="332358" y="703629"/>
            <a:ext cx="3899332" cy="1752445"/>
          </a:xfrm>
          <a:prstGeom prst="rect">
            <a:avLst/>
          </a:prstGeom>
        </p:spPr>
      </p:pic>
      <p:sp>
        <p:nvSpPr>
          <p:cNvPr id="34" name="TextBox 33">
            <a:extLst>
              <a:ext uri="{FF2B5EF4-FFF2-40B4-BE49-F238E27FC236}">
                <a16:creationId xmlns:a16="http://schemas.microsoft.com/office/drawing/2014/main" id="{D63EA0E0-FCBA-5E49-9D82-C1E5A89312B4}"/>
              </a:ext>
            </a:extLst>
          </p:cNvPr>
          <p:cNvSpPr txBox="1"/>
          <p:nvPr/>
        </p:nvSpPr>
        <p:spPr>
          <a:xfrm>
            <a:off x="6566517" y="2414726"/>
            <a:ext cx="2299316" cy="369332"/>
          </a:xfrm>
          <a:prstGeom prst="rect">
            <a:avLst/>
          </a:prstGeom>
          <a:noFill/>
        </p:spPr>
        <p:txBody>
          <a:bodyPr wrap="square" rtlCol="0">
            <a:spAutoFit/>
          </a:bodyPr>
          <a:lstStyle/>
          <a:p>
            <a:endParaRPr lang="en-US" dirty="0"/>
          </a:p>
        </p:txBody>
      </p:sp>
      <p:sp>
        <p:nvSpPr>
          <p:cNvPr id="37" name="TextBox 36">
            <a:extLst>
              <a:ext uri="{FF2B5EF4-FFF2-40B4-BE49-F238E27FC236}">
                <a16:creationId xmlns:a16="http://schemas.microsoft.com/office/drawing/2014/main" id="{928BEF66-1D6B-E807-C12F-31492D9C6335}"/>
              </a:ext>
            </a:extLst>
          </p:cNvPr>
          <p:cNvSpPr txBox="1"/>
          <p:nvPr/>
        </p:nvSpPr>
        <p:spPr>
          <a:xfrm>
            <a:off x="4577920" y="845066"/>
            <a:ext cx="7371424" cy="1200329"/>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აღწერა:</a:t>
            </a:r>
            <a:r>
              <a:rPr lang="ka-GE" dirty="0">
                <a:latin typeface="Calibri" panose="020F0502020204030204" pitchFamily="34" charset="0"/>
                <a:cs typeface="Calibri" panose="020F0502020204030204" pitchFamily="34" charset="0"/>
              </a:rPr>
              <a:t> ერთ-ერთი ყველაზე პოპულარული აკადემიური საძიებო სისტემა. იგი საშუალებას გაძლევთ მოძებნოთ სამეცნიერო სტატიები, ნაშრომები, თეზისები, წიგნები და კონფერენციების მასალები სხვადასხვა დისციპლინაში.</a:t>
            </a:r>
            <a:endParaRPr lang="en-US" dirty="0">
              <a:latin typeface="Calibri" panose="020F0502020204030204" pitchFamily="34" charset="0"/>
              <a:cs typeface="Calibri" panose="020F0502020204030204" pitchFamily="34" charset="0"/>
            </a:endParaRPr>
          </a:p>
        </p:txBody>
      </p:sp>
      <p:sp>
        <p:nvSpPr>
          <p:cNvPr id="39" name="TextBox 38">
            <a:extLst>
              <a:ext uri="{FF2B5EF4-FFF2-40B4-BE49-F238E27FC236}">
                <a16:creationId xmlns:a16="http://schemas.microsoft.com/office/drawing/2014/main" id="{B76E89B4-C577-E3FF-3145-499513C0AD95}"/>
              </a:ext>
            </a:extLst>
          </p:cNvPr>
          <p:cNvSpPr txBox="1"/>
          <p:nvPr/>
        </p:nvSpPr>
        <p:spPr>
          <a:xfrm>
            <a:off x="4577920" y="2224673"/>
            <a:ext cx="4572000" cy="923330"/>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წვდომა:</a:t>
            </a:r>
            <a:r>
              <a:rPr lang="ka-GE" dirty="0">
                <a:latin typeface="Calibri" panose="020F0502020204030204" pitchFamily="34" charset="0"/>
                <a:cs typeface="Calibri" panose="020F0502020204030204" pitchFamily="34" charset="0"/>
              </a:rPr>
              <a:t> უფასოა, თუმცა ზოგიერთი ნაშრომი შეიძლება მოითხოვდეს საწევრო წვდომას ან შეძენას.</a:t>
            </a:r>
            <a:endParaRPr lang="en-US" dirty="0">
              <a:latin typeface="Calibri" panose="020F0502020204030204" pitchFamily="34" charset="0"/>
              <a:cs typeface="Calibri" panose="020F0502020204030204" pitchFamily="34" charset="0"/>
            </a:endParaRPr>
          </a:p>
        </p:txBody>
      </p:sp>
      <p:sp>
        <p:nvSpPr>
          <p:cNvPr id="3" name="Title 1">
            <a:extLst>
              <a:ext uri="{FF2B5EF4-FFF2-40B4-BE49-F238E27FC236}">
                <a16:creationId xmlns:a16="http://schemas.microsoft.com/office/drawing/2014/main" id="{5DFB8980-F789-74AD-5DE9-AC127FBE2175}"/>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sz="3600" dirty="0">
                <a:solidFill>
                  <a:schemeClr val="bg1"/>
                </a:solidFill>
                <a:latin typeface="Calibri" panose="020F0502020204030204" pitchFamily="34" charset="0"/>
                <a:cs typeface="Calibri" panose="020F0502020204030204" pitchFamily="34" charset="0"/>
              </a:rPr>
              <a:t>მნიშვნელოვანი ონლაინ ბიბლიოთეკები და მონაცემთა ბაზები:</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A8565D2E-7FC5-35C4-5482-7A9421820DA7}"/>
              </a:ext>
            </a:extLst>
          </p:cNvPr>
          <p:cNvSpPr txBox="1"/>
          <p:nvPr/>
        </p:nvSpPr>
        <p:spPr>
          <a:xfrm>
            <a:off x="632532" y="3511948"/>
            <a:ext cx="10757517" cy="1477328"/>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უპირატესობები</a:t>
            </a:r>
            <a:r>
              <a:rPr lang="ka-GE" dirty="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ციტატებისა და დამოწმების მარტივი სისტემა.</a:t>
            </a:r>
            <a:endParaRPr lang="en-US"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ღრმა საძიებო შესაძლებლობები.</a:t>
            </a:r>
          </a:p>
          <a:p>
            <a:pPr>
              <a:buFont typeface="Arial" panose="020B0604020202020204" pitchFamily="34" charset="0"/>
              <a:buChar char="•"/>
            </a:pP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კავშირი უნივერსიტეტის ბიბლიოთეკებთან და სხვა სამეცნიერო ბაზებთან.</a:t>
            </a:r>
          </a:p>
          <a:p>
            <a:pPr>
              <a:buFont typeface="Arial" panose="020B0604020202020204" pitchFamily="34" charset="0"/>
              <a:buChar char="•"/>
            </a:pP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ციტირების და მსგავსი კვლევების თვალყურის დევნება.</a:t>
            </a:r>
          </a:p>
        </p:txBody>
      </p:sp>
    </p:spTree>
    <p:extLst>
      <p:ext uri="{BB962C8B-B14F-4D97-AF65-F5344CB8AC3E}">
        <p14:creationId xmlns:p14="http://schemas.microsoft.com/office/powerpoint/2010/main" val="353728742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17341-E119-F4F3-E0A5-6B454657154B}"/>
              </a:ext>
            </a:extLst>
          </p:cNvPr>
          <p:cNvSpPr>
            <a:spLocks noGrp="1"/>
          </p:cNvSpPr>
          <p:nvPr>
            <p:ph type="title"/>
          </p:nvPr>
        </p:nvSpPr>
        <p:spPr>
          <a:xfrm>
            <a:off x="2552700" y="294539"/>
            <a:ext cx="7421963" cy="1033669"/>
          </a:xfrm>
        </p:spPr>
        <p:txBody>
          <a:bodyPr>
            <a:noAutofit/>
          </a:bodyPr>
          <a:lstStyle/>
          <a:p>
            <a:r>
              <a:rPr lang="ka-GE" sz="3200" dirty="0">
                <a:solidFill>
                  <a:schemeClr val="bg1"/>
                </a:solidFill>
                <a:latin typeface="Calibri" panose="020F0502020204030204" pitchFamily="34" charset="0"/>
                <a:cs typeface="Calibri" panose="020F0502020204030204" pitchFamily="34" charset="0"/>
              </a:rPr>
              <a:t>მნიშვნელოვანი ონლაინ ბიბლიოთეკები და მონაცემთა ბაზები:</a:t>
            </a:r>
            <a:endParaRPr lang="en-US" sz="3200" dirty="0">
              <a:solidFill>
                <a:schemeClr val="bg1"/>
              </a:solidFill>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D63EA0E0-FCBA-5E49-9D82-C1E5A89312B4}"/>
              </a:ext>
            </a:extLst>
          </p:cNvPr>
          <p:cNvSpPr txBox="1"/>
          <p:nvPr/>
        </p:nvSpPr>
        <p:spPr>
          <a:xfrm>
            <a:off x="6566517" y="2414726"/>
            <a:ext cx="2299316" cy="369332"/>
          </a:xfrm>
          <a:prstGeom prst="rect">
            <a:avLst/>
          </a:prstGeom>
          <a:noFill/>
        </p:spPr>
        <p:txBody>
          <a:bodyPr wrap="square" rtlCol="0">
            <a:spAutoFit/>
          </a:bodyPr>
          <a:lstStyle/>
          <a:p>
            <a:endParaRPr lang="en-US" dirty="0"/>
          </a:p>
        </p:txBody>
      </p:sp>
      <p:sp>
        <p:nvSpPr>
          <p:cNvPr id="37" name="TextBox 36">
            <a:extLst>
              <a:ext uri="{FF2B5EF4-FFF2-40B4-BE49-F238E27FC236}">
                <a16:creationId xmlns:a16="http://schemas.microsoft.com/office/drawing/2014/main" id="{928BEF66-1D6B-E807-C12F-31492D9C6335}"/>
              </a:ext>
            </a:extLst>
          </p:cNvPr>
          <p:cNvSpPr txBox="1"/>
          <p:nvPr/>
        </p:nvSpPr>
        <p:spPr>
          <a:xfrm>
            <a:off x="1905740" y="2258444"/>
            <a:ext cx="8336134" cy="923330"/>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აღწერა:</a:t>
            </a:r>
            <a:r>
              <a:rPr lang="ka-GE"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JSTOR </a:t>
            </a:r>
            <a:r>
              <a:rPr lang="ka-GE" dirty="0">
                <a:latin typeface="Calibri" panose="020F0502020204030204" pitchFamily="34" charset="0"/>
                <a:cs typeface="Calibri" panose="020F0502020204030204" pitchFamily="34" charset="0"/>
              </a:rPr>
              <a:t>არის აკადემიური ჟურნალების, წიგნებისა და კვლევითი მასალის პლატფორმა. იგი მოიცავს მრავალფეროვან დისციპლინებს, განსაკუთრებით სოციალურ მეცნიერებებს, ხელოვნებას, და ჰუმანიტარულ მეცნიერებებს.</a:t>
            </a:r>
            <a:endParaRPr lang="en-US" dirty="0">
              <a:latin typeface="Calibri" panose="020F0502020204030204" pitchFamily="34" charset="0"/>
              <a:cs typeface="Calibri" panose="020F0502020204030204" pitchFamily="34" charset="0"/>
            </a:endParaRPr>
          </a:p>
        </p:txBody>
      </p:sp>
      <p:sp>
        <p:nvSpPr>
          <p:cNvPr id="39" name="TextBox 38">
            <a:extLst>
              <a:ext uri="{FF2B5EF4-FFF2-40B4-BE49-F238E27FC236}">
                <a16:creationId xmlns:a16="http://schemas.microsoft.com/office/drawing/2014/main" id="{B76E89B4-C577-E3FF-3145-499513C0AD95}"/>
              </a:ext>
            </a:extLst>
          </p:cNvPr>
          <p:cNvSpPr txBox="1"/>
          <p:nvPr/>
        </p:nvSpPr>
        <p:spPr>
          <a:xfrm>
            <a:off x="1905740" y="5746387"/>
            <a:ext cx="8336133" cy="646331"/>
          </a:xfrm>
          <a:prstGeom prst="rect">
            <a:avLst/>
          </a:prstGeom>
          <a:noFill/>
        </p:spPr>
        <p:txBody>
          <a:bodyPr wrap="square">
            <a:spAutoFit/>
          </a:bodyPr>
          <a:lstStyle/>
          <a:p>
            <a:r>
              <a:rPr lang="ka-GE" b="1" dirty="0">
                <a:solidFill>
                  <a:schemeClr val="accent6"/>
                </a:solidFill>
                <a:latin typeface="Calibri" panose="020F0502020204030204" pitchFamily="34" charset="0"/>
                <a:cs typeface="Calibri" panose="020F0502020204030204" pitchFamily="34" charset="0"/>
              </a:rPr>
              <a:t>ამ პლატფორმებზე წვდომა</a:t>
            </a:r>
            <a:r>
              <a:rPr lang="ka-GE" dirty="0">
                <a:solidFill>
                  <a:schemeClr val="accent6"/>
                </a:solidFill>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ზოგიერთ მასალაზე უფასოა, თუმცა სრული წვდომა მოითხოვს საწევრო ან ინსტიტუციურ დაშვებას.</a:t>
            </a:r>
            <a:endParaRPr lang="en-US" dirty="0">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C66AEFEA-4757-C34E-DDBB-9ED7B2DA4FD1}"/>
              </a:ext>
            </a:extLst>
          </p:cNvPr>
          <p:cNvPicPr>
            <a:picLocks noChangeAspect="1"/>
          </p:cNvPicPr>
          <p:nvPr/>
        </p:nvPicPr>
        <p:blipFill>
          <a:blip r:embed="rId2"/>
          <a:stretch>
            <a:fillRect/>
          </a:stretch>
        </p:blipFill>
        <p:spPr>
          <a:xfrm>
            <a:off x="1674919" y="260671"/>
            <a:ext cx="8922059" cy="1758777"/>
          </a:xfrm>
          <a:prstGeom prst="rect">
            <a:avLst/>
          </a:prstGeom>
        </p:spPr>
      </p:pic>
      <p:pic>
        <p:nvPicPr>
          <p:cNvPr id="7" name="Picture 6">
            <a:extLst>
              <a:ext uri="{FF2B5EF4-FFF2-40B4-BE49-F238E27FC236}">
                <a16:creationId xmlns:a16="http://schemas.microsoft.com/office/drawing/2014/main" id="{3BF234F5-4732-18FE-88FC-8B0E945EF651}"/>
              </a:ext>
            </a:extLst>
          </p:cNvPr>
          <p:cNvPicPr>
            <a:picLocks noChangeAspect="1"/>
          </p:cNvPicPr>
          <p:nvPr/>
        </p:nvPicPr>
        <p:blipFill>
          <a:blip r:embed="rId3"/>
          <a:stretch>
            <a:fillRect/>
          </a:stretch>
        </p:blipFill>
        <p:spPr>
          <a:xfrm>
            <a:off x="1524000" y="3458775"/>
            <a:ext cx="9144000" cy="1005640"/>
          </a:xfrm>
          <a:prstGeom prst="rect">
            <a:avLst/>
          </a:prstGeom>
        </p:spPr>
      </p:pic>
      <p:sp>
        <p:nvSpPr>
          <p:cNvPr id="11" name="TextBox 10">
            <a:extLst>
              <a:ext uri="{FF2B5EF4-FFF2-40B4-BE49-F238E27FC236}">
                <a16:creationId xmlns:a16="http://schemas.microsoft.com/office/drawing/2014/main" id="{315838B4-8149-03CE-613F-CE7D110786B1}"/>
              </a:ext>
            </a:extLst>
          </p:cNvPr>
          <p:cNvSpPr txBox="1"/>
          <p:nvPr/>
        </p:nvSpPr>
        <p:spPr>
          <a:xfrm>
            <a:off x="1905740" y="4464415"/>
            <a:ext cx="8762260" cy="1231106"/>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აღწერა:</a:t>
            </a:r>
            <a:r>
              <a:rPr lang="ka-GE" dirty="0">
                <a:latin typeface="Calibri" panose="020F0502020204030204" pitchFamily="34" charset="0"/>
                <a:cs typeface="Calibri" panose="020F0502020204030204" pitchFamily="34" charset="0"/>
              </a:rPr>
              <a:t> </a:t>
            </a:r>
            <a:r>
              <a:rPr lang="en-US" sz="2000" b="1" dirty="0">
                <a:solidFill>
                  <a:schemeClr val="accent6"/>
                </a:solidFill>
                <a:latin typeface="Calibri" panose="020F0502020204030204" pitchFamily="34" charset="0"/>
                <a:cs typeface="Calibri" panose="020F0502020204030204" pitchFamily="34" charset="0"/>
              </a:rPr>
              <a:t>ScienceDirect</a:t>
            </a:r>
            <a:r>
              <a:rPr lang="ka-GE" dirty="0">
                <a:latin typeface="Calibri" panose="020F0502020204030204" pitchFamily="34" charset="0"/>
                <a:cs typeface="Calibri" panose="020F0502020204030204" pitchFamily="34" charset="0"/>
              </a:rPr>
              <a:t> არის ერთ-ერთი ყველაზე დიდი პლატფორმა სამეცნიერო კვლევებისთვის. </a:t>
            </a:r>
            <a:r>
              <a:rPr lang="en-US" dirty="0">
                <a:latin typeface="Calibri" panose="020F0502020204030204" pitchFamily="34" charset="0"/>
                <a:cs typeface="Calibri" panose="020F0502020204030204" pitchFamily="34" charset="0"/>
              </a:rPr>
              <a:t>ScienceDirect </a:t>
            </a:r>
            <a:r>
              <a:rPr lang="ka-GE" dirty="0">
                <a:latin typeface="Calibri" panose="020F0502020204030204" pitchFamily="34" charset="0"/>
                <a:cs typeface="Calibri" panose="020F0502020204030204" pitchFamily="34" charset="0"/>
              </a:rPr>
              <a:t>მოიცავს სამეცნიერო სტატიებსა და წიგნებს ისეთი სფეროებიდან, როგორიცაა ინჟინერია, მედიცინა, ფიზიკა, და სოციალური მეცნიერებები.</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203253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6C242E-FF92-4A9A-AAB9-65B5DC4E57EB}"/>
              </a:ext>
            </a:extLst>
          </p:cNvPr>
          <p:cNvPicPr>
            <a:picLocks noChangeAspect="1"/>
          </p:cNvPicPr>
          <p:nvPr/>
        </p:nvPicPr>
        <p:blipFill>
          <a:blip r:embed="rId2"/>
          <a:stretch>
            <a:fillRect/>
          </a:stretch>
        </p:blipFill>
        <p:spPr>
          <a:xfrm>
            <a:off x="1524000" y="0"/>
            <a:ext cx="6569476" cy="1939498"/>
          </a:xfrm>
          <a:prstGeom prst="rect">
            <a:avLst/>
          </a:prstGeom>
        </p:spPr>
      </p:pic>
      <p:sp>
        <p:nvSpPr>
          <p:cNvPr id="7" name="TextBox 6">
            <a:extLst>
              <a:ext uri="{FF2B5EF4-FFF2-40B4-BE49-F238E27FC236}">
                <a16:creationId xmlns:a16="http://schemas.microsoft.com/office/drawing/2014/main" id="{CE2AA337-2D95-BC09-329F-3AC2E28E57CA}"/>
              </a:ext>
            </a:extLst>
          </p:cNvPr>
          <p:cNvSpPr txBox="1"/>
          <p:nvPr/>
        </p:nvSpPr>
        <p:spPr>
          <a:xfrm>
            <a:off x="1654945" y="1939498"/>
            <a:ext cx="8897645" cy="1754326"/>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აღწერა:</a:t>
            </a:r>
            <a:r>
              <a:rPr lang="ka-GE"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PubMed </a:t>
            </a:r>
            <a:r>
              <a:rPr lang="ka-GE" dirty="0">
                <a:latin typeface="Calibri" panose="020F0502020204030204" pitchFamily="34" charset="0"/>
                <a:cs typeface="Calibri" panose="020F0502020204030204" pitchFamily="34" charset="0"/>
              </a:rPr>
              <a:t>არის </a:t>
            </a:r>
            <a:r>
              <a:rPr lang="ka-GE" dirty="0" err="1">
                <a:latin typeface="Calibri" panose="020F0502020204030204" pitchFamily="34" charset="0"/>
                <a:cs typeface="Calibri" panose="020F0502020204030204" pitchFamily="34" charset="0"/>
              </a:rPr>
              <a:t>ბიომედიცინისა</a:t>
            </a:r>
            <a:r>
              <a:rPr lang="ka-GE" dirty="0">
                <a:latin typeface="Calibri" panose="020F0502020204030204" pitchFamily="34" charset="0"/>
                <a:cs typeface="Calibri" panose="020F0502020204030204" pitchFamily="34" charset="0"/>
              </a:rPr>
              <a:t> და ჯანმრთელობის მეცნიერებების სფეროში მონაცემთა ბაზა, რომელიც მოიცავს ათასობით სამედიცინო სტატიას, კვლევას, და რეცენზირებულ ნაშრომს. </a:t>
            </a:r>
          </a:p>
          <a:p>
            <a:r>
              <a:rPr lang="ka-GE" b="1" dirty="0">
                <a:latin typeface="Calibri" panose="020F0502020204030204" pitchFamily="34" charset="0"/>
                <a:cs typeface="Calibri" panose="020F0502020204030204" pitchFamily="34" charset="0"/>
              </a:rPr>
              <a:t>წვდომა:</a:t>
            </a:r>
            <a:r>
              <a:rPr lang="ka-GE" dirty="0">
                <a:latin typeface="Calibri" panose="020F0502020204030204" pitchFamily="34" charset="0"/>
                <a:cs typeface="Calibri" panose="020F0502020204030204" pitchFamily="34" charset="0"/>
              </a:rPr>
              <a:t> ძირითადი წვდომა უფასოა, განსაკუთრებით იმ ნაშრომებზე, რომლებიც ღიადა არის გამოქვეყნებული (</a:t>
            </a:r>
            <a:r>
              <a:rPr lang="en-US" dirty="0">
                <a:latin typeface="Calibri" panose="020F0502020204030204" pitchFamily="34" charset="0"/>
                <a:cs typeface="Calibri" panose="020F0502020204030204" pitchFamily="34" charset="0"/>
              </a:rPr>
              <a:t>open access).</a:t>
            </a:r>
          </a:p>
          <a:p>
            <a:endParaRPr lang="en-US" dirty="0">
              <a:latin typeface="Calibri" panose="020F0502020204030204" pitchFamily="34" charset="0"/>
              <a:cs typeface="Calibri" panose="020F0502020204030204" pitchFamily="34" charset="0"/>
            </a:endParaRPr>
          </a:p>
        </p:txBody>
      </p:sp>
      <p:pic>
        <p:nvPicPr>
          <p:cNvPr id="11" name="Picture 10">
            <a:extLst>
              <a:ext uri="{FF2B5EF4-FFF2-40B4-BE49-F238E27FC236}">
                <a16:creationId xmlns:a16="http://schemas.microsoft.com/office/drawing/2014/main" id="{1ACB8CD6-3BEC-F9F4-3A6E-FC5BBEC5DBC7}"/>
              </a:ext>
            </a:extLst>
          </p:cNvPr>
          <p:cNvPicPr>
            <a:picLocks noChangeAspect="1"/>
          </p:cNvPicPr>
          <p:nvPr/>
        </p:nvPicPr>
        <p:blipFill>
          <a:blip r:embed="rId3"/>
          <a:stretch>
            <a:fillRect/>
          </a:stretch>
        </p:blipFill>
        <p:spPr>
          <a:xfrm>
            <a:off x="1524000" y="3964827"/>
            <a:ext cx="9144000" cy="1071654"/>
          </a:xfrm>
          <a:prstGeom prst="rect">
            <a:avLst/>
          </a:prstGeom>
        </p:spPr>
      </p:pic>
      <p:sp>
        <p:nvSpPr>
          <p:cNvPr id="13" name="TextBox 12">
            <a:extLst>
              <a:ext uri="{FF2B5EF4-FFF2-40B4-BE49-F238E27FC236}">
                <a16:creationId xmlns:a16="http://schemas.microsoft.com/office/drawing/2014/main" id="{E58BF9B5-2302-374D-F288-1E6FD3832E3F}"/>
              </a:ext>
            </a:extLst>
          </p:cNvPr>
          <p:cNvSpPr txBox="1"/>
          <p:nvPr/>
        </p:nvSpPr>
        <p:spPr>
          <a:xfrm>
            <a:off x="1654946" y="5125258"/>
            <a:ext cx="8660167" cy="646331"/>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აღწერა:</a:t>
            </a:r>
            <a:r>
              <a:rPr lang="ka-GE" dirty="0">
                <a:latin typeface="Calibri" panose="020F0502020204030204" pitchFamily="34" charset="0"/>
                <a:cs typeface="Calibri" panose="020F0502020204030204" pitchFamily="34" charset="0"/>
              </a:rPr>
              <a:t> აკადემიური სტატიებისა და წიგნების დიდი კოლექცია, რომელიც ფოკუსირებულია ჰუმანიტარულ და სოციალურ მეცნიერებებზე.</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6023072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DF10D45D-1E18-BEFF-389E-EA88A1F72FC2}"/>
              </a:ext>
            </a:extLst>
          </p:cNvPr>
          <p:cNvPicPr>
            <a:picLocks noChangeAspect="1"/>
          </p:cNvPicPr>
          <p:nvPr/>
        </p:nvPicPr>
        <p:blipFill>
          <a:blip r:embed="rId2"/>
          <a:stretch>
            <a:fillRect/>
          </a:stretch>
        </p:blipFill>
        <p:spPr>
          <a:xfrm>
            <a:off x="1651662" y="124656"/>
            <a:ext cx="4444338" cy="1806117"/>
          </a:xfrm>
          <a:prstGeom prst="rect">
            <a:avLst/>
          </a:prstGeom>
        </p:spPr>
      </p:pic>
      <p:sp>
        <p:nvSpPr>
          <p:cNvPr id="7" name="TextBox 6">
            <a:extLst>
              <a:ext uri="{FF2B5EF4-FFF2-40B4-BE49-F238E27FC236}">
                <a16:creationId xmlns:a16="http://schemas.microsoft.com/office/drawing/2014/main" id="{A6E769A0-8702-0F97-C500-82FF9BF30C36}"/>
              </a:ext>
            </a:extLst>
          </p:cNvPr>
          <p:cNvSpPr txBox="1"/>
          <p:nvPr/>
        </p:nvSpPr>
        <p:spPr>
          <a:xfrm>
            <a:off x="6096000" y="427550"/>
            <a:ext cx="4572000" cy="1754326"/>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აღწერა:</a:t>
            </a:r>
            <a:r>
              <a:rPr lang="ka-GE" dirty="0">
                <a:latin typeface="Calibri" panose="020F0502020204030204" pitchFamily="34" charset="0"/>
                <a:cs typeface="Calibri" panose="020F0502020204030204" pitchFamily="34" charset="0"/>
              </a:rPr>
              <a:t> განათლების კვლევის მონაცემთა ბაზა, რომელიც შეიცავს ათასობით სტატია, კვლევა და სწავლების მეთოდოლოგიის მასალა. </a:t>
            </a:r>
          </a:p>
          <a:p>
            <a:r>
              <a:rPr lang="ka-GE" b="1" dirty="0">
                <a:latin typeface="Calibri" panose="020F0502020204030204" pitchFamily="34" charset="0"/>
                <a:cs typeface="Calibri" panose="020F0502020204030204" pitchFamily="34" charset="0"/>
              </a:rPr>
              <a:t>წვდომა:</a:t>
            </a:r>
            <a:r>
              <a:rPr lang="ka-GE" dirty="0">
                <a:latin typeface="Calibri" panose="020F0502020204030204" pitchFamily="34" charset="0"/>
                <a:cs typeface="Calibri" panose="020F0502020204030204" pitchFamily="34" charset="0"/>
              </a:rPr>
              <a:t> უფასო წვდომა და მრავალფეროვანი რესურსების არჩევანი.</a:t>
            </a:r>
            <a:endParaRPr lang="en-US" dirty="0">
              <a:latin typeface="Calibri" panose="020F0502020204030204" pitchFamily="34" charset="0"/>
              <a:cs typeface="Calibri" panose="020F0502020204030204" pitchFamily="34" charset="0"/>
            </a:endParaRPr>
          </a:p>
        </p:txBody>
      </p:sp>
      <p:pic>
        <p:nvPicPr>
          <p:cNvPr id="9" name="Picture 8">
            <a:extLst>
              <a:ext uri="{FF2B5EF4-FFF2-40B4-BE49-F238E27FC236}">
                <a16:creationId xmlns:a16="http://schemas.microsoft.com/office/drawing/2014/main" id="{176C23A9-573A-5FA5-3BA4-C67025DB0D96}"/>
              </a:ext>
            </a:extLst>
          </p:cNvPr>
          <p:cNvPicPr>
            <a:picLocks noChangeAspect="1"/>
          </p:cNvPicPr>
          <p:nvPr/>
        </p:nvPicPr>
        <p:blipFill>
          <a:blip r:embed="rId3"/>
          <a:stretch>
            <a:fillRect/>
          </a:stretch>
        </p:blipFill>
        <p:spPr>
          <a:xfrm>
            <a:off x="1889233" y="2339344"/>
            <a:ext cx="8715375" cy="971550"/>
          </a:xfrm>
          <a:prstGeom prst="rect">
            <a:avLst/>
          </a:prstGeom>
        </p:spPr>
      </p:pic>
      <p:sp>
        <p:nvSpPr>
          <p:cNvPr id="11" name="TextBox 10">
            <a:extLst>
              <a:ext uri="{FF2B5EF4-FFF2-40B4-BE49-F238E27FC236}">
                <a16:creationId xmlns:a16="http://schemas.microsoft.com/office/drawing/2014/main" id="{CAFB3111-EAAD-81B6-2B11-661328987811}"/>
              </a:ext>
            </a:extLst>
          </p:cNvPr>
          <p:cNvSpPr txBox="1"/>
          <p:nvPr/>
        </p:nvSpPr>
        <p:spPr>
          <a:xfrm>
            <a:off x="1587394" y="3310895"/>
            <a:ext cx="8949383" cy="1200329"/>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აღწერა:</a:t>
            </a:r>
            <a:r>
              <a:rPr lang="ka-GE" dirty="0">
                <a:latin typeface="Calibri" panose="020F0502020204030204" pitchFamily="34" charset="0"/>
                <a:cs typeface="Calibri" panose="020F0502020204030204" pitchFamily="34" charset="0"/>
              </a:rPr>
              <a:t> ეს არის მონაცემთა ბაზა, რომელიც მოიცავს მაღალი ხარისხის ჯანმრთელობის კვლევების მონაცემებსა და სისტემატურ მიმოხილვებს. იგი გამოიყენება სამედიცინო და ჯანდაცვის სფეროში გადაწყვეტილებების მიღებისთვის. </a:t>
            </a:r>
            <a:r>
              <a:rPr lang="ka-GE" b="1" dirty="0">
                <a:latin typeface="Calibri" panose="020F0502020204030204" pitchFamily="34" charset="0"/>
                <a:cs typeface="Calibri" panose="020F0502020204030204" pitchFamily="34" charset="0"/>
              </a:rPr>
              <a:t>წვდომა:</a:t>
            </a:r>
            <a:r>
              <a:rPr lang="ka-GE" dirty="0">
                <a:latin typeface="Calibri" panose="020F0502020204030204" pitchFamily="34" charset="0"/>
                <a:cs typeface="Calibri" panose="020F0502020204030204" pitchFamily="34" charset="0"/>
              </a:rPr>
              <a:t> ზოგიერთი მასალა უფასოა, თუმცა სრული წვდომა მოითხოვს გამოწერას.</a:t>
            </a:r>
            <a:endParaRPr lang="en-US" dirty="0">
              <a:latin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AEC7EA4B-74DB-AFAF-C4BF-986F56CCAA20}"/>
              </a:ext>
            </a:extLst>
          </p:cNvPr>
          <p:cNvPicPr>
            <a:picLocks noChangeAspect="1"/>
          </p:cNvPicPr>
          <p:nvPr/>
        </p:nvPicPr>
        <p:blipFill>
          <a:blip r:embed="rId4"/>
          <a:stretch>
            <a:fillRect/>
          </a:stretch>
        </p:blipFill>
        <p:spPr>
          <a:xfrm>
            <a:off x="1587394" y="4534488"/>
            <a:ext cx="9144000" cy="1007533"/>
          </a:xfrm>
          <a:prstGeom prst="rect">
            <a:avLst/>
          </a:prstGeom>
        </p:spPr>
      </p:pic>
      <p:sp>
        <p:nvSpPr>
          <p:cNvPr id="15" name="TextBox 14">
            <a:extLst>
              <a:ext uri="{FF2B5EF4-FFF2-40B4-BE49-F238E27FC236}">
                <a16:creationId xmlns:a16="http://schemas.microsoft.com/office/drawing/2014/main" id="{C6CC6AB2-FDAA-9B6C-A200-3B8211658791}"/>
              </a:ext>
            </a:extLst>
          </p:cNvPr>
          <p:cNvSpPr txBox="1"/>
          <p:nvPr/>
        </p:nvSpPr>
        <p:spPr>
          <a:xfrm>
            <a:off x="1490085" y="5509317"/>
            <a:ext cx="9143999" cy="923330"/>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აღწერა:</a:t>
            </a:r>
            <a:r>
              <a:rPr lang="ka-GE"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Open Library </a:t>
            </a:r>
            <a:r>
              <a:rPr lang="ka-GE" dirty="0">
                <a:latin typeface="Calibri" panose="020F0502020204030204" pitchFamily="34" charset="0"/>
                <a:cs typeface="Calibri" panose="020F0502020204030204" pitchFamily="34" charset="0"/>
              </a:rPr>
              <a:t>არის ღია ონლაინ ბიბლიოთეკა, რომელიც მოიცავს მილიონობით წიგნის ელექტრონულ ვერსიებს. მისი მიზანია „ყოველი წიგნი იყოს ხელმისაწვდომი ყველასთვის“. </a:t>
            </a:r>
            <a:r>
              <a:rPr lang="ka-GE" b="1" dirty="0">
                <a:latin typeface="Calibri" panose="020F0502020204030204" pitchFamily="34" charset="0"/>
                <a:cs typeface="Calibri" panose="020F0502020204030204" pitchFamily="34" charset="0"/>
              </a:rPr>
              <a:t>წვდომა:</a:t>
            </a:r>
            <a:r>
              <a:rPr lang="ka-GE" dirty="0">
                <a:latin typeface="Calibri" panose="020F0502020204030204" pitchFamily="34" charset="0"/>
                <a:cs typeface="Calibri" panose="020F0502020204030204" pitchFamily="34" charset="0"/>
              </a:rPr>
              <a:t> უფასო წვდომა მრავალ ელექტრონულ წიგნზე.</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78998668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5085F4-17BC-C892-D5D1-64908BC90104}"/>
              </a:ext>
            </a:extLst>
          </p:cNvPr>
          <p:cNvSpPr>
            <a:spLocks noGrp="1"/>
          </p:cNvSpPr>
          <p:nvPr>
            <p:ph type="title"/>
          </p:nvPr>
        </p:nvSpPr>
        <p:spPr>
          <a:xfrm>
            <a:off x="2552697" y="348866"/>
            <a:ext cx="7533018" cy="877729"/>
          </a:xfrm>
        </p:spPr>
        <p:txBody>
          <a:bodyPr anchor="ctr">
            <a:normAutofit/>
          </a:bodyPr>
          <a:lstStyle/>
          <a:p>
            <a:pPr>
              <a:lnSpc>
                <a:spcPct val="90000"/>
              </a:lnSpc>
            </a:pPr>
            <a:r>
              <a:rPr lang="ka-GE" sz="3600" dirty="0">
                <a:solidFill>
                  <a:schemeClr val="bg1"/>
                </a:solidFill>
                <a:latin typeface="Calibri" panose="020F0502020204030204" pitchFamily="34" charset="0"/>
                <a:cs typeface="Calibri" panose="020F0502020204030204" pitchFamily="34" charset="0"/>
              </a:rPr>
              <a:t>ინსტიტუციური ბიბლიოთეკები:</a:t>
            </a:r>
            <a:endParaRPr lang="en-US" sz="3600" dirty="0">
              <a:solidFill>
                <a:schemeClr val="bg1"/>
              </a:solidFill>
              <a:latin typeface="Calibri" panose="020F0502020204030204" pitchFamily="34" charset="0"/>
              <a:cs typeface="Calibri" panose="020F0502020204030204" pitchFamily="34" charset="0"/>
            </a:endParaRPr>
          </a:p>
        </p:txBody>
      </p:sp>
      <p:sp>
        <p:nvSpPr>
          <p:cNvPr id="4" name="Content Placeholder 3">
            <a:extLst>
              <a:ext uri="{FF2B5EF4-FFF2-40B4-BE49-F238E27FC236}">
                <a16:creationId xmlns:a16="http://schemas.microsoft.com/office/drawing/2014/main" id="{63F49B3E-5957-CA0E-BB68-D9619DE86C1C}"/>
              </a:ext>
            </a:extLst>
          </p:cNvPr>
          <p:cNvSpPr>
            <a:spLocks noGrp="1"/>
          </p:cNvSpPr>
          <p:nvPr>
            <p:ph idx="1"/>
          </p:nvPr>
        </p:nvSpPr>
        <p:spPr/>
        <p:txBody>
          <a:bodyPr/>
          <a:lstStyle/>
          <a:p>
            <a:r>
              <a:rPr lang="ka-GE" dirty="0">
                <a:latin typeface="Calibri" panose="020F0502020204030204" pitchFamily="34" charset="0"/>
                <a:cs typeface="Calibri" panose="020F0502020204030204" pitchFamily="34" charset="0"/>
              </a:rPr>
              <a:t>უნივერსიტეტები და კვლევითი ცენტრები ხშირად სთავაზობენ თავიანთ სტუდენტებს და მკვლევრებს წვდომას სხვადასხვა აკადემიურ მონაცემთა ბაზებზე და ბიბლიოთეკებზე, როგორიცაა </a:t>
            </a:r>
            <a:r>
              <a:rPr lang="en-US" dirty="0">
                <a:latin typeface="Calibri" panose="020F0502020204030204" pitchFamily="34" charset="0"/>
                <a:cs typeface="Calibri" panose="020F0502020204030204" pitchFamily="34" charset="0"/>
              </a:rPr>
              <a:t>ProQuest, IEEE Xplore, SpringerLink, </a:t>
            </a:r>
            <a:r>
              <a:rPr lang="ka-GE" dirty="0">
                <a:latin typeface="Calibri" panose="020F0502020204030204" pitchFamily="34" charset="0"/>
                <a:cs typeface="Calibri" panose="020F0502020204030204" pitchFamily="34" charset="0"/>
              </a:rPr>
              <a:t>და სხვები.</a:t>
            </a:r>
            <a:endParaRPr lang="en-US" dirty="0">
              <a:latin typeface="Calibri" panose="020F0502020204030204" pitchFamily="34" charset="0"/>
              <a:cs typeface="Calibri" panose="020F0502020204030204" pitchFamily="34" charset="0"/>
            </a:endParaRPr>
          </a:p>
        </p:txBody>
      </p:sp>
      <p:sp>
        <p:nvSpPr>
          <p:cNvPr id="3" name="Title 1">
            <a:extLst>
              <a:ext uri="{FF2B5EF4-FFF2-40B4-BE49-F238E27FC236}">
                <a16:creationId xmlns:a16="http://schemas.microsoft.com/office/drawing/2014/main" id="{7B463BC8-6153-0E17-C168-6E456BD17E0D}"/>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altLang="en-US" sz="3600" dirty="0">
                <a:solidFill>
                  <a:schemeClr val="bg1"/>
                </a:solidFill>
                <a:latin typeface="Calibri" panose="020F0502020204030204" pitchFamily="34" charset="0"/>
                <a:cs typeface="Calibri" panose="020F0502020204030204" pitchFamily="34" charset="0"/>
              </a:rPr>
              <a:t>საუნივერსიტეტო რესურსი</a:t>
            </a:r>
            <a:endParaRPr lang="en-US" altLang="en-US" sz="36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58785134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ontent Placeholder 3">
            <a:extLst>
              <a:ext uri="{FF2B5EF4-FFF2-40B4-BE49-F238E27FC236}">
                <a16:creationId xmlns:a16="http://schemas.microsoft.com/office/drawing/2014/main" id="{63F49B3E-5957-CA0E-BB68-D9619DE86C1C}"/>
              </a:ext>
            </a:extLst>
          </p:cNvPr>
          <p:cNvSpPr>
            <a:spLocks noGrp="1"/>
          </p:cNvSpPr>
          <p:nvPr>
            <p:ph idx="1"/>
          </p:nvPr>
        </p:nvSpPr>
        <p:spPr>
          <a:xfrm>
            <a:off x="248575" y="-17651"/>
            <a:ext cx="11274267" cy="3683358"/>
          </a:xfrm>
        </p:spPr>
        <p:txBody>
          <a:bodyPr anchor="ctr">
            <a:normAutofit/>
          </a:bodyPr>
          <a:lstStyle/>
          <a:p>
            <a:r>
              <a:rPr lang="ka-GE" sz="2400" dirty="0">
                <a:latin typeface="Calibri" panose="020F0502020204030204" pitchFamily="34" charset="0"/>
                <a:cs typeface="Calibri" panose="020F0502020204030204" pitchFamily="34" charset="0"/>
              </a:rPr>
              <a:t>მეცნიერული სტატიებისა და წიგნების უფასო ონლაინ ვერსიები, რომლებიც ყველასთვის ხელმისაწვდომია. </a:t>
            </a:r>
            <a:r>
              <a:rPr lang="en-US" sz="2400" dirty="0">
                <a:latin typeface="Calibri" panose="020F0502020204030204" pitchFamily="34" charset="0"/>
                <a:cs typeface="Calibri" panose="020F0502020204030204" pitchFamily="34" charset="0"/>
              </a:rPr>
              <a:t>Open Access </a:t>
            </a:r>
            <a:r>
              <a:rPr lang="ka-GE" sz="2400" dirty="0">
                <a:latin typeface="Calibri" panose="020F0502020204030204" pitchFamily="34" charset="0"/>
                <a:cs typeface="Calibri" panose="020F0502020204030204" pitchFamily="34" charset="0"/>
              </a:rPr>
              <a:t>რესურსები ფართო საზოგადოებას საშუალებას აძლევს, მოიპოვონ ინფორმაციისა და კვლევების წვდომა ფინანსური შეზღუდვების გარეშე.</a:t>
            </a:r>
            <a:endParaRPr lang="en-US" sz="24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740BB6A5-E4CB-F3E5-5091-00F8A7AF9B3D}"/>
              </a:ext>
            </a:extLst>
          </p:cNvPr>
          <p:cNvSpPr txBox="1"/>
          <p:nvPr/>
        </p:nvSpPr>
        <p:spPr>
          <a:xfrm>
            <a:off x="382113" y="2838827"/>
            <a:ext cx="11274267" cy="1938992"/>
          </a:xfrm>
          <a:prstGeom prst="rect">
            <a:avLst/>
          </a:prstGeom>
          <a:noFill/>
        </p:spPr>
        <p:txBody>
          <a:bodyPr wrap="square">
            <a:spAutoFit/>
          </a:bodyPr>
          <a:lstStyle/>
          <a:p>
            <a:r>
              <a:rPr lang="ka-GE" sz="2400" b="1" dirty="0">
                <a:latin typeface="Calibri" panose="020F0502020204030204" pitchFamily="34" charset="0"/>
                <a:cs typeface="Calibri" panose="020F0502020204030204" pitchFamily="34" charset="0"/>
              </a:rPr>
              <a:t>მნიშვნელობა:</a:t>
            </a:r>
            <a:r>
              <a:rPr lang="ka-GE" sz="2400" dirty="0">
                <a:latin typeface="Calibri" panose="020F0502020204030204" pitchFamily="34" charset="0"/>
                <a:cs typeface="Calibri" panose="020F0502020204030204" pitchFamily="34" charset="0"/>
              </a:rPr>
              <a:t> ონლაინ ბიბლიოთეკები და მონაცემთა ბაზები მკვლევრებისთვის, სტუდენტებისთვის და მეცნიერებისთვის მნიშვნელოვანი რესურსებია ცოდნის გაფართოებისთვის. მათი გამოყენება საშუალებას აძლევს მომხმარებლებს გააუმჯობესონ კვლევის ხარისხი და მიიღონ დროული და რელევანტური ინფორმაცია.</a:t>
            </a:r>
            <a:endParaRPr lang="en-US" sz="2400" dirty="0">
              <a:latin typeface="Calibri" panose="020F0502020204030204" pitchFamily="34" charset="0"/>
              <a:cs typeface="Calibri" panose="020F0502020204030204" pitchFamily="34" charset="0"/>
            </a:endParaRPr>
          </a:p>
        </p:txBody>
      </p:sp>
      <p:sp>
        <p:nvSpPr>
          <p:cNvPr id="3" name="Title 1">
            <a:extLst>
              <a:ext uri="{FF2B5EF4-FFF2-40B4-BE49-F238E27FC236}">
                <a16:creationId xmlns:a16="http://schemas.microsoft.com/office/drawing/2014/main" id="{2DE6FAE2-732C-39A0-8A8D-9A0711657056}"/>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sz="3600" dirty="0">
                <a:solidFill>
                  <a:schemeClr val="bg1"/>
                </a:solidFill>
                <a:latin typeface="Calibri" panose="020F0502020204030204" pitchFamily="34" charset="0"/>
                <a:cs typeface="Calibri" panose="020F0502020204030204" pitchFamily="34" charset="0"/>
              </a:rPr>
              <a:t>ღია წვდომის რესურსები (</a:t>
            </a:r>
            <a:r>
              <a:rPr lang="en-US" sz="3600" dirty="0">
                <a:solidFill>
                  <a:schemeClr val="bg1"/>
                </a:solidFill>
                <a:latin typeface="Calibri" panose="020F0502020204030204" pitchFamily="34" charset="0"/>
                <a:cs typeface="Calibri" panose="020F0502020204030204" pitchFamily="34" charset="0"/>
              </a:rPr>
              <a:t>Open Access Resources):</a:t>
            </a:r>
            <a:endParaRPr lang="en-US" altLang="en-US" sz="36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88429510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517341-E119-F4F3-E0A5-6B454657154B}"/>
              </a:ext>
            </a:extLst>
          </p:cNvPr>
          <p:cNvSpPr>
            <a:spLocks noGrp="1"/>
          </p:cNvSpPr>
          <p:nvPr>
            <p:ph type="title"/>
          </p:nvPr>
        </p:nvSpPr>
        <p:spPr>
          <a:xfrm>
            <a:off x="2552700" y="294539"/>
            <a:ext cx="7421963" cy="1033669"/>
          </a:xfrm>
        </p:spPr>
        <p:txBody>
          <a:bodyPr>
            <a:noAutofit/>
          </a:bodyPr>
          <a:lstStyle/>
          <a:p>
            <a:r>
              <a:rPr lang="ka-GE" sz="3200" dirty="0">
                <a:solidFill>
                  <a:schemeClr val="bg1"/>
                </a:solidFill>
                <a:latin typeface="Calibri" panose="020F0502020204030204" pitchFamily="34" charset="0"/>
                <a:cs typeface="Calibri" panose="020F0502020204030204" pitchFamily="34" charset="0"/>
              </a:rPr>
              <a:t>მნიშვნელოვანი ონლაინ ბიბლიოთეკები და მონაცემთა ბაზები:</a:t>
            </a:r>
            <a:endParaRPr lang="en-US" sz="3200" dirty="0">
              <a:solidFill>
                <a:schemeClr val="bg1"/>
              </a:solidFill>
              <a:latin typeface="Calibri" panose="020F0502020204030204" pitchFamily="34" charset="0"/>
              <a:cs typeface="Calibri" panose="020F0502020204030204" pitchFamily="34" charset="0"/>
            </a:endParaRPr>
          </a:p>
        </p:txBody>
      </p:sp>
      <p:pic>
        <p:nvPicPr>
          <p:cNvPr id="4" name="Picture 3">
            <a:extLst>
              <a:ext uri="{FF2B5EF4-FFF2-40B4-BE49-F238E27FC236}">
                <a16:creationId xmlns:a16="http://schemas.microsoft.com/office/drawing/2014/main" id="{6983D987-4B96-D2F1-9E94-64E8E3FE6938}"/>
              </a:ext>
            </a:extLst>
          </p:cNvPr>
          <p:cNvPicPr>
            <a:picLocks noChangeAspect="1"/>
          </p:cNvPicPr>
          <p:nvPr/>
        </p:nvPicPr>
        <p:blipFill>
          <a:blip r:embed="rId2"/>
          <a:stretch>
            <a:fillRect/>
          </a:stretch>
        </p:blipFill>
        <p:spPr>
          <a:xfrm>
            <a:off x="1603899" y="1584181"/>
            <a:ext cx="4564782" cy="1283307"/>
          </a:xfrm>
          <a:prstGeom prst="rect">
            <a:avLst/>
          </a:prstGeom>
        </p:spPr>
      </p:pic>
      <p:sp>
        <p:nvSpPr>
          <p:cNvPr id="5" name="TextBox 4">
            <a:extLst>
              <a:ext uri="{FF2B5EF4-FFF2-40B4-BE49-F238E27FC236}">
                <a16:creationId xmlns:a16="http://schemas.microsoft.com/office/drawing/2014/main" id="{32A16506-A63C-2D98-1F23-A07D3EAFFF1A}"/>
              </a:ext>
            </a:extLst>
          </p:cNvPr>
          <p:cNvSpPr txBox="1"/>
          <p:nvPr/>
        </p:nvSpPr>
        <p:spPr>
          <a:xfrm>
            <a:off x="6459984" y="1307356"/>
            <a:ext cx="4003830" cy="1754326"/>
          </a:xfrm>
          <a:prstGeom prst="rect">
            <a:avLst/>
          </a:prstGeom>
          <a:noFill/>
        </p:spPr>
        <p:txBody>
          <a:bodyPr wrap="square">
            <a:spAutoFit/>
          </a:bodyPr>
          <a:lstStyle/>
          <a:p>
            <a:r>
              <a:rPr lang="en-US" b="1" dirty="0" err="1">
                <a:latin typeface="Calibri" panose="020F0502020204030204" pitchFamily="34" charset="0"/>
                <a:cs typeface="Calibri" panose="020F0502020204030204" pitchFamily="34" charset="0"/>
              </a:rPr>
              <a:t>Libgen</a:t>
            </a:r>
            <a:r>
              <a:rPr lang="en-US" b="1" dirty="0">
                <a:latin typeface="Calibri" panose="020F0502020204030204" pitchFamily="34" charset="0"/>
                <a:cs typeface="Calibri" panose="020F0502020204030204" pitchFamily="34" charset="0"/>
              </a:rPr>
              <a:t> </a:t>
            </a:r>
          </a:p>
          <a:p>
            <a:r>
              <a:rPr lang="ka-GE" b="1" dirty="0">
                <a:latin typeface="Calibri" panose="020F0502020204030204" pitchFamily="34" charset="0"/>
                <a:cs typeface="Calibri" panose="020F0502020204030204" pitchFamily="34" charset="0"/>
              </a:rPr>
              <a:t>აღწერა:</a:t>
            </a:r>
            <a:r>
              <a:rPr lang="ka-GE" dirty="0">
                <a:latin typeface="Calibri" panose="020F0502020204030204" pitchFamily="34" charset="0"/>
                <a:cs typeface="Calibri" panose="020F0502020204030204" pitchFamily="34" charset="0"/>
              </a:rPr>
              <a:t> ეს არის მონაცემთა ბაზა, რომელიც მოიცავს სამეცნიერო და მხატვრულ ლიტერატურას. </a:t>
            </a:r>
          </a:p>
          <a:p>
            <a:r>
              <a:rPr lang="ka-GE" b="1" dirty="0">
                <a:latin typeface="Calibri" panose="020F0502020204030204" pitchFamily="34" charset="0"/>
                <a:cs typeface="Calibri" panose="020F0502020204030204" pitchFamily="34" charset="0"/>
              </a:rPr>
              <a:t>წვდომა:</a:t>
            </a:r>
            <a:r>
              <a:rPr lang="ka-GE" dirty="0">
                <a:latin typeface="Calibri" panose="020F0502020204030204" pitchFamily="34" charset="0"/>
                <a:cs typeface="Calibri" panose="020F0502020204030204" pitchFamily="34" charset="0"/>
              </a:rPr>
              <a:t> მასალების სრული წვდომა, არ მოითხოვს გამოწერას.</a:t>
            </a:r>
            <a:endParaRPr lang="en-US" dirty="0">
              <a:latin typeface="Calibri" panose="020F0502020204030204" pitchFamily="34" charset="0"/>
              <a:cs typeface="Calibri" panose="020F0502020204030204" pitchFamily="34" charset="0"/>
            </a:endParaRPr>
          </a:p>
        </p:txBody>
      </p:sp>
      <p:sp>
        <p:nvSpPr>
          <p:cNvPr id="6" name="Title 1">
            <a:extLst>
              <a:ext uri="{FF2B5EF4-FFF2-40B4-BE49-F238E27FC236}">
                <a16:creationId xmlns:a16="http://schemas.microsoft.com/office/drawing/2014/main" id="{6C657826-BE6B-37FD-3817-F16936CE3BAB}"/>
              </a:ext>
            </a:extLst>
          </p:cNvPr>
          <p:cNvSpPr txBox="1">
            <a:spLocks/>
          </p:cNvSpPr>
          <p:nvPr/>
        </p:nvSpPr>
        <p:spPr>
          <a:xfrm>
            <a:off x="1787095" y="38566"/>
            <a:ext cx="8187569" cy="1033669"/>
          </a:xfrm>
          <a:prstGeom prst="rect">
            <a:avLst/>
          </a:prstGeom>
        </p:spPr>
        <p:txBody>
          <a:bodyPr vert="horz" lIns="91440" tIns="45720" rIns="91440" bIns="45720" rtlCol="0" anchor="ctr">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r>
              <a:rPr lang="ka-GE" sz="3200" b="1" dirty="0">
                <a:solidFill>
                  <a:srgbClr val="FE007C"/>
                </a:solidFill>
                <a:latin typeface="Calibri" panose="020F0502020204030204" pitchFamily="34" charset="0"/>
                <a:cs typeface="Calibri" panose="020F0502020204030204" pitchFamily="34" charset="0"/>
              </a:rPr>
              <a:t>არაოფიციალური, „პირატული“ გვერდები</a:t>
            </a:r>
            <a:endParaRPr lang="en-US" sz="3200" b="1" dirty="0">
              <a:solidFill>
                <a:srgbClr val="FE007C"/>
              </a:solidFill>
              <a:latin typeface="Calibri" panose="020F0502020204030204" pitchFamily="34" charset="0"/>
              <a:cs typeface="Calibri" panose="020F0502020204030204" pitchFamily="34" charset="0"/>
            </a:endParaRPr>
          </a:p>
        </p:txBody>
      </p:sp>
      <p:pic>
        <p:nvPicPr>
          <p:cNvPr id="13" name="Picture 12">
            <a:extLst>
              <a:ext uri="{FF2B5EF4-FFF2-40B4-BE49-F238E27FC236}">
                <a16:creationId xmlns:a16="http://schemas.microsoft.com/office/drawing/2014/main" id="{5429381D-5EB6-9C1C-08F6-499B8B7C9462}"/>
              </a:ext>
            </a:extLst>
          </p:cNvPr>
          <p:cNvPicPr>
            <a:picLocks noChangeAspect="1"/>
          </p:cNvPicPr>
          <p:nvPr/>
        </p:nvPicPr>
        <p:blipFill>
          <a:blip r:embed="rId3"/>
          <a:stretch>
            <a:fillRect/>
          </a:stretch>
        </p:blipFill>
        <p:spPr>
          <a:xfrm>
            <a:off x="1787094" y="3793955"/>
            <a:ext cx="4564782" cy="2118106"/>
          </a:xfrm>
          <a:prstGeom prst="rect">
            <a:avLst/>
          </a:prstGeom>
        </p:spPr>
      </p:pic>
      <p:sp>
        <p:nvSpPr>
          <p:cNvPr id="19" name="TextBox 18">
            <a:extLst>
              <a:ext uri="{FF2B5EF4-FFF2-40B4-BE49-F238E27FC236}">
                <a16:creationId xmlns:a16="http://schemas.microsoft.com/office/drawing/2014/main" id="{1434B7F8-280B-3387-C856-01938FFC6F8D}"/>
              </a:ext>
            </a:extLst>
          </p:cNvPr>
          <p:cNvSpPr txBox="1"/>
          <p:nvPr/>
        </p:nvSpPr>
        <p:spPr>
          <a:xfrm>
            <a:off x="6459984" y="4097032"/>
            <a:ext cx="3807318" cy="2031325"/>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აღწერა:</a:t>
            </a:r>
            <a:r>
              <a:rPr lang="ka-GE" dirty="0">
                <a:latin typeface="Calibri" panose="020F0502020204030204" pitchFamily="34" charset="0"/>
                <a:cs typeface="Calibri" panose="020F0502020204030204" pitchFamily="34" charset="0"/>
              </a:rPr>
              <a:t> ეს არის დიდი მონაცემთა ბაზა, რომელიც მოიცავს სამეცნიერო სტატიებს. </a:t>
            </a:r>
          </a:p>
          <a:p>
            <a:r>
              <a:rPr lang="ka-GE" b="1" dirty="0">
                <a:latin typeface="Calibri" panose="020F0502020204030204" pitchFamily="34" charset="0"/>
                <a:cs typeface="Calibri" panose="020F0502020204030204" pitchFamily="34" charset="0"/>
              </a:rPr>
              <a:t>წვდომა:</a:t>
            </a:r>
            <a:r>
              <a:rPr lang="ka-GE" dirty="0">
                <a:latin typeface="Calibri" panose="020F0502020204030204" pitchFamily="34" charset="0"/>
                <a:cs typeface="Calibri" panose="020F0502020204030204" pitchFamily="34" charset="0"/>
              </a:rPr>
              <a:t> სრული წვდომა იმ მასალებზე, რომელიც </a:t>
            </a:r>
            <a:r>
              <a:rPr lang="ka-GE" dirty="0" err="1">
                <a:latin typeface="Calibri" panose="020F0502020204030204" pitchFamily="34" charset="0"/>
                <a:cs typeface="Calibri" panose="020F0502020204030204" pitchFamily="34" charset="0"/>
              </a:rPr>
              <a:t>ატვირთულია</a:t>
            </a:r>
            <a:r>
              <a:rPr lang="ka-GE" dirty="0">
                <a:latin typeface="Calibri" panose="020F0502020204030204" pitchFamily="34" charset="0"/>
                <a:cs typeface="Calibri" panose="020F0502020204030204" pitchFamily="34" charset="0"/>
              </a:rPr>
              <a:t> ბაზაში. არ მოითხოვს გამოწერას.</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28406998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D4B3E5-1BA7-F2DD-1F52-B14531628361}"/>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altLang="en-US" sz="3600" dirty="0">
                <a:solidFill>
                  <a:schemeClr val="bg1"/>
                </a:solidFill>
                <a:latin typeface="Calibri" panose="020F0502020204030204" pitchFamily="34" charset="0"/>
                <a:cs typeface="Calibri" panose="020F0502020204030204" pitchFamily="34" charset="0"/>
              </a:rPr>
              <a:t>ხელოვნური ინტელექტი (</a:t>
            </a:r>
            <a:r>
              <a:rPr lang="en-US" altLang="en-US" sz="3600" dirty="0">
                <a:solidFill>
                  <a:schemeClr val="bg1"/>
                </a:solidFill>
                <a:latin typeface="Calibri" panose="020F0502020204030204" pitchFamily="34" charset="0"/>
                <a:cs typeface="Calibri" panose="020F0502020204030204" pitchFamily="34" charset="0"/>
              </a:rPr>
              <a:t>AI</a:t>
            </a:r>
            <a:r>
              <a:rPr lang="ka-GE" altLang="en-US" sz="3600" dirty="0">
                <a:solidFill>
                  <a:schemeClr val="bg1"/>
                </a:solidFill>
                <a:latin typeface="Calibri" panose="020F0502020204030204" pitchFamily="34" charset="0"/>
                <a:cs typeface="Calibri" panose="020F0502020204030204" pitchFamily="34" charset="0"/>
              </a:rPr>
              <a:t>), როგორც დამხმარე</a:t>
            </a:r>
            <a:r>
              <a:rPr lang="en-US" altLang="en-US" sz="3600" dirty="0">
                <a:solidFill>
                  <a:schemeClr val="bg1"/>
                </a:solidFill>
                <a:latin typeface="Calibri" panose="020F0502020204030204" pitchFamily="34" charset="0"/>
                <a:cs typeface="Calibri" panose="020F0502020204030204" pitchFamily="34" charset="0"/>
              </a:rPr>
              <a:t> </a:t>
            </a:r>
            <a:r>
              <a:rPr lang="ka-GE" altLang="en-US" sz="3600" dirty="0">
                <a:solidFill>
                  <a:schemeClr val="bg1"/>
                </a:solidFill>
                <a:latin typeface="Calibri" panose="020F0502020204030204" pitchFamily="34" charset="0"/>
                <a:cs typeface="Calibri" panose="020F0502020204030204" pitchFamily="34" charset="0"/>
              </a:rPr>
              <a:t> </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6E6DB47-98D6-AF47-E382-8773BA81234A}"/>
              </a:ext>
            </a:extLst>
          </p:cNvPr>
          <p:cNvSpPr txBox="1"/>
          <p:nvPr/>
        </p:nvSpPr>
        <p:spPr>
          <a:xfrm>
            <a:off x="188650" y="540617"/>
            <a:ext cx="11867226" cy="1015663"/>
          </a:xfrm>
          <a:prstGeom prst="rect">
            <a:avLst/>
          </a:prstGeom>
          <a:noFill/>
        </p:spPr>
        <p:txBody>
          <a:bodyPr wrap="square">
            <a:spAutoFit/>
          </a:bodyPr>
          <a:lstStyle/>
          <a:p>
            <a:r>
              <a:rPr lang="ka-GE" sz="2000" dirty="0">
                <a:latin typeface="Calibri" panose="020F0502020204030204" pitchFamily="34" charset="0"/>
                <a:cs typeface="Calibri" panose="020F0502020204030204" pitchFamily="34" charset="0"/>
              </a:rPr>
              <a:t>ონლაინ ბიბლიოთეკებთან, სტატიებთან და მონაცემთა ბაზებთან მუშაობისთვის, ხელოვნური ინტელექტის (</a:t>
            </a:r>
            <a:r>
              <a:rPr lang="en-US" sz="2000" dirty="0">
                <a:latin typeface="Calibri" panose="020F0502020204030204" pitchFamily="34" charset="0"/>
                <a:cs typeface="Calibri" panose="020F0502020204030204" pitchFamily="34" charset="0"/>
              </a:rPr>
              <a:t>AI) </a:t>
            </a:r>
            <a:r>
              <a:rPr lang="ka-GE" sz="2000" dirty="0">
                <a:latin typeface="Calibri" panose="020F0502020204030204" pitchFamily="34" charset="0"/>
                <a:cs typeface="Calibri" panose="020F0502020204030204" pitchFamily="34" charset="0"/>
              </a:rPr>
              <a:t>საშუალებები მნიშვნელოვან დახმარებას სთავაზობენ მკვლევრებს, სტუდენტებს და პროფესიონალებს.</a:t>
            </a:r>
            <a:endParaRPr lang="en-US" sz="20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296BA2A1-2E1E-ECB2-2A6D-2F987197B586}"/>
              </a:ext>
            </a:extLst>
          </p:cNvPr>
          <p:cNvSpPr txBox="1"/>
          <p:nvPr/>
        </p:nvSpPr>
        <p:spPr>
          <a:xfrm>
            <a:off x="197897" y="1808253"/>
            <a:ext cx="11565385" cy="4401205"/>
          </a:xfrm>
          <a:prstGeom prst="rect">
            <a:avLst/>
          </a:prstGeom>
          <a:noFill/>
        </p:spPr>
        <p:txBody>
          <a:bodyPr wrap="square">
            <a:spAutoFit/>
          </a:bodyPr>
          <a:lstStyle/>
          <a:p>
            <a:r>
              <a:rPr lang="ka-GE" sz="2000" b="1" dirty="0">
                <a:latin typeface="Calibri" panose="020F0502020204030204" pitchFamily="34" charset="0"/>
                <a:cs typeface="Calibri" panose="020F0502020204030204" pitchFamily="34" charset="0"/>
              </a:rPr>
              <a:t>უპირატესობები, რომლებიც </a:t>
            </a:r>
            <a:r>
              <a:rPr lang="en-US" sz="2000" b="1" dirty="0">
                <a:latin typeface="Calibri" panose="020F0502020204030204" pitchFamily="34" charset="0"/>
                <a:cs typeface="Calibri" panose="020F0502020204030204" pitchFamily="34" charset="0"/>
              </a:rPr>
              <a:t>AI </a:t>
            </a:r>
            <a:r>
              <a:rPr lang="ka-GE" sz="2000" b="1" dirty="0">
                <a:latin typeface="Calibri" panose="020F0502020204030204" pitchFamily="34" charset="0"/>
                <a:cs typeface="Calibri" panose="020F0502020204030204" pitchFamily="34" charset="0"/>
              </a:rPr>
              <a:t>ხელსაწყოებს აქვთ:</a:t>
            </a:r>
            <a:endParaRPr lang="en-US" sz="2000" b="1" dirty="0">
              <a:latin typeface="Calibri" panose="020F0502020204030204" pitchFamily="34" charset="0"/>
              <a:cs typeface="Calibri" panose="020F0502020204030204" pitchFamily="34" charset="0"/>
            </a:endParaRPr>
          </a:p>
          <a:p>
            <a:endParaRPr lang="ka-GE" sz="2000" b="1" dirty="0">
              <a:latin typeface="Calibri" panose="020F0502020204030204" pitchFamily="34" charset="0"/>
              <a:cs typeface="Calibri" panose="020F0502020204030204" pitchFamily="34" charset="0"/>
            </a:endParaRPr>
          </a:p>
          <a:p>
            <a:pPr>
              <a:buFont typeface="+mj-lt"/>
              <a:buAutoNum type="arabicPeriod"/>
            </a:pPr>
            <a:r>
              <a:rPr lang="ka-GE" sz="2000" b="1" dirty="0">
                <a:latin typeface="Calibri" panose="020F0502020204030204" pitchFamily="34" charset="0"/>
                <a:cs typeface="Calibri" panose="020F0502020204030204" pitchFamily="34" charset="0"/>
              </a:rPr>
              <a:t>სწრაფი და ეფექტური ძიება</a:t>
            </a:r>
            <a:r>
              <a:rPr lang="ka-GE"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AI </a:t>
            </a:r>
            <a:r>
              <a:rPr lang="ka-GE" sz="2000" dirty="0">
                <a:latin typeface="Calibri" panose="020F0502020204030204" pitchFamily="34" charset="0"/>
                <a:cs typeface="Calibri" panose="020F0502020204030204" pitchFamily="34" charset="0"/>
              </a:rPr>
              <a:t>ხელსაწყოები ბევრად უფრო სწრაფად ახდენენ მონაცემების და სტატიების მოძიებას და </a:t>
            </a:r>
            <a:r>
              <a:rPr lang="ka-GE" sz="2000" dirty="0" err="1">
                <a:latin typeface="Calibri" panose="020F0502020204030204" pitchFamily="34" charset="0"/>
                <a:cs typeface="Calibri" panose="020F0502020204030204" pitchFamily="34" charset="0"/>
              </a:rPr>
              <a:t>რელევანტურობის</a:t>
            </a:r>
            <a:r>
              <a:rPr lang="ka-GE" sz="2000" dirty="0">
                <a:latin typeface="Calibri" panose="020F0502020204030204" pitchFamily="34" charset="0"/>
                <a:cs typeface="Calibri" panose="020F0502020204030204" pitchFamily="34" charset="0"/>
              </a:rPr>
              <a:t> მიხედვით დალაგებას, ვიდრე ტრადიციული მეთოდები.</a:t>
            </a:r>
            <a:endParaRPr lang="en-US" sz="2000" dirty="0">
              <a:latin typeface="Calibri" panose="020F0502020204030204" pitchFamily="34" charset="0"/>
              <a:cs typeface="Calibri" panose="020F0502020204030204" pitchFamily="34" charset="0"/>
            </a:endParaRPr>
          </a:p>
          <a:p>
            <a:pPr>
              <a:buFont typeface="+mj-lt"/>
              <a:buAutoNum type="arabicPeriod"/>
            </a:pPr>
            <a:endParaRPr lang="ka-GE" sz="2000" dirty="0">
              <a:latin typeface="Calibri" panose="020F0502020204030204" pitchFamily="34" charset="0"/>
              <a:cs typeface="Calibri" panose="020F0502020204030204" pitchFamily="34" charset="0"/>
            </a:endParaRPr>
          </a:p>
          <a:p>
            <a:pPr>
              <a:buFont typeface="+mj-lt"/>
              <a:buAutoNum type="arabicPeriod"/>
            </a:pPr>
            <a:r>
              <a:rPr lang="ka-GE" sz="2000" b="1" dirty="0">
                <a:latin typeface="Calibri" panose="020F0502020204030204" pitchFamily="34" charset="0"/>
                <a:cs typeface="Calibri" panose="020F0502020204030204" pitchFamily="34" charset="0"/>
              </a:rPr>
              <a:t>ციტირებისა და რეკომენდაციების ავტომატიზაცია</a:t>
            </a:r>
            <a:r>
              <a:rPr lang="ka-GE" sz="2000" dirty="0">
                <a:latin typeface="Calibri" panose="020F0502020204030204" pitchFamily="34" charset="0"/>
                <a:cs typeface="Calibri" panose="020F0502020204030204" pitchFamily="34" charset="0"/>
              </a:rPr>
              <a:t>: ციტირების და რეკომენდაციების ალგორითმები გაძლევენ საშუალებას სწრაფად იპოვოთ ახალი პუბლიკაციები და მიყევით მათ განვითარებას.</a:t>
            </a:r>
            <a:endParaRPr lang="en-US" sz="2000" dirty="0">
              <a:latin typeface="Calibri" panose="020F0502020204030204" pitchFamily="34" charset="0"/>
              <a:cs typeface="Calibri" panose="020F0502020204030204" pitchFamily="34" charset="0"/>
            </a:endParaRPr>
          </a:p>
          <a:p>
            <a:pPr>
              <a:buFont typeface="+mj-lt"/>
              <a:buAutoNum type="arabicPeriod"/>
            </a:pPr>
            <a:endParaRPr lang="ka-GE" sz="2000" dirty="0">
              <a:latin typeface="Calibri" panose="020F0502020204030204" pitchFamily="34" charset="0"/>
              <a:cs typeface="Calibri" panose="020F0502020204030204" pitchFamily="34" charset="0"/>
            </a:endParaRPr>
          </a:p>
          <a:p>
            <a:pPr>
              <a:buFont typeface="+mj-lt"/>
              <a:buAutoNum type="arabicPeriod"/>
            </a:pPr>
            <a:r>
              <a:rPr lang="ka-GE" sz="2000" b="1" dirty="0">
                <a:latin typeface="Calibri" panose="020F0502020204030204" pitchFamily="34" charset="0"/>
                <a:cs typeface="Calibri" panose="020F0502020204030204" pitchFamily="34" charset="0"/>
              </a:rPr>
              <a:t>მომხმარებლის ინტერესების მორგება</a:t>
            </a:r>
            <a:r>
              <a:rPr lang="ka-GE"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AI </a:t>
            </a:r>
            <a:r>
              <a:rPr lang="ka-GE" sz="2000" dirty="0">
                <a:latin typeface="Calibri" panose="020F0502020204030204" pitchFamily="34" charset="0"/>
                <a:cs typeface="Calibri" panose="020F0502020204030204" pitchFamily="34" charset="0"/>
              </a:rPr>
              <a:t>ინსტრუმენტები სწავლობენ მომხმარებლის ინტერესებს და გთავაზობენ </a:t>
            </a:r>
            <a:r>
              <a:rPr lang="ka-GE" sz="2000" dirty="0" err="1">
                <a:latin typeface="Calibri" panose="020F0502020204030204" pitchFamily="34" charset="0"/>
                <a:cs typeface="Calibri" panose="020F0502020204030204" pitchFamily="34" charset="0"/>
              </a:rPr>
              <a:t>პერსონალიზებულ</a:t>
            </a:r>
            <a:r>
              <a:rPr lang="ka-GE" sz="2000" dirty="0">
                <a:latin typeface="Calibri" panose="020F0502020204030204" pitchFamily="34" charset="0"/>
                <a:cs typeface="Calibri" panose="020F0502020204030204" pitchFamily="34" charset="0"/>
              </a:rPr>
              <a:t> შედეგებს.</a:t>
            </a:r>
            <a:endParaRPr lang="en-US" sz="2000" dirty="0">
              <a:latin typeface="Calibri" panose="020F0502020204030204" pitchFamily="34" charset="0"/>
              <a:cs typeface="Calibri" panose="020F0502020204030204" pitchFamily="34" charset="0"/>
            </a:endParaRPr>
          </a:p>
          <a:p>
            <a:pPr>
              <a:buFont typeface="+mj-lt"/>
              <a:buAutoNum type="arabicPeriod"/>
            </a:pPr>
            <a:endParaRPr lang="ka-GE" sz="2000" dirty="0">
              <a:latin typeface="Calibri" panose="020F0502020204030204" pitchFamily="34" charset="0"/>
              <a:cs typeface="Calibri" panose="020F0502020204030204" pitchFamily="34" charset="0"/>
            </a:endParaRPr>
          </a:p>
          <a:p>
            <a:pPr>
              <a:buFont typeface="+mj-lt"/>
              <a:buAutoNum type="arabicPeriod"/>
            </a:pPr>
            <a:r>
              <a:rPr lang="ka-GE" sz="2000" b="1" dirty="0">
                <a:latin typeface="Calibri" panose="020F0502020204030204" pitchFamily="34" charset="0"/>
                <a:cs typeface="Calibri" panose="020F0502020204030204" pitchFamily="34" charset="0"/>
              </a:rPr>
              <a:t>ანალიზის და დათვლის შესაძლებლობები</a:t>
            </a:r>
            <a:r>
              <a:rPr lang="ka-GE" sz="2000" dirty="0">
                <a:latin typeface="Calibri" panose="020F0502020204030204" pitchFamily="34" charset="0"/>
                <a:cs typeface="Calibri" panose="020F0502020204030204" pitchFamily="34" charset="0"/>
              </a:rPr>
              <a:t>: ბევრი ინსტრუმენტი გთავაზობთ ციტირების და კვლევის გამოყენების ტიპების ანალიზს, რაც დაგეხმარებათ უკეთ გაიგოთ კვლევის გავლენა.</a:t>
            </a:r>
          </a:p>
        </p:txBody>
      </p:sp>
    </p:spTree>
    <p:extLst>
      <p:ext uri="{BB962C8B-B14F-4D97-AF65-F5344CB8AC3E}">
        <p14:creationId xmlns:p14="http://schemas.microsoft.com/office/powerpoint/2010/main" val="136547030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F3D4B3E5-1BA7-F2DD-1F52-B14531628361}"/>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altLang="en-US" sz="3600" dirty="0">
                <a:solidFill>
                  <a:schemeClr val="bg1"/>
                </a:solidFill>
                <a:latin typeface="Calibri" panose="020F0502020204030204" pitchFamily="34" charset="0"/>
                <a:cs typeface="Calibri" panose="020F0502020204030204" pitchFamily="34" charset="0"/>
              </a:rPr>
              <a:t>ხელოვნური ინტელექტი (</a:t>
            </a:r>
            <a:r>
              <a:rPr lang="en-US" altLang="en-US" sz="3600" dirty="0">
                <a:solidFill>
                  <a:schemeClr val="bg1"/>
                </a:solidFill>
                <a:latin typeface="Calibri" panose="020F0502020204030204" pitchFamily="34" charset="0"/>
                <a:cs typeface="Calibri" panose="020F0502020204030204" pitchFamily="34" charset="0"/>
              </a:rPr>
              <a:t>AI</a:t>
            </a:r>
            <a:r>
              <a:rPr lang="ka-GE" altLang="en-US" sz="3600" dirty="0">
                <a:solidFill>
                  <a:schemeClr val="bg1"/>
                </a:solidFill>
                <a:latin typeface="Calibri" panose="020F0502020204030204" pitchFamily="34" charset="0"/>
                <a:cs typeface="Calibri" panose="020F0502020204030204" pitchFamily="34" charset="0"/>
              </a:rPr>
              <a:t>), როგორც დამხმარე</a:t>
            </a:r>
            <a:r>
              <a:rPr lang="en-US" altLang="en-US" sz="3600" dirty="0">
                <a:solidFill>
                  <a:schemeClr val="bg1"/>
                </a:solidFill>
                <a:latin typeface="Calibri" panose="020F0502020204030204" pitchFamily="34" charset="0"/>
                <a:cs typeface="Calibri" panose="020F0502020204030204" pitchFamily="34" charset="0"/>
              </a:rPr>
              <a:t> </a:t>
            </a:r>
            <a:r>
              <a:rPr lang="ka-GE" altLang="en-US" sz="3600" dirty="0">
                <a:solidFill>
                  <a:schemeClr val="bg1"/>
                </a:solidFill>
                <a:latin typeface="Calibri" panose="020F0502020204030204" pitchFamily="34" charset="0"/>
                <a:cs typeface="Calibri" panose="020F0502020204030204" pitchFamily="34" charset="0"/>
              </a:rPr>
              <a:t> </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86E6DB47-98D6-AF47-E382-8773BA81234A}"/>
              </a:ext>
            </a:extLst>
          </p:cNvPr>
          <p:cNvSpPr txBox="1"/>
          <p:nvPr/>
        </p:nvSpPr>
        <p:spPr>
          <a:xfrm>
            <a:off x="188650" y="540617"/>
            <a:ext cx="11867226" cy="646331"/>
          </a:xfrm>
          <a:prstGeom prst="rect">
            <a:avLst/>
          </a:prstGeom>
          <a:noFill/>
        </p:spPr>
        <p:txBody>
          <a:bodyPr wrap="square">
            <a:spAutoFit/>
          </a:bodyPr>
          <a:lstStyle/>
          <a:p>
            <a:r>
              <a:rPr lang="ka-GE" dirty="0">
                <a:latin typeface="Calibri" panose="020F0502020204030204" pitchFamily="34" charset="0"/>
                <a:cs typeface="Calibri" panose="020F0502020204030204" pitchFamily="34" charset="0"/>
              </a:rPr>
              <a:t>ონლაინ ბიბლიოთეკებთან, სტატიებთან და მონაცემთა ბაზებთან მუშაობისთვის, ხელოვნური ინტელექტის (</a:t>
            </a:r>
            <a:r>
              <a:rPr lang="en-US" dirty="0">
                <a:latin typeface="Calibri" panose="020F0502020204030204" pitchFamily="34" charset="0"/>
                <a:cs typeface="Calibri" panose="020F0502020204030204" pitchFamily="34" charset="0"/>
              </a:rPr>
              <a:t>AI) </a:t>
            </a:r>
            <a:r>
              <a:rPr lang="ka-GE" dirty="0">
                <a:latin typeface="Calibri" panose="020F0502020204030204" pitchFamily="34" charset="0"/>
                <a:cs typeface="Calibri" panose="020F0502020204030204" pitchFamily="34" charset="0"/>
              </a:rPr>
              <a:t>საშუალებები მნიშვნელოვან დახმარებას სთავაზობენ მკვლევრებს, სტუდენტებს და პროფესიონალებს.</a:t>
            </a: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C72ADE21-D93E-298D-D36A-333A3DF4C0FA}"/>
              </a:ext>
            </a:extLst>
          </p:cNvPr>
          <p:cNvSpPr txBox="1"/>
          <p:nvPr/>
        </p:nvSpPr>
        <p:spPr>
          <a:xfrm>
            <a:off x="188649" y="2177536"/>
            <a:ext cx="11414466" cy="3693319"/>
          </a:xfrm>
          <a:prstGeom prst="rect">
            <a:avLst/>
          </a:prstGeom>
          <a:noFill/>
        </p:spPr>
        <p:txBody>
          <a:bodyPr wrap="square">
            <a:spAutoFit/>
          </a:bodyPr>
          <a:lstStyle/>
          <a:p>
            <a:pPr marL="342900" indent="-342900">
              <a:buAutoNum type="arabicPeriod"/>
            </a:pPr>
            <a:r>
              <a:rPr lang="en-US" b="1" dirty="0">
                <a:latin typeface="Calibri" panose="020F0502020204030204" pitchFamily="34" charset="0"/>
                <a:cs typeface="Calibri" panose="020F0502020204030204" pitchFamily="34" charset="0"/>
              </a:rPr>
              <a:t>Semantic Scholar</a:t>
            </a:r>
            <a:endParaRPr lang="ka-GE" b="1" dirty="0">
              <a:latin typeface="Calibri" panose="020F0502020204030204" pitchFamily="34" charset="0"/>
              <a:cs typeface="Calibri" panose="020F0502020204030204" pitchFamily="34" charset="0"/>
            </a:endParaRPr>
          </a:p>
          <a:p>
            <a:pPr marL="342900" indent="-342900">
              <a:buAutoNum type="arabicPeriod"/>
            </a:pPr>
            <a:endParaRPr lang="en-US" b="1"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b="1" dirty="0">
                <a:latin typeface="Calibri" panose="020F0502020204030204" pitchFamily="34" charset="0"/>
                <a:cs typeface="Calibri" panose="020F0502020204030204" pitchFamily="34" charset="0"/>
              </a:rPr>
              <a:t> შესაძლებლობები</a:t>
            </a:r>
            <a:r>
              <a:rPr lang="ka-GE"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Semantic Scholar </a:t>
            </a:r>
            <a:r>
              <a:rPr lang="ka-GE" dirty="0">
                <a:latin typeface="Calibri" panose="020F0502020204030204" pitchFamily="34" charset="0"/>
                <a:cs typeface="Calibri" panose="020F0502020204030204" pitchFamily="34" charset="0"/>
              </a:rPr>
              <a:t>არის </a:t>
            </a:r>
            <a:r>
              <a:rPr lang="en-US" dirty="0">
                <a:latin typeface="Calibri" panose="020F0502020204030204" pitchFamily="34" charset="0"/>
                <a:cs typeface="Calibri" panose="020F0502020204030204" pitchFamily="34" charset="0"/>
              </a:rPr>
              <a:t>AI-</a:t>
            </a:r>
            <a:r>
              <a:rPr lang="ka-GE" dirty="0">
                <a:latin typeface="Calibri" panose="020F0502020204030204" pitchFamily="34" charset="0"/>
                <a:cs typeface="Calibri" panose="020F0502020204030204" pitchFamily="34" charset="0"/>
              </a:rPr>
              <a:t>ზე დაფუძნებული კვლევითი პლატფორმა, რომელიც ეხმარება მომხმარებლებს სტატიებისა და კვლევების მოძიებაში. მისი </a:t>
            </a:r>
            <a:r>
              <a:rPr lang="en-US" dirty="0">
                <a:latin typeface="Calibri" panose="020F0502020204030204" pitchFamily="34" charset="0"/>
                <a:cs typeface="Calibri" panose="020F0502020204030204" pitchFamily="34" charset="0"/>
              </a:rPr>
              <a:t>AI </a:t>
            </a:r>
            <a:r>
              <a:rPr lang="ka-GE" dirty="0">
                <a:latin typeface="Calibri" panose="020F0502020204030204" pitchFamily="34" charset="0"/>
                <a:cs typeface="Calibri" panose="020F0502020204030204" pitchFamily="34" charset="0"/>
              </a:rPr>
              <a:t>ალგორითმები იძლევა სიღრმისეულ ანალიზს და კონტექსტის გაგებას, რაც ეხმარება პუბლიკაციების უკეთ დალაგებას და ყველაზე რელევანტური სტატიების აღმოჩენას.</a:t>
            </a:r>
          </a:p>
          <a:p>
            <a:pPr>
              <a:buFont typeface="Arial" panose="020B0604020202020204" pitchFamily="34" charset="0"/>
              <a:buChar char="•"/>
            </a:pPr>
            <a:endParaRPr lang="ka-GE" dirty="0">
              <a:latin typeface="Calibri" panose="020F0502020204030204" pitchFamily="34" charset="0"/>
              <a:cs typeface="Calibri" panose="020F0502020204030204" pitchFamily="34" charset="0"/>
            </a:endParaRPr>
          </a:p>
          <a:p>
            <a:pPr>
              <a:buFont typeface="Arial" panose="020B0604020202020204" pitchFamily="34" charset="0"/>
              <a:buChar char="•"/>
            </a:pPr>
            <a:r>
              <a:rPr lang="ka-GE" b="1" dirty="0">
                <a:latin typeface="Calibri" panose="020F0502020204030204" pitchFamily="34" charset="0"/>
                <a:cs typeface="Calibri" panose="020F0502020204030204" pitchFamily="34" charset="0"/>
              </a:rPr>
              <a:t> უპირატესობები</a:t>
            </a:r>
            <a:r>
              <a:rPr lang="ka-GE" dirty="0">
                <a:latin typeface="Calibri" panose="020F0502020204030204" pitchFamily="34" charset="0"/>
                <a:cs typeface="Calibri" panose="020F0502020204030204" pitchFamily="34" charset="0"/>
              </a:rPr>
              <a:t>:</a:t>
            </a:r>
          </a:p>
          <a:p>
            <a:pPr>
              <a:buFont typeface="Arial" panose="020B0604020202020204" pitchFamily="34" charset="0"/>
              <a:buChar char="•"/>
            </a:pPr>
            <a:endParaRPr lang="ka-GE" dirty="0">
              <a:latin typeface="Calibri" panose="020F0502020204030204" pitchFamily="34" charset="0"/>
              <a:cs typeface="Calibri" panose="020F0502020204030204" pitchFamily="34" charset="0"/>
            </a:endParaRPr>
          </a:p>
          <a:p>
            <a:pPr marL="742950" lvl="1" indent="-285750">
              <a:buFont typeface="Arial" panose="020B0604020202020204" pitchFamily="34" charset="0"/>
              <a:buChar char="•"/>
            </a:pPr>
            <a:r>
              <a:rPr lang="ka-GE" dirty="0">
                <a:latin typeface="Calibri" panose="020F0502020204030204" pitchFamily="34" charset="0"/>
                <a:cs typeface="Calibri" panose="020F0502020204030204" pitchFamily="34" charset="0"/>
              </a:rPr>
              <a:t>ავტომატური ციტირების ანალიზი.</a:t>
            </a:r>
          </a:p>
          <a:p>
            <a:pPr marL="742950" lvl="1" indent="-285750">
              <a:buFont typeface="Arial" panose="020B0604020202020204" pitchFamily="34" charset="0"/>
              <a:buChar char="•"/>
            </a:pPr>
            <a:r>
              <a:rPr lang="ka-GE" dirty="0">
                <a:latin typeface="Calibri" panose="020F0502020204030204" pitchFamily="34" charset="0"/>
                <a:cs typeface="Calibri" panose="020F0502020204030204" pitchFamily="34" charset="0"/>
              </a:rPr>
              <a:t>სტატიების </a:t>
            </a:r>
            <a:r>
              <a:rPr lang="ka-GE" dirty="0" err="1">
                <a:latin typeface="Calibri" panose="020F0502020204030204" pitchFamily="34" charset="0"/>
                <a:cs typeface="Calibri" panose="020F0502020204030204" pitchFamily="34" charset="0"/>
              </a:rPr>
              <a:t>რელევანტურობის</a:t>
            </a:r>
            <a:r>
              <a:rPr lang="ka-GE" dirty="0">
                <a:latin typeface="Calibri" panose="020F0502020204030204" pitchFamily="34" charset="0"/>
                <a:cs typeface="Calibri" panose="020F0502020204030204" pitchFamily="34" charset="0"/>
              </a:rPr>
              <a:t> მიხედვით დალაგება.</a:t>
            </a:r>
          </a:p>
          <a:p>
            <a:pPr marL="742950" lvl="1" indent="-285750">
              <a:buFont typeface="Arial" panose="020B0604020202020204" pitchFamily="34" charset="0"/>
              <a:buChar char="•"/>
            </a:pPr>
            <a:r>
              <a:rPr lang="ka-GE" dirty="0" err="1">
                <a:latin typeface="Calibri" panose="020F0502020204030204" pitchFamily="34" charset="0"/>
                <a:cs typeface="Calibri" panose="020F0502020204030204" pitchFamily="34" charset="0"/>
              </a:rPr>
              <a:t>ჰიპერლინკირებული</a:t>
            </a:r>
            <a:r>
              <a:rPr lang="ka-GE" dirty="0">
                <a:latin typeface="Calibri" panose="020F0502020204030204" pitchFamily="34" charset="0"/>
                <a:cs typeface="Calibri" panose="020F0502020204030204" pitchFamily="34" charset="0"/>
              </a:rPr>
              <a:t> ციტატები და კვლევითი ნაშრომების ქსელის შექმნა.</a:t>
            </a:r>
          </a:p>
          <a:p>
            <a:pPr marL="742950" lvl="1" indent="-285750">
              <a:buFont typeface="Arial" panose="020B0604020202020204" pitchFamily="34" charset="0"/>
              <a:buChar char="•"/>
            </a:pPr>
            <a:r>
              <a:rPr lang="ka-GE" dirty="0">
                <a:latin typeface="Calibri" panose="020F0502020204030204" pitchFamily="34" charset="0"/>
                <a:cs typeface="Calibri" panose="020F0502020204030204" pitchFamily="34" charset="0"/>
              </a:rPr>
              <a:t>კონტექსტის მიხედვით გამოყოფილი საძიებო ფილტრები.</a:t>
            </a:r>
          </a:p>
        </p:txBody>
      </p:sp>
      <p:pic>
        <p:nvPicPr>
          <p:cNvPr id="10" name="Picture 9">
            <a:extLst>
              <a:ext uri="{FF2B5EF4-FFF2-40B4-BE49-F238E27FC236}">
                <a16:creationId xmlns:a16="http://schemas.microsoft.com/office/drawing/2014/main" id="{8074EC74-E833-F2C3-DCB9-B41E75E2E839}"/>
              </a:ext>
            </a:extLst>
          </p:cNvPr>
          <p:cNvPicPr>
            <a:picLocks noChangeAspect="1"/>
          </p:cNvPicPr>
          <p:nvPr/>
        </p:nvPicPr>
        <p:blipFill>
          <a:blip r:embed="rId2"/>
          <a:stretch>
            <a:fillRect/>
          </a:stretch>
        </p:blipFill>
        <p:spPr>
          <a:xfrm>
            <a:off x="254363" y="1391136"/>
            <a:ext cx="3595216" cy="646331"/>
          </a:xfrm>
          <a:prstGeom prst="rect">
            <a:avLst/>
          </a:prstGeom>
        </p:spPr>
      </p:pic>
    </p:spTree>
    <p:extLst>
      <p:ext uri="{BB962C8B-B14F-4D97-AF65-F5344CB8AC3E}">
        <p14:creationId xmlns:p14="http://schemas.microsoft.com/office/powerpoint/2010/main" val="123157655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C8B5D90-2293-1DB1-557E-9F160B2A45FD}"/>
              </a:ext>
            </a:extLst>
          </p:cNvPr>
          <p:cNvSpPr txBox="1"/>
          <p:nvPr/>
        </p:nvSpPr>
        <p:spPr>
          <a:xfrm>
            <a:off x="685800" y="1044891"/>
            <a:ext cx="2155054" cy="369332"/>
          </a:xfrm>
          <a:prstGeom prst="rect">
            <a:avLst/>
          </a:prstGeom>
          <a:noFill/>
        </p:spPr>
        <p:txBody>
          <a:bodyPr wrap="square">
            <a:spAutoFit/>
          </a:bodyPr>
          <a:lstStyle/>
          <a:p>
            <a:r>
              <a:rPr lang="en-US" dirty="0"/>
              <a:t>https://typeset.io/</a:t>
            </a:r>
          </a:p>
        </p:txBody>
      </p:sp>
      <p:sp>
        <p:nvSpPr>
          <p:cNvPr id="6" name="Title 1">
            <a:extLst>
              <a:ext uri="{FF2B5EF4-FFF2-40B4-BE49-F238E27FC236}">
                <a16:creationId xmlns:a16="http://schemas.microsoft.com/office/drawing/2014/main" id="{06118959-1850-3C66-D631-B804BFDF3767}"/>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altLang="en-US" sz="3600" dirty="0">
                <a:solidFill>
                  <a:schemeClr val="bg1"/>
                </a:solidFill>
                <a:latin typeface="Calibri" panose="020F0502020204030204" pitchFamily="34" charset="0"/>
                <a:cs typeface="Calibri" panose="020F0502020204030204" pitchFamily="34" charset="0"/>
              </a:rPr>
              <a:t>ხელოვნური ინტელექტი (</a:t>
            </a:r>
            <a:r>
              <a:rPr lang="en-US" altLang="en-US" sz="3600" dirty="0">
                <a:solidFill>
                  <a:schemeClr val="bg1"/>
                </a:solidFill>
                <a:latin typeface="Calibri" panose="020F0502020204030204" pitchFamily="34" charset="0"/>
                <a:cs typeface="Calibri" panose="020F0502020204030204" pitchFamily="34" charset="0"/>
              </a:rPr>
              <a:t>AI</a:t>
            </a:r>
            <a:r>
              <a:rPr lang="ka-GE" altLang="en-US" sz="3600" dirty="0">
                <a:solidFill>
                  <a:schemeClr val="bg1"/>
                </a:solidFill>
                <a:latin typeface="Calibri" panose="020F0502020204030204" pitchFamily="34" charset="0"/>
                <a:cs typeface="Calibri" panose="020F0502020204030204" pitchFamily="34" charset="0"/>
              </a:rPr>
              <a:t>), როგორც დამხმარე</a:t>
            </a:r>
            <a:r>
              <a:rPr lang="en-US" altLang="en-US" sz="3600" dirty="0">
                <a:solidFill>
                  <a:schemeClr val="bg1"/>
                </a:solidFill>
                <a:latin typeface="Calibri" panose="020F0502020204030204" pitchFamily="34" charset="0"/>
                <a:cs typeface="Calibri" panose="020F0502020204030204" pitchFamily="34" charset="0"/>
              </a:rPr>
              <a:t> </a:t>
            </a:r>
            <a:r>
              <a:rPr lang="ka-GE" altLang="en-US" sz="3600" dirty="0">
                <a:solidFill>
                  <a:schemeClr val="bg1"/>
                </a:solidFill>
                <a:latin typeface="Calibri" panose="020F0502020204030204" pitchFamily="34" charset="0"/>
                <a:cs typeface="Calibri" panose="020F0502020204030204" pitchFamily="34" charset="0"/>
              </a:rPr>
              <a:t> </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1F3B07F-2F1B-7CF3-E4D7-75F5BC7E966A}"/>
              </a:ext>
            </a:extLst>
          </p:cNvPr>
          <p:cNvSpPr txBox="1"/>
          <p:nvPr/>
        </p:nvSpPr>
        <p:spPr>
          <a:xfrm>
            <a:off x="685800" y="1734675"/>
            <a:ext cx="1107489" cy="369332"/>
          </a:xfrm>
          <a:prstGeom prst="rect">
            <a:avLst/>
          </a:prstGeom>
          <a:noFill/>
        </p:spPr>
        <p:txBody>
          <a:bodyPr wrap="square">
            <a:spAutoFit/>
          </a:bodyPr>
          <a:lstStyle/>
          <a:p>
            <a:pPr algn="l"/>
            <a:r>
              <a:rPr lang="en-US" b="1" i="0" u="none" strike="noStrike" dirty="0">
                <a:solidFill>
                  <a:srgbClr val="65676B"/>
                </a:solidFill>
                <a:effectLst/>
                <a:latin typeface="inherit"/>
                <a:hlinkClick r:id="rId2"/>
              </a:rPr>
              <a:t>scite.ai</a:t>
            </a:r>
            <a:endParaRPr lang="en-US" b="1" i="0" dirty="0">
              <a:solidFill>
                <a:srgbClr val="65676B"/>
              </a:solidFill>
              <a:effectLst/>
              <a:latin typeface="Segoe UI Historic" panose="020B0502040204020203" pitchFamily="34" charset="0"/>
            </a:endParaRPr>
          </a:p>
        </p:txBody>
      </p:sp>
      <p:sp>
        <p:nvSpPr>
          <p:cNvPr id="13" name="TextBox 12">
            <a:extLst>
              <a:ext uri="{FF2B5EF4-FFF2-40B4-BE49-F238E27FC236}">
                <a16:creationId xmlns:a16="http://schemas.microsoft.com/office/drawing/2014/main" id="{4BD643F0-E3AF-F173-1730-D8532DD3598E}"/>
              </a:ext>
            </a:extLst>
          </p:cNvPr>
          <p:cNvSpPr txBox="1"/>
          <p:nvPr/>
        </p:nvSpPr>
        <p:spPr>
          <a:xfrm>
            <a:off x="623656" y="2104007"/>
            <a:ext cx="10127202" cy="2308324"/>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შესაძლებლობები</a:t>
            </a:r>
            <a:r>
              <a:rPr lang="ka-GE"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Scite.ai </a:t>
            </a:r>
            <a:r>
              <a:rPr lang="ka-GE" dirty="0">
                <a:latin typeface="Calibri" panose="020F0502020204030204" pitchFamily="34" charset="0"/>
                <a:cs typeface="Calibri" panose="020F0502020204030204" pitchFamily="34" charset="0"/>
              </a:rPr>
              <a:t>იყენებს </a:t>
            </a:r>
            <a:r>
              <a:rPr lang="en-US" dirty="0">
                <a:latin typeface="Calibri" panose="020F0502020204030204" pitchFamily="34" charset="0"/>
                <a:cs typeface="Calibri" panose="020F0502020204030204" pitchFamily="34" charset="0"/>
              </a:rPr>
              <a:t>AI-</a:t>
            </a:r>
            <a:r>
              <a:rPr lang="ka-GE" dirty="0">
                <a:latin typeface="Calibri" panose="020F0502020204030204" pitchFamily="34" charset="0"/>
                <a:cs typeface="Calibri" panose="020F0502020204030204" pitchFamily="34" charset="0"/>
              </a:rPr>
              <a:t>ს პუბლიკაციების ციტირების კონტექსტის ანალიზისთვის. ის არა მხოლოდ აჩვენებს, რამდენჯერ არის სტატია ციტირებული, არამედ როგორ გამოიყენება ეს ციტატები — დადებითი, უარყოფითი ან ნეიტრალური კონტექსტით.</a:t>
            </a:r>
            <a:endParaRPr lang="en-US" dirty="0">
              <a:latin typeface="Calibri" panose="020F0502020204030204" pitchFamily="34" charset="0"/>
              <a:cs typeface="Calibri" panose="020F0502020204030204" pitchFamily="34" charset="0"/>
            </a:endParaRPr>
          </a:p>
          <a:p>
            <a:endParaRPr lang="en-US" dirty="0">
              <a:latin typeface="Calibri" panose="020F0502020204030204" pitchFamily="34" charset="0"/>
              <a:cs typeface="Calibri" panose="020F0502020204030204" pitchFamily="34" charset="0"/>
            </a:endParaRPr>
          </a:p>
          <a:p>
            <a:r>
              <a:rPr lang="ka-GE" b="1" dirty="0">
                <a:latin typeface="Calibri" panose="020F0502020204030204" pitchFamily="34" charset="0"/>
                <a:cs typeface="Calibri" panose="020F0502020204030204" pitchFamily="34" charset="0"/>
              </a:rPr>
              <a:t>უპირატესობები</a:t>
            </a:r>
            <a:r>
              <a:rPr lang="ka-GE" dirty="0">
                <a:latin typeface="Calibri" panose="020F0502020204030204" pitchFamily="34" charset="0"/>
                <a:cs typeface="Calibri" panose="020F0502020204030204" pitchFamily="34" charset="0"/>
              </a:rPr>
              <a:t>:</a:t>
            </a:r>
            <a:endParaRPr lang="en-US" dirty="0">
              <a:latin typeface="Calibri" panose="020F0502020204030204" pitchFamily="34" charset="0"/>
              <a:cs typeface="Calibri" panose="020F0502020204030204" pitchFamily="34" charset="0"/>
            </a:endParaRPr>
          </a:p>
          <a:p>
            <a:pPr indent="-285750">
              <a:buFont typeface="Arial" panose="020B0604020202020204" pitchFamily="34" charset="0"/>
              <a:buChar char="•"/>
            </a:pPr>
            <a:r>
              <a:rPr lang="ka-GE" dirty="0">
                <a:latin typeface="Calibri" panose="020F0502020204030204" pitchFamily="34" charset="0"/>
                <a:cs typeface="Calibri" panose="020F0502020204030204" pitchFamily="34" charset="0"/>
              </a:rPr>
              <a:t>სტატიის ციტატების ტიპის ანალიზი (დადასტურება, უარყოფა, განხილვა).</a:t>
            </a:r>
          </a:p>
          <a:p>
            <a:pPr>
              <a:buFont typeface="Arial" panose="020B0604020202020204" pitchFamily="34" charset="0"/>
              <a:buChar char="•"/>
            </a:pP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ციტირების კონტექსტის ავტომატური აღქმა.</a:t>
            </a:r>
          </a:p>
          <a:p>
            <a:pPr>
              <a:buFont typeface="Arial" panose="020B0604020202020204" pitchFamily="34" charset="0"/>
              <a:buChar char="•"/>
            </a:pP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კვლევითი პროცესის ოპტიმიზაცია და მნიშვნელოვანი კვლევების სწრაფი პოვნა.</a:t>
            </a:r>
            <a:endParaRPr lang="en-US"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7F5E3BD0-F4E0-AAAF-06D7-1D2F47DE932D}"/>
              </a:ext>
            </a:extLst>
          </p:cNvPr>
          <p:cNvSpPr txBox="1"/>
          <p:nvPr/>
        </p:nvSpPr>
        <p:spPr>
          <a:xfrm>
            <a:off x="3349100" y="1021761"/>
            <a:ext cx="6094520" cy="369332"/>
          </a:xfrm>
          <a:prstGeom prst="rect">
            <a:avLst/>
          </a:prstGeom>
          <a:noFill/>
        </p:spPr>
        <p:txBody>
          <a:bodyPr wrap="square">
            <a:spAutoFit/>
          </a:bodyPr>
          <a:lstStyle/>
          <a:p>
            <a:pPr algn="l"/>
            <a:r>
              <a:rPr lang="en-US" b="0" i="0" dirty="0">
                <a:solidFill>
                  <a:srgbClr val="1C1E21"/>
                </a:solidFill>
                <a:effectLst/>
                <a:latin typeface="inherit"/>
              </a:rPr>
              <a:t>Explainpaper.com</a:t>
            </a:r>
          </a:p>
        </p:txBody>
      </p:sp>
    </p:spTree>
    <p:extLst>
      <p:ext uri="{BB962C8B-B14F-4D97-AF65-F5344CB8AC3E}">
        <p14:creationId xmlns:p14="http://schemas.microsoft.com/office/powerpoint/2010/main" val="155017898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a:extLst>
              <a:ext uri="{FF2B5EF4-FFF2-40B4-BE49-F238E27FC236}">
                <a16:creationId xmlns:a16="http://schemas.microsoft.com/office/drawing/2014/main" id="{06118959-1850-3C66-D631-B804BFDF3767}"/>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altLang="en-US" sz="3600" dirty="0">
                <a:solidFill>
                  <a:schemeClr val="bg1"/>
                </a:solidFill>
                <a:latin typeface="Calibri" panose="020F0502020204030204" pitchFamily="34" charset="0"/>
                <a:cs typeface="Calibri" panose="020F0502020204030204" pitchFamily="34" charset="0"/>
              </a:rPr>
              <a:t>ხელოვნური ინტელექტი (</a:t>
            </a:r>
            <a:r>
              <a:rPr lang="en-US" altLang="en-US" sz="3600" dirty="0">
                <a:solidFill>
                  <a:schemeClr val="bg1"/>
                </a:solidFill>
                <a:latin typeface="Calibri" panose="020F0502020204030204" pitchFamily="34" charset="0"/>
                <a:cs typeface="Calibri" panose="020F0502020204030204" pitchFamily="34" charset="0"/>
              </a:rPr>
              <a:t>AI</a:t>
            </a:r>
            <a:r>
              <a:rPr lang="ka-GE" altLang="en-US" sz="3600" dirty="0">
                <a:solidFill>
                  <a:schemeClr val="bg1"/>
                </a:solidFill>
                <a:latin typeface="Calibri" panose="020F0502020204030204" pitchFamily="34" charset="0"/>
                <a:cs typeface="Calibri" panose="020F0502020204030204" pitchFamily="34" charset="0"/>
              </a:rPr>
              <a:t>), როგორც დამხმარე</a:t>
            </a:r>
            <a:r>
              <a:rPr lang="en-US" altLang="en-US" sz="3600" dirty="0">
                <a:solidFill>
                  <a:schemeClr val="bg1"/>
                </a:solidFill>
                <a:latin typeface="Calibri" panose="020F0502020204030204" pitchFamily="34" charset="0"/>
                <a:cs typeface="Calibri" panose="020F0502020204030204" pitchFamily="34" charset="0"/>
              </a:rPr>
              <a:t> </a:t>
            </a:r>
            <a:r>
              <a:rPr lang="ka-GE" altLang="en-US" sz="3600" dirty="0">
                <a:solidFill>
                  <a:schemeClr val="bg1"/>
                </a:solidFill>
                <a:latin typeface="Calibri" panose="020F0502020204030204" pitchFamily="34" charset="0"/>
                <a:cs typeface="Calibri" panose="020F0502020204030204" pitchFamily="34" charset="0"/>
              </a:rPr>
              <a:t> </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4BD643F0-E3AF-F173-1730-D8532DD3598E}"/>
              </a:ext>
            </a:extLst>
          </p:cNvPr>
          <p:cNvSpPr txBox="1"/>
          <p:nvPr/>
        </p:nvSpPr>
        <p:spPr>
          <a:xfrm>
            <a:off x="863354" y="594804"/>
            <a:ext cx="11050480" cy="2954655"/>
          </a:xfrm>
          <a:prstGeom prst="rect">
            <a:avLst/>
          </a:prstGeom>
          <a:noFill/>
        </p:spPr>
        <p:txBody>
          <a:bodyPr wrap="square">
            <a:spAutoFit/>
          </a:bodyPr>
          <a:lstStyle/>
          <a:p>
            <a:r>
              <a:rPr lang="en-US" sz="2400" b="1" dirty="0">
                <a:solidFill>
                  <a:srgbClr val="0070C0"/>
                </a:solidFill>
                <a:latin typeface="Calibri" panose="020F0502020204030204" pitchFamily="34" charset="0"/>
                <a:cs typeface="Calibri" panose="020F0502020204030204" pitchFamily="34" charset="0"/>
              </a:rPr>
              <a:t>Iris.ai</a:t>
            </a:r>
          </a:p>
          <a:p>
            <a:endParaRPr lang="en-US" b="1" dirty="0">
              <a:latin typeface="Calibri" panose="020F0502020204030204" pitchFamily="34" charset="0"/>
              <a:cs typeface="Calibri" panose="020F0502020204030204" pitchFamily="34" charset="0"/>
            </a:endParaRPr>
          </a:p>
          <a:p>
            <a:pPr>
              <a:buFont typeface="Arial" panose="020B0604020202020204" pitchFamily="34" charset="0"/>
              <a:buChar char="•"/>
            </a:pPr>
            <a:r>
              <a:rPr lang="en-US" b="1" dirty="0">
                <a:latin typeface="Calibri" panose="020F0502020204030204" pitchFamily="34" charset="0"/>
                <a:cs typeface="Calibri" panose="020F0502020204030204" pitchFamily="34" charset="0"/>
              </a:rPr>
              <a:t> </a:t>
            </a:r>
            <a:r>
              <a:rPr lang="ka-GE" b="1" dirty="0">
                <a:latin typeface="Calibri" panose="020F0502020204030204" pitchFamily="34" charset="0"/>
                <a:cs typeface="Calibri" panose="020F0502020204030204" pitchFamily="34" charset="0"/>
              </a:rPr>
              <a:t>შესაძლებლობები</a:t>
            </a:r>
            <a:r>
              <a:rPr lang="ka-GE"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Iris.ai </a:t>
            </a:r>
            <a:r>
              <a:rPr lang="ka-GE" dirty="0">
                <a:latin typeface="Calibri" panose="020F0502020204030204" pitchFamily="34" charset="0"/>
                <a:cs typeface="Calibri" panose="020F0502020204030204" pitchFamily="34" charset="0"/>
              </a:rPr>
              <a:t>იყენებს ხელოვნურ ინტელექტს სამეცნიერო ნაშრომების მოპოვებისას, რაც კვლევითი პროცესების ავტომატიზაციას ახდენს. მისი </a:t>
            </a:r>
            <a:r>
              <a:rPr lang="en-US" dirty="0">
                <a:latin typeface="Calibri" panose="020F0502020204030204" pitchFamily="34" charset="0"/>
                <a:cs typeface="Calibri" panose="020F0502020204030204" pitchFamily="34" charset="0"/>
              </a:rPr>
              <a:t>AI </a:t>
            </a:r>
            <a:r>
              <a:rPr lang="ka-GE" dirty="0">
                <a:latin typeface="Calibri" panose="020F0502020204030204" pitchFamily="34" charset="0"/>
                <a:cs typeface="Calibri" panose="020F0502020204030204" pitchFamily="34" charset="0"/>
              </a:rPr>
              <a:t>მოდელები აღიარებენ კვლევითი თეზისების მნიშვნელობას და მათთან დაკავშირებულ სტატიებს.</a:t>
            </a:r>
          </a:p>
          <a:p>
            <a:pPr>
              <a:buFont typeface="Arial" panose="020B0604020202020204" pitchFamily="34" charset="0"/>
              <a:buChar char="•"/>
            </a:pPr>
            <a:endParaRPr lang="ka-GE" dirty="0">
              <a:latin typeface="Calibri" panose="020F0502020204030204" pitchFamily="34" charset="0"/>
              <a:cs typeface="Calibri" panose="020F0502020204030204" pitchFamily="34" charset="0"/>
            </a:endParaRPr>
          </a:p>
          <a:p>
            <a:r>
              <a:rPr lang="ka-GE" b="1" dirty="0">
                <a:latin typeface="Calibri" panose="020F0502020204030204" pitchFamily="34" charset="0"/>
                <a:cs typeface="Calibri" panose="020F0502020204030204" pitchFamily="34" charset="0"/>
              </a:rPr>
              <a:t>უპირატესობები</a:t>
            </a:r>
            <a:r>
              <a:rPr lang="ka-GE" dirty="0">
                <a:latin typeface="Calibri" panose="020F0502020204030204" pitchFamily="34" charset="0"/>
                <a:cs typeface="Calibri" panose="020F0502020204030204" pitchFamily="34" charset="0"/>
              </a:rPr>
              <a:t>:</a:t>
            </a:r>
          </a:p>
          <a:p>
            <a:pPr marL="742950" lvl="1" indent="-285750">
              <a:buFont typeface="Arial" panose="020B0604020202020204" pitchFamily="34" charset="0"/>
              <a:buChar char="•"/>
            </a:pPr>
            <a:r>
              <a:rPr lang="ka-GE" dirty="0" err="1">
                <a:latin typeface="Calibri" panose="020F0502020204030204" pitchFamily="34" charset="0"/>
                <a:cs typeface="Calibri" panose="020F0502020204030204" pitchFamily="34" charset="0"/>
              </a:rPr>
              <a:t>ნეირონული</a:t>
            </a:r>
            <a:r>
              <a:rPr lang="ka-GE" dirty="0">
                <a:latin typeface="Calibri" panose="020F0502020204030204" pitchFamily="34" charset="0"/>
                <a:cs typeface="Calibri" panose="020F0502020204030204" pitchFamily="34" charset="0"/>
              </a:rPr>
              <a:t> ქსელის გამოყენება კვლევის ძირითადი საკითხების დასადგენად.</a:t>
            </a:r>
          </a:p>
          <a:p>
            <a:pPr marL="742950" lvl="1" indent="-285750">
              <a:buFont typeface="Arial" panose="020B0604020202020204" pitchFamily="34" charset="0"/>
              <a:buChar char="•"/>
            </a:pPr>
            <a:r>
              <a:rPr lang="ka-GE" dirty="0">
                <a:latin typeface="Calibri" panose="020F0502020204030204" pitchFamily="34" charset="0"/>
                <a:cs typeface="Calibri" panose="020F0502020204030204" pitchFamily="34" charset="0"/>
              </a:rPr>
              <a:t>ავტომატური ანოტაციების შექმნა.</a:t>
            </a:r>
          </a:p>
          <a:p>
            <a:pPr marL="742950" lvl="1" indent="-285750">
              <a:buFont typeface="Arial" panose="020B0604020202020204" pitchFamily="34" charset="0"/>
              <a:buChar char="•"/>
            </a:pPr>
            <a:r>
              <a:rPr lang="ka-GE" dirty="0">
                <a:latin typeface="Calibri" panose="020F0502020204030204" pitchFamily="34" charset="0"/>
                <a:cs typeface="Calibri" panose="020F0502020204030204" pitchFamily="34" charset="0"/>
              </a:rPr>
              <a:t>შესაბამისი სტატიების სწრაფი პოვნა და ანალიზი.</a:t>
            </a:r>
          </a:p>
        </p:txBody>
      </p:sp>
    </p:spTree>
    <p:extLst>
      <p:ext uri="{BB962C8B-B14F-4D97-AF65-F5344CB8AC3E}">
        <p14:creationId xmlns:p14="http://schemas.microsoft.com/office/powerpoint/2010/main" val="169087519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10DA0-27D0-267F-38D8-16C092E67358}"/>
              </a:ext>
            </a:extLst>
          </p:cNvPr>
          <p:cNvSpPr>
            <a:spLocks noGrp="1"/>
          </p:cNvSpPr>
          <p:nvPr>
            <p:ph type="title"/>
          </p:nvPr>
        </p:nvSpPr>
        <p:spPr>
          <a:xfrm>
            <a:off x="1747342" y="663560"/>
            <a:ext cx="2401025" cy="799150"/>
          </a:xfrm>
        </p:spPr>
        <p:txBody>
          <a:bodyPr anchor="b">
            <a:noAutofit/>
          </a:bodyPr>
          <a:lstStyle/>
          <a:p>
            <a:pPr algn="r"/>
            <a:r>
              <a:rPr lang="ka-GE" sz="2400" dirty="0">
                <a:solidFill>
                  <a:schemeClr val="bg1"/>
                </a:solidFill>
                <a:latin typeface="Calibri" panose="020F0502020204030204" pitchFamily="34" charset="0"/>
                <a:cs typeface="Calibri" panose="020F0502020204030204" pitchFamily="34" charset="0"/>
              </a:rPr>
              <a:t>ციტირების ინდექსი (</a:t>
            </a:r>
            <a:r>
              <a:rPr lang="en-US" sz="2400" dirty="0">
                <a:solidFill>
                  <a:schemeClr val="bg1"/>
                </a:solidFill>
                <a:latin typeface="Calibri" panose="020F0502020204030204" pitchFamily="34" charset="0"/>
                <a:cs typeface="Calibri" panose="020F0502020204030204" pitchFamily="34" charset="0"/>
              </a:rPr>
              <a:t>Citation Index)</a:t>
            </a:r>
          </a:p>
        </p:txBody>
      </p:sp>
      <p:sp>
        <p:nvSpPr>
          <p:cNvPr id="3" name="Content Placeholder 2">
            <a:extLst>
              <a:ext uri="{FF2B5EF4-FFF2-40B4-BE49-F238E27FC236}">
                <a16:creationId xmlns:a16="http://schemas.microsoft.com/office/drawing/2014/main" id="{2A7649B6-5AF3-487D-B900-341F8B8C1691}"/>
              </a:ext>
            </a:extLst>
          </p:cNvPr>
          <p:cNvSpPr>
            <a:spLocks noGrp="1"/>
          </p:cNvSpPr>
          <p:nvPr>
            <p:ph idx="1"/>
          </p:nvPr>
        </p:nvSpPr>
        <p:spPr>
          <a:xfrm>
            <a:off x="4683588" y="751957"/>
            <a:ext cx="6058791" cy="1072788"/>
          </a:xfrm>
        </p:spPr>
        <p:txBody>
          <a:bodyPr anchor="ctr">
            <a:noAutofit/>
          </a:bodyPr>
          <a:lstStyle/>
          <a:p>
            <a:pPr marL="0" indent="0">
              <a:buNone/>
            </a:pPr>
            <a:r>
              <a:rPr lang="en-US" sz="1800" dirty="0">
                <a:latin typeface="Calibri" panose="020F0502020204030204" pitchFamily="34" charset="0"/>
                <a:cs typeface="Calibri" panose="020F0502020204030204" pitchFamily="34" charset="0"/>
              </a:rPr>
              <a:t>- </a:t>
            </a:r>
            <a:r>
              <a:rPr lang="ka-GE" sz="1800" dirty="0">
                <a:latin typeface="Calibri" panose="020F0502020204030204" pitchFamily="34" charset="0"/>
                <a:cs typeface="Calibri" panose="020F0502020204030204" pitchFamily="34" charset="0"/>
              </a:rPr>
              <a:t>არის მეცნიერულ კვლევებში ერთ-ერთი ყველაზე მნიშვნელოვანი მაჩვენებელი, რომელითაც განისაზღვრება, რამდენჯერ არის აღნიშნული (ან </a:t>
            </a:r>
            <a:r>
              <a:rPr lang="ka-GE" sz="1800" b="1" dirty="0">
                <a:latin typeface="Calibri" panose="020F0502020204030204" pitchFamily="34" charset="0"/>
                <a:cs typeface="Calibri" panose="020F0502020204030204" pitchFamily="34" charset="0"/>
              </a:rPr>
              <a:t>ციტირებული</a:t>
            </a:r>
            <a:r>
              <a:rPr lang="ka-GE" sz="1800" dirty="0">
                <a:latin typeface="Calibri" panose="020F0502020204030204" pitchFamily="34" charset="0"/>
                <a:cs typeface="Calibri" panose="020F0502020204030204" pitchFamily="34" charset="0"/>
              </a:rPr>
              <a:t>) კონკრეტული ავტორის ნაშრომი სხვა ავტორების ნაშრომებში. ეს ინდექსი გვაჩვენებს ნაშრომის გავლენას და </a:t>
            </a:r>
            <a:r>
              <a:rPr lang="ka-GE" sz="1800" dirty="0" err="1">
                <a:latin typeface="Calibri" panose="020F0502020204030204" pitchFamily="34" charset="0"/>
                <a:cs typeface="Calibri" panose="020F0502020204030204" pitchFamily="34" charset="0"/>
              </a:rPr>
              <a:t>რელევანტურობას</a:t>
            </a:r>
            <a:r>
              <a:rPr lang="ka-GE" sz="1800" dirty="0">
                <a:latin typeface="Calibri" panose="020F0502020204030204" pitchFamily="34" charset="0"/>
                <a:cs typeface="Calibri" panose="020F0502020204030204" pitchFamily="34" charset="0"/>
              </a:rPr>
              <a:t> შესაბამის დარგში.</a:t>
            </a:r>
            <a:endParaRPr lang="en-US" sz="1800" dirty="0">
              <a:latin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C3537CDF-466B-D84B-E158-C260C2DA662C}"/>
              </a:ext>
            </a:extLst>
          </p:cNvPr>
          <p:cNvSpPr txBox="1">
            <a:spLocks/>
          </p:cNvSpPr>
          <p:nvPr/>
        </p:nvSpPr>
        <p:spPr>
          <a:xfrm>
            <a:off x="1543786" y="3330265"/>
            <a:ext cx="2654423" cy="405964"/>
          </a:xfrm>
          <a:prstGeom prst="rect">
            <a:avLst/>
          </a:prstGeom>
        </p:spPr>
        <p:txBody>
          <a:bodyPr vert="horz" lIns="91440" tIns="45720" rIns="91440" bIns="45720" rtlCol="0" anchor="b">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r"/>
            <a:r>
              <a:rPr lang="ka-GE" sz="2400" dirty="0">
                <a:solidFill>
                  <a:schemeClr val="bg1"/>
                </a:solidFill>
                <a:latin typeface="Calibri" panose="020F0502020204030204" pitchFamily="34" charset="0"/>
                <a:cs typeface="Calibri" panose="020F0502020204030204" pitchFamily="34" charset="0"/>
              </a:rPr>
              <a:t>ციტირების ინდექსის მნიშვნელოვნება</a:t>
            </a:r>
            <a:endParaRPr lang="en-US" sz="2400" dirty="0">
              <a:solidFill>
                <a:schemeClr val="bg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8580585-7D1F-4294-A69C-9BE5BE8A9DB5}"/>
              </a:ext>
            </a:extLst>
          </p:cNvPr>
          <p:cNvSpPr txBox="1"/>
          <p:nvPr/>
        </p:nvSpPr>
        <p:spPr>
          <a:xfrm>
            <a:off x="4760727" y="2574185"/>
            <a:ext cx="5780653" cy="1477328"/>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ზეგავლენა:</a:t>
            </a:r>
            <a:r>
              <a:rPr lang="ka-GE" dirty="0">
                <a:latin typeface="Calibri" panose="020F0502020204030204" pitchFamily="34" charset="0"/>
                <a:cs typeface="Calibri" panose="020F0502020204030204" pitchFamily="34" charset="0"/>
              </a:rPr>
              <a:t> ციტირების ინდექსი მიუთითებს, თუ რამდენად მნიშვნელოვანი და გავლენიანია ნაშრომი ან ავტორი აკადემიურ საზოგადოებაში. ნაშრომების მაღალი ციტირება ნიშნავს, რომ მას ხშირად იყენებენ და ახსენებენ სხვა ავტორები.</a:t>
            </a:r>
            <a:endParaRPr lang="en-US" dirty="0">
              <a:latin typeface="Calibri" panose="020F0502020204030204" pitchFamily="34" charset="0"/>
              <a:cs typeface="Calibri" panose="020F0502020204030204" pitchFamily="34" charset="0"/>
            </a:endParaRPr>
          </a:p>
        </p:txBody>
      </p:sp>
      <p:sp>
        <p:nvSpPr>
          <p:cNvPr id="11" name="TextBox 10">
            <a:extLst>
              <a:ext uri="{FF2B5EF4-FFF2-40B4-BE49-F238E27FC236}">
                <a16:creationId xmlns:a16="http://schemas.microsoft.com/office/drawing/2014/main" id="{A4024C72-73FB-A435-1570-401740168302}"/>
              </a:ext>
            </a:extLst>
          </p:cNvPr>
          <p:cNvSpPr txBox="1"/>
          <p:nvPr/>
        </p:nvSpPr>
        <p:spPr>
          <a:xfrm>
            <a:off x="4748815" y="4061655"/>
            <a:ext cx="5851675" cy="923330"/>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ხარისხის მაჩვენებელი:</a:t>
            </a:r>
            <a:r>
              <a:rPr lang="ka-GE" dirty="0">
                <a:latin typeface="Calibri" panose="020F0502020204030204" pitchFamily="34" charset="0"/>
                <a:cs typeface="Calibri" panose="020F0502020204030204" pitchFamily="34" charset="0"/>
              </a:rPr>
              <a:t> აკადემიურ სფეროში ნაშრომის მაღალი ციტირება ხშირად აღიქმება როგორც მისი ხარისხისა და მნიშვნელობის აღიარება.</a:t>
            </a:r>
            <a:endParaRPr lang="en-US" dirty="0">
              <a:latin typeface="Calibri" panose="020F0502020204030204" pitchFamily="34" charset="0"/>
              <a:cs typeface="Calibri" panose="020F0502020204030204" pitchFamily="34" charset="0"/>
            </a:endParaRPr>
          </a:p>
        </p:txBody>
      </p:sp>
      <p:sp>
        <p:nvSpPr>
          <p:cNvPr id="15" name="TextBox 14">
            <a:extLst>
              <a:ext uri="{FF2B5EF4-FFF2-40B4-BE49-F238E27FC236}">
                <a16:creationId xmlns:a16="http://schemas.microsoft.com/office/drawing/2014/main" id="{014A441E-FF59-7C49-2694-3F339A3BA518}"/>
              </a:ext>
            </a:extLst>
          </p:cNvPr>
          <p:cNvSpPr txBox="1"/>
          <p:nvPr/>
        </p:nvSpPr>
        <p:spPr>
          <a:xfrm>
            <a:off x="4748814" y="5033256"/>
            <a:ext cx="5993564" cy="1477328"/>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კარიერული წინსვლა:</a:t>
            </a:r>
            <a:r>
              <a:rPr lang="ka-GE" dirty="0">
                <a:latin typeface="Calibri" panose="020F0502020204030204" pitchFamily="34" charset="0"/>
                <a:cs typeface="Calibri" panose="020F0502020204030204" pitchFamily="34" charset="0"/>
              </a:rPr>
              <a:t> ავტორებისთვის ციტირების ინდექსი ხშირად ითვლება მეცნიერული წარმატების ერთ-ერთ კრიტერიუმად, რომელიც გავლენას ახდენს აკადემიურ შეფასებებზე, დაფინანსების შესაძლებლობებზე და დაწინაურებებზე.</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3419081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C10DA0-27D0-267F-38D8-16C092E67358}"/>
              </a:ext>
            </a:extLst>
          </p:cNvPr>
          <p:cNvSpPr>
            <a:spLocks noGrp="1"/>
          </p:cNvSpPr>
          <p:nvPr>
            <p:ph type="title"/>
          </p:nvPr>
        </p:nvSpPr>
        <p:spPr>
          <a:xfrm>
            <a:off x="1747342" y="663560"/>
            <a:ext cx="2401025" cy="799150"/>
          </a:xfrm>
        </p:spPr>
        <p:txBody>
          <a:bodyPr anchor="b">
            <a:noAutofit/>
          </a:bodyPr>
          <a:lstStyle/>
          <a:p>
            <a:pPr algn="r"/>
            <a:r>
              <a:rPr lang="ka-GE" sz="2400" dirty="0">
                <a:solidFill>
                  <a:schemeClr val="bg1"/>
                </a:solidFill>
                <a:latin typeface="Calibri" panose="020F0502020204030204" pitchFamily="34" charset="0"/>
                <a:cs typeface="Calibri" panose="020F0502020204030204" pitchFamily="34" charset="0"/>
              </a:rPr>
              <a:t>ციტირების ინდექსი (</a:t>
            </a:r>
            <a:r>
              <a:rPr lang="en-US" sz="2400" dirty="0">
                <a:solidFill>
                  <a:schemeClr val="bg1"/>
                </a:solidFill>
                <a:latin typeface="Calibri" panose="020F0502020204030204" pitchFamily="34" charset="0"/>
                <a:cs typeface="Calibri" panose="020F0502020204030204" pitchFamily="34" charset="0"/>
              </a:rPr>
              <a:t>Citation Index)</a:t>
            </a:r>
          </a:p>
        </p:txBody>
      </p:sp>
      <p:sp>
        <p:nvSpPr>
          <p:cNvPr id="3" name="Content Placeholder 2">
            <a:extLst>
              <a:ext uri="{FF2B5EF4-FFF2-40B4-BE49-F238E27FC236}">
                <a16:creationId xmlns:a16="http://schemas.microsoft.com/office/drawing/2014/main" id="{2A7649B6-5AF3-487D-B900-341F8B8C1691}"/>
              </a:ext>
            </a:extLst>
          </p:cNvPr>
          <p:cNvSpPr>
            <a:spLocks noGrp="1"/>
          </p:cNvSpPr>
          <p:nvPr>
            <p:ph idx="1"/>
          </p:nvPr>
        </p:nvSpPr>
        <p:spPr>
          <a:xfrm>
            <a:off x="292963" y="936131"/>
            <a:ext cx="11647503" cy="1072788"/>
          </a:xfrm>
        </p:spPr>
        <p:txBody>
          <a:bodyPr anchor="ctr">
            <a:noAutofit/>
          </a:bodyPr>
          <a:lstStyle/>
          <a:p>
            <a:pPr marL="0" indent="0">
              <a:buNone/>
            </a:pPr>
            <a:r>
              <a:rPr lang="en-US" sz="1800" b="1" dirty="0">
                <a:solidFill>
                  <a:schemeClr val="tx2">
                    <a:lumMod val="60000"/>
                    <a:lumOff val="40000"/>
                  </a:schemeClr>
                </a:solidFill>
                <a:latin typeface="Calibri" panose="020F0502020204030204" pitchFamily="34" charset="0"/>
                <a:cs typeface="Calibri" panose="020F0502020204030204" pitchFamily="34" charset="0"/>
              </a:rPr>
              <a:t>1. H-</a:t>
            </a:r>
            <a:r>
              <a:rPr lang="ka-GE" sz="1800" b="1" dirty="0">
                <a:solidFill>
                  <a:schemeClr val="tx2">
                    <a:lumMod val="60000"/>
                    <a:lumOff val="40000"/>
                  </a:schemeClr>
                </a:solidFill>
                <a:latin typeface="Calibri" panose="020F0502020204030204" pitchFamily="34" charset="0"/>
                <a:cs typeface="Calibri" panose="020F0502020204030204" pitchFamily="34" charset="0"/>
              </a:rPr>
              <a:t>ინდექსი (</a:t>
            </a:r>
            <a:r>
              <a:rPr lang="en-US" sz="1800" b="1" dirty="0">
                <a:solidFill>
                  <a:schemeClr val="tx2">
                    <a:lumMod val="60000"/>
                    <a:lumOff val="40000"/>
                  </a:schemeClr>
                </a:solidFill>
                <a:latin typeface="Calibri" panose="020F0502020204030204" pitchFamily="34" charset="0"/>
                <a:cs typeface="Calibri" panose="020F0502020204030204" pitchFamily="34" charset="0"/>
              </a:rPr>
              <a:t>H-index):</a:t>
            </a:r>
          </a:p>
          <a:p>
            <a:pPr>
              <a:buFont typeface="Arial" panose="020B0604020202020204" pitchFamily="34" charset="0"/>
              <a:buChar char="•"/>
            </a:pPr>
            <a:r>
              <a:rPr lang="ka-GE" sz="1800" b="1" dirty="0">
                <a:latin typeface="Calibri" panose="020F0502020204030204" pitchFamily="34" charset="0"/>
                <a:cs typeface="Calibri" panose="020F0502020204030204" pitchFamily="34" charset="0"/>
              </a:rPr>
              <a:t>აღწერა:</a:t>
            </a:r>
            <a:r>
              <a:rPr lang="ka-GE" sz="1800" dirty="0">
                <a:latin typeface="Calibri" panose="020F0502020204030204" pitchFamily="34" charset="0"/>
                <a:cs typeface="Calibri" panose="020F0502020204030204" pitchFamily="34" charset="0"/>
              </a:rPr>
              <a:t> </a:t>
            </a:r>
            <a:r>
              <a:rPr lang="en-US" sz="1800" dirty="0">
                <a:latin typeface="Calibri" panose="020F0502020204030204" pitchFamily="34" charset="0"/>
                <a:cs typeface="Calibri" panose="020F0502020204030204" pitchFamily="34" charset="0"/>
              </a:rPr>
              <a:t>H-</a:t>
            </a:r>
            <a:r>
              <a:rPr lang="ka-GE" sz="1800" dirty="0">
                <a:latin typeface="Calibri" panose="020F0502020204030204" pitchFamily="34" charset="0"/>
                <a:cs typeface="Calibri" panose="020F0502020204030204" pitchFamily="34" charset="0"/>
              </a:rPr>
              <a:t>ინდექსი არის ერთ-ერთი ყველაზე გავრცელებული მეთოდი, რომელიც აერთიანებს ნაშრომების რაოდენობას და მათზე გაკეთებულ ციტირების რაოდენობას. </a:t>
            </a:r>
            <a:r>
              <a:rPr lang="en-US" sz="1800" dirty="0">
                <a:latin typeface="Calibri" panose="020F0502020204030204" pitchFamily="34" charset="0"/>
                <a:cs typeface="Calibri" panose="020F0502020204030204" pitchFamily="34" charset="0"/>
              </a:rPr>
              <a:t>H-</a:t>
            </a:r>
            <a:r>
              <a:rPr lang="ka-GE" sz="1800" dirty="0">
                <a:latin typeface="Calibri" panose="020F0502020204030204" pitchFamily="34" charset="0"/>
                <a:cs typeface="Calibri" panose="020F0502020204030204" pitchFamily="34" charset="0"/>
              </a:rPr>
              <a:t>ინდექსი ნიშნავს, რომ ავტორს აქვს </a:t>
            </a:r>
            <a:r>
              <a:rPr lang="en-US" sz="1800" b="1" dirty="0">
                <a:latin typeface="Calibri" panose="020F0502020204030204" pitchFamily="34" charset="0"/>
                <a:cs typeface="Calibri" panose="020F0502020204030204" pitchFamily="34" charset="0"/>
              </a:rPr>
              <a:t>h</a:t>
            </a:r>
            <a:r>
              <a:rPr lang="en-US" sz="1800" dirty="0">
                <a:latin typeface="Calibri" panose="020F0502020204030204" pitchFamily="34" charset="0"/>
                <a:cs typeface="Calibri" panose="020F0502020204030204" pitchFamily="34" charset="0"/>
              </a:rPr>
              <a:t> </a:t>
            </a:r>
            <a:r>
              <a:rPr lang="ka-GE" sz="1800" dirty="0">
                <a:latin typeface="Calibri" panose="020F0502020204030204" pitchFamily="34" charset="0"/>
                <a:cs typeface="Calibri" panose="020F0502020204030204" pitchFamily="34" charset="0"/>
              </a:rPr>
              <a:t>ნაშრომი, რომელთაგან თითოეული ციტირებულია მინიმუმ </a:t>
            </a:r>
            <a:r>
              <a:rPr lang="en-US" sz="1800" b="1" dirty="0">
                <a:latin typeface="Calibri" panose="020F0502020204030204" pitchFamily="34" charset="0"/>
                <a:cs typeface="Calibri" panose="020F0502020204030204" pitchFamily="34" charset="0"/>
              </a:rPr>
              <a:t>h</a:t>
            </a:r>
            <a:r>
              <a:rPr lang="en-US" sz="1800" dirty="0">
                <a:latin typeface="Calibri" panose="020F0502020204030204" pitchFamily="34" charset="0"/>
                <a:cs typeface="Calibri" panose="020F0502020204030204" pitchFamily="34" charset="0"/>
              </a:rPr>
              <a:t>-</a:t>
            </a:r>
            <a:r>
              <a:rPr lang="ka-GE" sz="1800" dirty="0">
                <a:latin typeface="Calibri" panose="020F0502020204030204" pitchFamily="34" charset="0"/>
                <a:cs typeface="Calibri" panose="020F0502020204030204" pitchFamily="34" charset="0"/>
              </a:rPr>
              <a:t>ჯერ.</a:t>
            </a:r>
          </a:p>
          <a:p>
            <a:pPr marL="0" indent="0">
              <a:buNone/>
            </a:pPr>
            <a:r>
              <a:rPr lang="ka-GE" sz="1800" b="1" dirty="0">
                <a:latin typeface="Calibri" panose="020F0502020204030204" pitchFamily="34" charset="0"/>
                <a:cs typeface="Calibri" panose="020F0502020204030204" pitchFamily="34" charset="0"/>
              </a:rPr>
              <a:t>მაგალითი:</a:t>
            </a:r>
            <a:r>
              <a:rPr lang="ka-GE" sz="1800" dirty="0">
                <a:latin typeface="Calibri" panose="020F0502020204030204" pitchFamily="34" charset="0"/>
                <a:cs typeface="Calibri" panose="020F0502020204030204" pitchFamily="34" charset="0"/>
              </a:rPr>
              <a:t> თუ ავტორს აქვს 10 ნაშრომი, რომელთაგან თითოეული ციტირებულია მინიმუმ 10-ჯერ, მისი </a:t>
            </a:r>
            <a:r>
              <a:rPr lang="en-US" sz="1800" dirty="0">
                <a:latin typeface="Calibri" panose="020F0502020204030204" pitchFamily="34" charset="0"/>
                <a:cs typeface="Calibri" panose="020F0502020204030204" pitchFamily="34" charset="0"/>
              </a:rPr>
              <a:t>H-</a:t>
            </a:r>
            <a:r>
              <a:rPr lang="ka-GE" sz="1800" dirty="0">
                <a:latin typeface="Calibri" panose="020F0502020204030204" pitchFamily="34" charset="0"/>
                <a:cs typeface="Calibri" panose="020F0502020204030204" pitchFamily="34" charset="0"/>
              </a:rPr>
              <a:t>ინდექსი იქნება 10. თუ მხოლოდ 5 ნაშრომია ციტირებული 5-ჯერ ან მეტჯერ, მაშინ მისი </a:t>
            </a:r>
            <a:r>
              <a:rPr lang="en-US" sz="1800" dirty="0">
                <a:latin typeface="Calibri" panose="020F0502020204030204" pitchFamily="34" charset="0"/>
                <a:cs typeface="Calibri" panose="020F0502020204030204" pitchFamily="34" charset="0"/>
              </a:rPr>
              <a:t>H-</a:t>
            </a:r>
            <a:r>
              <a:rPr lang="ka-GE" sz="1800" dirty="0">
                <a:latin typeface="Calibri" panose="020F0502020204030204" pitchFamily="34" charset="0"/>
                <a:cs typeface="Calibri" panose="020F0502020204030204" pitchFamily="34" charset="0"/>
              </a:rPr>
              <a:t>ინდექსი იქნება 5.</a:t>
            </a:r>
          </a:p>
        </p:txBody>
      </p:sp>
      <p:sp>
        <p:nvSpPr>
          <p:cNvPr id="4" name="Title 1">
            <a:extLst>
              <a:ext uri="{FF2B5EF4-FFF2-40B4-BE49-F238E27FC236}">
                <a16:creationId xmlns:a16="http://schemas.microsoft.com/office/drawing/2014/main" id="{C3537CDF-466B-D84B-E158-C260C2DA662C}"/>
              </a:ext>
            </a:extLst>
          </p:cNvPr>
          <p:cNvSpPr txBox="1">
            <a:spLocks/>
          </p:cNvSpPr>
          <p:nvPr/>
        </p:nvSpPr>
        <p:spPr>
          <a:xfrm>
            <a:off x="1543786" y="3330265"/>
            <a:ext cx="2654423" cy="405964"/>
          </a:xfrm>
          <a:prstGeom prst="rect">
            <a:avLst/>
          </a:prstGeom>
        </p:spPr>
        <p:txBody>
          <a:bodyPr vert="horz" lIns="91440" tIns="45720" rIns="91440" bIns="45720" rtlCol="0" anchor="b">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r"/>
            <a:r>
              <a:rPr lang="ka-GE" sz="2400" dirty="0">
                <a:solidFill>
                  <a:schemeClr val="bg1"/>
                </a:solidFill>
                <a:latin typeface="Calibri" panose="020F0502020204030204" pitchFamily="34" charset="0"/>
                <a:cs typeface="Calibri" panose="020F0502020204030204" pitchFamily="34" charset="0"/>
              </a:rPr>
              <a:t>ციტირების ინდექსის მნიშვნელოვნება</a:t>
            </a:r>
            <a:endParaRPr lang="en-US" sz="2400" dirty="0">
              <a:solidFill>
                <a:schemeClr val="bg1"/>
              </a:solidFill>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48580585-7D1F-4294-A69C-9BE5BE8A9DB5}"/>
              </a:ext>
            </a:extLst>
          </p:cNvPr>
          <p:cNvSpPr txBox="1"/>
          <p:nvPr/>
        </p:nvSpPr>
        <p:spPr>
          <a:xfrm>
            <a:off x="292963" y="2720567"/>
            <a:ext cx="11469949" cy="1477328"/>
          </a:xfrm>
          <a:prstGeom prst="rect">
            <a:avLst/>
          </a:prstGeom>
          <a:noFill/>
        </p:spPr>
        <p:txBody>
          <a:bodyPr wrap="square">
            <a:spAutoFit/>
          </a:bodyPr>
          <a:lstStyle/>
          <a:p>
            <a:r>
              <a:rPr lang="en-US" b="1" dirty="0">
                <a:solidFill>
                  <a:schemeClr val="tx2">
                    <a:lumMod val="60000"/>
                    <a:lumOff val="40000"/>
                  </a:schemeClr>
                </a:solidFill>
                <a:latin typeface="Calibri" panose="020F0502020204030204" pitchFamily="34" charset="0"/>
                <a:cs typeface="Calibri" panose="020F0502020204030204" pitchFamily="34" charset="0"/>
              </a:rPr>
              <a:t>2. G-</a:t>
            </a:r>
            <a:r>
              <a:rPr lang="ka-GE" b="1" dirty="0">
                <a:solidFill>
                  <a:schemeClr val="tx2">
                    <a:lumMod val="60000"/>
                    <a:lumOff val="40000"/>
                  </a:schemeClr>
                </a:solidFill>
                <a:latin typeface="Calibri" panose="020F0502020204030204" pitchFamily="34" charset="0"/>
                <a:cs typeface="Calibri" panose="020F0502020204030204" pitchFamily="34" charset="0"/>
              </a:rPr>
              <a:t>ინდექსი:</a:t>
            </a:r>
          </a:p>
          <a:p>
            <a:pPr>
              <a:buFont typeface="Arial" panose="020B0604020202020204" pitchFamily="34" charset="0"/>
              <a:buChar char="•"/>
            </a:pPr>
            <a:r>
              <a:rPr lang="ka-GE" b="1" dirty="0">
                <a:latin typeface="Calibri" panose="020F0502020204030204" pitchFamily="34" charset="0"/>
                <a:cs typeface="Calibri" panose="020F0502020204030204" pitchFamily="34" charset="0"/>
              </a:rPr>
              <a:t> აღწერა:</a:t>
            </a:r>
            <a:r>
              <a:rPr lang="ka-GE"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G-</a:t>
            </a:r>
            <a:r>
              <a:rPr lang="ka-GE" dirty="0">
                <a:latin typeface="Calibri" panose="020F0502020204030204" pitchFamily="34" charset="0"/>
                <a:cs typeface="Calibri" panose="020F0502020204030204" pitchFamily="34" charset="0"/>
              </a:rPr>
              <a:t>ინდექსი უფრო დეტალურად ითვლის მაღალი ციტირების მქონე ნაშრომებს და მათზე გაკეთებულ ციტირებებს. </a:t>
            </a:r>
            <a:r>
              <a:rPr lang="en-US" dirty="0">
                <a:latin typeface="Calibri" panose="020F0502020204030204" pitchFamily="34" charset="0"/>
                <a:cs typeface="Calibri" panose="020F0502020204030204" pitchFamily="34" charset="0"/>
              </a:rPr>
              <a:t>G-</a:t>
            </a:r>
            <a:r>
              <a:rPr lang="ka-GE" dirty="0">
                <a:latin typeface="Calibri" panose="020F0502020204030204" pitchFamily="34" charset="0"/>
                <a:cs typeface="Calibri" panose="020F0502020204030204" pitchFamily="34" charset="0"/>
              </a:rPr>
              <a:t>ინდექსი ყურადღებას ამახვილებს მაღალი ციტირების მქონე ნაშრომებზე.</a:t>
            </a:r>
          </a:p>
          <a:p>
            <a:r>
              <a:rPr lang="ka-GE" b="1" dirty="0">
                <a:latin typeface="Calibri" panose="020F0502020204030204" pitchFamily="34" charset="0"/>
                <a:cs typeface="Calibri" panose="020F0502020204030204" pitchFamily="34" charset="0"/>
              </a:rPr>
              <a:t>მაგალითი:</a:t>
            </a:r>
            <a:r>
              <a:rPr lang="ka-GE" dirty="0">
                <a:latin typeface="Calibri" panose="020F0502020204030204" pitchFamily="34" charset="0"/>
                <a:cs typeface="Calibri" panose="020F0502020204030204" pitchFamily="34" charset="0"/>
              </a:rPr>
              <a:t> თუ ავტორის ნაშრომების ერთი ჯგუფი ძალიან ხშირად </a:t>
            </a:r>
            <a:r>
              <a:rPr lang="ka-GE" dirty="0" err="1">
                <a:latin typeface="Calibri" panose="020F0502020204030204" pitchFamily="34" charset="0"/>
                <a:cs typeface="Calibri" panose="020F0502020204030204" pitchFamily="34" charset="0"/>
              </a:rPr>
              <a:t>ციტირდება</a:t>
            </a:r>
            <a:r>
              <a:rPr lang="ka-GE"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G-</a:t>
            </a:r>
            <a:r>
              <a:rPr lang="ka-GE" dirty="0">
                <a:latin typeface="Calibri" panose="020F0502020204030204" pitchFamily="34" charset="0"/>
                <a:cs typeface="Calibri" panose="020F0502020204030204" pitchFamily="34" charset="0"/>
              </a:rPr>
              <a:t>ინდექსი უფრო მაღალი იქნება, ვიდრე </a:t>
            </a:r>
            <a:r>
              <a:rPr lang="en-US" dirty="0">
                <a:latin typeface="Calibri" panose="020F0502020204030204" pitchFamily="34" charset="0"/>
                <a:cs typeface="Calibri" panose="020F0502020204030204" pitchFamily="34" charset="0"/>
              </a:rPr>
              <a:t>H-</a:t>
            </a:r>
            <a:r>
              <a:rPr lang="ka-GE" dirty="0">
                <a:latin typeface="Calibri" panose="020F0502020204030204" pitchFamily="34" charset="0"/>
                <a:cs typeface="Calibri" panose="020F0502020204030204" pitchFamily="34" charset="0"/>
              </a:rPr>
              <a:t>ინდექსი, რაც აჩვენებს ავტორის ნაშრომების ზეგავლენას.</a:t>
            </a:r>
          </a:p>
        </p:txBody>
      </p:sp>
      <p:sp>
        <p:nvSpPr>
          <p:cNvPr id="15" name="TextBox 14">
            <a:extLst>
              <a:ext uri="{FF2B5EF4-FFF2-40B4-BE49-F238E27FC236}">
                <a16:creationId xmlns:a16="http://schemas.microsoft.com/office/drawing/2014/main" id="{014A441E-FF59-7C49-2694-3F339A3BA518}"/>
              </a:ext>
            </a:extLst>
          </p:cNvPr>
          <p:cNvSpPr txBox="1"/>
          <p:nvPr/>
        </p:nvSpPr>
        <p:spPr>
          <a:xfrm>
            <a:off x="292963" y="4516037"/>
            <a:ext cx="11283519" cy="1477328"/>
          </a:xfrm>
          <a:prstGeom prst="rect">
            <a:avLst/>
          </a:prstGeom>
          <a:noFill/>
        </p:spPr>
        <p:txBody>
          <a:bodyPr wrap="square">
            <a:spAutoFit/>
          </a:bodyPr>
          <a:lstStyle/>
          <a:p>
            <a:r>
              <a:rPr lang="en-US" b="1" dirty="0">
                <a:solidFill>
                  <a:schemeClr val="tx2">
                    <a:lumMod val="60000"/>
                    <a:lumOff val="40000"/>
                  </a:schemeClr>
                </a:solidFill>
                <a:latin typeface="Calibri" panose="020F0502020204030204" pitchFamily="34" charset="0"/>
                <a:cs typeface="Calibri" panose="020F0502020204030204" pitchFamily="34" charset="0"/>
              </a:rPr>
              <a:t>3. i10-</a:t>
            </a:r>
            <a:r>
              <a:rPr lang="ka-GE" b="1" dirty="0">
                <a:solidFill>
                  <a:schemeClr val="tx2">
                    <a:lumMod val="60000"/>
                    <a:lumOff val="40000"/>
                  </a:schemeClr>
                </a:solidFill>
                <a:latin typeface="Calibri" panose="020F0502020204030204" pitchFamily="34" charset="0"/>
                <a:cs typeface="Calibri" panose="020F0502020204030204" pitchFamily="34" charset="0"/>
              </a:rPr>
              <a:t>ინდექსი:</a:t>
            </a:r>
          </a:p>
          <a:p>
            <a:pPr>
              <a:buFont typeface="Arial" panose="020B0604020202020204" pitchFamily="34" charset="0"/>
              <a:buChar char="•"/>
            </a:pPr>
            <a:r>
              <a:rPr lang="ka-GE" b="1" dirty="0">
                <a:latin typeface="Calibri" panose="020F0502020204030204" pitchFamily="34" charset="0"/>
                <a:cs typeface="Calibri" panose="020F0502020204030204" pitchFamily="34" charset="0"/>
              </a:rPr>
              <a:t> აღწერა:</a:t>
            </a:r>
            <a:r>
              <a:rPr lang="ka-GE" dirty="0">
                <a:latin typeface="Calibri" panose="020F0502020204030204" pitchFamily="34" charset="0"/>
                <a:cs typeface="Calibri" panose="020F0502020204030204" pitchFamily="34" charset="0"/>
              </a:rPr>
              <a:t> </a:t>
            </a:r>
            <a:r>
              <a:rPr lang="en-US" dirty="0">
                <a:latin typeface="Calibri" panose="020F0502020204030204" pitchFamily="34" charset="0"/>
                <a:cs typeface="Calibri" panose="020F0502020204030204" pitchFamily="34" charset="0"/>
              </a:rPr>
              <a:t>i10-</a:t>
            </a:r>
            <a:r>
              <a:rPr lang="ka-GE" dirty="0">
                <a:latin typeface="Calibri" panose="020F0502020204030204" pitchFamily="34" charset="0"/>
                <a:cs typeface="Calibri" panose="020F0502020204030204" pitchFamily="34" charset="0"/>
              </a:rPr>
              <a:t>ინდექსი აღნიშნავს ნაშრომების რაოდენობას, რომლებსაც აქვთ მინიმუმ 10 ციტირება. იგი უფრო მარტივი შეფასების ფორმაა.</a:t>
            </a:r>
          </a:p>
          <a:p>
            <a:r>
              <a:rPr lang="ka-GE" b="1" dirty="0">
                <a:latin typeface="Calibri" panose="020F0502020204030204" pitchFamily="34" charset="0"/>
                <a:cs typeface="Calibri" panose="020F0502020204030204" pitchFamily="34" charset="0"/>
              </a:rPr>
              <a:t>მაგალითი:</a:t>
            </a:r>
            <a:r>
              <a:rPr lang="ka-GE" dirty="0">
                <a:latin typeface="Calibri" panose="020F0502020204030204" pitchFamily="34" charset="0"/>
                <a:cs typeface="Calibri" panose="020F0502020204030204" pitchFamily="34" charset="0"/>
              </a:rPr>
              <a:t> თუ ავტორს აქვს 15 ნაშრომი, რომელთაგან 10 ნაშრომს აქვს მინიმუმ 10 ციტირება, მაშინ მისი </a:t>
            </a:r>
            <a:r>
              <a:rPr lang="en-US" dirty="0">
                <a:latin typeface="Calibri" panose="020F0502020204030204" pitchFamily="34" charset="0"/>
                <a:cs typeface="Calibri" panose="020F0502020204030204" pitchFamily="34" charset="0"/>
              </a:rPr>
              <a:t>i10-</a:t>
            </a:r>
            <a:r>
              <a:rPr lang="ka-GE" dirty="0">
                <a:latin typeface="Calibri" panose="020F0502020204030204" pitchFamily="34" charset="0"/>
                <a:cs typeface="Calibri" panose="020F0502020204030204" pitchFamily="34" charset="0"/>
              </a:rPr>
              <a:t>ინდექსი იქნება 10.</a:t>
            </a:r>
          </a:p>
        </p:txBody>
      </p:sp>
      <p:sp>
        <p:nvSpPr>
          <p:cNvPr id="5" name="Title 1">
            <a:extLst>
              <a:ext uri="{FF2B5EF4-FFF2-40B4-BE49-F238E27FC236}">
                <a16:creationId xmlns:a16="http://schemas.microsoft.com/office/drawing/2014/main" id="{257A489C-A01D-1EEF-431B-0AA68B09EA15}"/>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altLang="en-US" sz="3600" dirty="0">
                <a:solidFill>
                  <a:schemeClr val="bg1"/>
                </a:solidFill>
                <a:latin typeface="Calibri" panose="020F0502020204030204" pitchFamily="34" charset="0"/>
                <a:cs typeface="Calibri" panose="020F0502020204030204" pitchFamily="34" charset="0"/>
              </a:rPr>
              <a:t>ციტირების ინდექსის გამოთვლა</a:t>
            </a:r>
            <a:endParaRPr lang="en-US" altLang="en-US" sz="36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129083329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6B0401-351F-7F79-0634-BAEF661DE542}"/>
              </a:ext>
            </a:extLst>
          </p:cNvPr>
          <p:cNvSpPr>
            <a:spLocks noGrp="1"/>
          </p:cNvSpPr>
          <p:nvPr>
            <p:ph type="title"/>
          </p:nvPr>
        </p:nvSpPr>
        <p:spPr>
          <a:xfrm>
            <a:off x="1767510" y="427057"/>
            <a:ext cx="2401025" cy="1703584"/>
          </a:xfrm>
        </p:spPr>
        <p:txBody>
          <a:bodyPr vert="horz" lIns="91440" tIns="45720" rIns="91440" bIns="45720" rtlCol="0" anchor="b">
            <a:noAutofit/>
          </a:bodyPr>
          <a:lstStyle/>
          <a:p>
            <a:pPr algn="r"/>
            <a:r>
              <a:rPr lang="ka-GE" sz="2800" dirty="0">
                <a:solidFill>
                  <a:srgbClr val="FFFFFF"/>
                </a:solidFill>
                <a:latin typeface="Calibri" panose="020F0502020204030204" pitchFamily="34" charset="0"/>
                <a:cs typeface="Calibri" panose="020F0502020204030204" pitchFamily="34" charset="0"/>
              </a:rPr>
              <a:t>როგორ ითვლება ციტირების ინდექსი?</a:t>
            </a:r>
            <a:endParaRPr lang="en-US" sz="2800" dirty="0">
              <a:solidFill>
                <a:srgbClr val="FFFFFF"/>
              </a:solidFill>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5FB4E268-1FD2-82C5-85DF-3356D7BBACBA}"/>
              </a:ext>
            </a:extLst>
          </p:cNvPr>
          <p:cNvSpPr>
            <a:spLocks noGrp="1"/>
          </p:cNvSpPr>
          <p:nvPr>
            <p:ph idx="1"/>
          </p:nvPr>
        </p:nvSpPr>
        <p:spPr>
          <a:xfrm>
            <a:off x="532660" y="596692"/>
            <a:ext cx="10599938" cy="2555359"/>
          </a:xfrm>
        </p:spPr>
        <p:txBody>
          <a:bodyPr vert="horz" lIns="91440" tIns="45720" rIns="91440" bIns="45720" rtlCol="0" anchor="ctr">
            <a:noAutofit/>
          </a:bodyPr>
          <a:lstStyle/>
          <a:p>
            <a:pPr algn="just"/>
            <a:r>
              <a:rPr lang="ka-GE" sz="1800" dirty="0">
                <a:latin typeface="Calibri" panose="020F0502020204030204" pitchFamily="34" charset="0"/>
                <a:cs typeface="Calibri" panose="020F0502020204030204" pitchFamily="34" charset="0"/>
              </a:rPr>
              <a:t>ციტირების ინდექსი ითვლება იმ ნაშრომების მიხედვით, რომლებიც ციტირებას ახდენენ სხვა ნაშრომებზე. თითოეული ნაშრომი, რომელიც სხვა ნაშრომშია ციტირებული, ითვლება ერთეულად. ციტირების ინდექსი იზრდება, როდესაც ნაშრომი ხშირად არის გამოყენებული სხვა კვლევებში.</a:t>
            </a:r>
          </a:p>
          <a:p>
            <a:pPr algn="just"/>
            <a:r>
              <a:rPr lang="ka-GE" sz="1800" b="1" dirty="0">
                <a:latin typeface="Calibri" panose="020F0502020204030204" pitchFamily="34" charset="0"/>
                <a:cs typeface="Calibri" panose="020F0502020204030204" pitchFamily="34" charset="0"/>
              </a:rPr>
              <a:t>მაგალითი:</a:t>
            </a:r>
            <a:r>
              <a:rPr lang="ka-GE" sz="1800" dirty="0">
                <a:latin typeface="Calibri" panose="020F0502020204030204" pitchFamily="34" charset="0"/>
                <a:cs typeface="Calibri" panose="020F0502020204030204" pitchFamily="34" charset="0"/>
              </a:rPr>
              <a:t> თუ ავტორს აქვს სამი ნაშრომი, რომელთაგან პირველი ნაშრომი ციტირებულია 20-ჯერ, მეორე 15-ჯერ, და მესამე 5-ჯერ, მისი </a:t>
            </a:r>
            <a:r>
              <a:rPr lang="en-US" sz="1800" dirty="0">
                <a:latin typeface="Calibri" panose="020F0502020204030204" pitchFamily="34" charset="0"/>
                <a:cs typeface="Calibri" panose="020F0502020204030204" pitchFamily="34" charset="0"/>
              </a:rPr>
              <a:t>H-</a:t>
            </a:r>
            <a:r>
              <a:rPr lang="ka-GE" sz="1800" dirty="0">
                <a:latin typeface="Calibri" panose="020F0502020204030204" pitchFamily="34" charset="0"/>
                <a:cs typeface="Calibri" panose="020F0502020204030204" pitchFamily="34" charset="0"/>
              </a:rPr>
              <a:t>ინდექსი იქნება 3, რადგან მას აქვს სამი ნაშრომი, რომელთაგან თითოეული ციტირებულია მინიმუმ 3-ჯერ.</a:t>
            </a:r>
          </a:p>
        </p:txBody>
      </p:sp>
      <p:sp>
        <p:nvSpPr>
          <p:cNvPr id="6" name="TextBox 5">
            <a:extLst>
              <a:ext uri="{FF2B5EF4-FFF2-40B4-BE49-F238E27FC236}">
                <a16:creationId xmlns:a16="http://schemas.microsoft.com/office/drawing/2014/main" id="{846300A8-33A5-C60A-D4F6-031950C6AA55}"/>
              </a:ext>
            </a:extLst>
          </p:cNvPr>
          <p:cNvSpPr txBox="1"/>
          <p:nvPr/>
        </p:nvSpPr>
        <p:spPr>
          <a:xfrm>
            <a:off x="764960" y="3152051"/>
            <a:ext cx="10367638" cy="923330"/>
          </a:xfrm>
          <a:prstGeom prst="rect">
            <a:avLst/>
          </a:prstGeom>
          <a:noFill/>
        </p:spPr>
        <p:txBody>
          <a:bodyPr wrap="square">
            <a:spAutoFit/>
          </a:bodyPr>
          <a:lstStyle/>
          <a:p>
            <a:pPr algn="just"/>
            <a:r>
              <a:rPr lang="ka-GE" dirty="0">
                <a:latin typeface="Calibri" panose="020F0502020204030204" pitchFamily="34" charset="0"/>
                <a:cs typeface="Calibri" panose="020F0502020204030204" pitchFamily="34" charset="0"/>
              </a:rPr>
              <a:t>ციტირების ინდექსის გასაზრდელად, მკვლევრებმა უნდა წარმოადგინონ მაღალი ხარისხის ნაშრომები, რომლებიც აღიარებული იქნება შესაბამისი საზოგადოების მიერ და გამოყენებული იქნება სხვა კვლევებში.</a:t>
            </a:r>
            <a:endParaRPr lang="en-US" dirty="0">
              <a:latin typeface="Calibri" panose="020F0502020204030204" pitchFamily="34" charset="0"/>
              <a:cs typeface="Calibri" panose="020F0502020204030204" pitchFamily="34" charset="0"/>
            </a:endParaRPr>
          </a:p>
        </p:txBody>
      </p:sp>
      <p:sp>
        <p:nvSpPr>
          <p:cNvPr id="7" name="Title 1">
            <a:extLst>
              <a:ext uri="{FF2B5EF4-FFF2-40B4-BE49-F238E27FC236}">
                <a16:creationId xmlns:a16="http://schemas.microsoft.com/office/drawing/2014/main" id="{289DDEEF-CDAF-F870-EF69-76118617D8C1}"/>
              </a:ext>
            </a:extLst>
          </p:cNvPr>
          <p:cNvSpPr txBox="1">
            <a:spLocks/>
          </p:cNvSpPr>
          <p:nvPr/>
        </p:nvSpPr>
        <p:spPr>
          <a:xfrm>
            <a:off x="1767509" y="4263647"/>
            <a:ext cx="2401025" cy="978619"/>
          </a:xfrm>
          <a:prstGeom prst="rect">
            <a:avLst/>
          </a:prstGeom>
        </p:spPr>
        <p:txBody>
          <a:bodyPr vert="horz" lIns="91440" tIns="45720" rIns="91440" bIns="45720" rtlCol="0" anchor="b">
            <a:noAutofit/>
          </a:bodyPr>
          <a:lstStyle>
            <a:lvl1pPr algn="ctr" defTabSz="457200" rtl="0" eaLnBrk="1" latinLnBrk="0" hangingPunct="1">
              <a:spcBef>
                <a:spcPct val="0"/>
              </a:spcBef>
              <a:buNone/>
              <a:defRPr sz="4400" kern="1200">
                <a:solidFill>
                  <a:schemeClr val="tx1"/>
                </a:solidFill>
                <a:latin typeface="+mj-lt"/>
                <a:ea typeface="+mj-ea"/>
                <a:cs typeface="+mj-cs"/>
              </a:defRPr>
            </a:lvl1pPr>
          </a:lstStyle>
          <a:p>
            <a:pPr algn="r" defTabSz="914400"/>
            <a:r>
              <a:rPr lang="ka-GE" sz="2800" dirty="0">
                <a:solidFill>
                  <a:srgbClr val="FFFFFF"/>
                </a:solidFill>
                <a:latin typeface="Calibri" panose="020F0502020204030204" pitchFamily="34" charset="0"/>
                <a:cs typeface="Calibri" panose="020F0502020204030204" pitchFamily="34" charset="0"/>
              </a:rPr>
              <a:t>გავლენის გაზრდა</a:t>
            </a:r>
            <a:endParaRPr lang="en-US" sz="2800" dirty="0">
              <a:solidFill>
                <a:srgbClr val="FFFFFF"/>
              </a:solidFill>
              <a:latin typeface="Calibri" panose="020F0502020204030204" pitchFamily="34" charset="0"/>
              <a:cs typeface="Calibri" panose="020F0502020204030204" pitchFamily="34" charset="0"/>
            </a:endParaRPr>
          </a:p>
        </p:txBody>
      </p:sp>
      <p:sp>
        <p:nvSpPr>
          <p:cNvPr id="4" name="Title 1">
            <a:extLst>
              <a:ext uri="{FF2B5EF4-FFF2-40B4-BE49-F238E27FC236}">
                <a16:creationId xmlns:a16="http://schemas.microsoft.com/office/drawing/2014/main" id="{D58919C1-A82F-37EF-1F69-3FCED6DEF7F3}"/>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altLang="en-US" sz="3600" dirty="0">
                <a:solidFill>
                  <a:schemeClr val="bg1"/>
                </a:solidFill>
                <a:latin typeface="Calibri" panose="020F0502020204030204" pitchFamily="34" charset="0"/>
                <a:cs typeface="Calibri" panose="020F0502020204030204" pitchFamily="34" charset="0"/>
              </a:rPr>
              <a:t>ციტირების ინდექსის გაზრდა</a:t>
            </a:r>
            <a:endParaRPr lang="en-US" altLang="en-US" sz="3600"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58697296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8E0CB25B-E380-E63F-C0F2-86549DBE2996}"/>
              </a:ext>
            </a:extLst>
          </p:cNvPr>
          <p:cNvSpPr>
            <a:spLocks noGrp="1"/>
          </p:cNvSpPr>
          <p:nvPr>
            <p:ph type="title"/>
          </p:nvPr>
        </p:nvSpPr>
        <p:spPr>
          <a:xfrm>
            <a:off x="426128" y="412305"/>
            <a:ext cx="10927672" cy="1325563"/>
          </a:xfrm>
        </p:spPr>
        <p:txBody>
          <a:bodyPr>
            <a:normAutofit/>
          </a:bodyPr>
          <a:lstStyle/>
          <a:p>
            <a:r>
              <a:rPr lang="ka-GE" sz="2800" dirty="0">
                <a:latin typeface="Calibri" panose="020F0502020204030204" pitchFamily="34" charset="0"/>
                <a:cs typeface="Calibri" panose="020F0502020204030204" pitchFamily="34" charset="0"/>
              </a:rPr>
              <a:t>გავლენის ფაქტორი (</a:t>
            </a:r>
            <a:r>
              <a:rPr lang="en-US" sz="2800" dirty="0">
                <a:latin typeface="Calibri" panose="020F0502020204030204" pitchFamily="34" charset="0"/>
                <a:cs typeface="Calibri" panose="020F0502020204030204" pitchFamily="34" charset="0"/>
              </a:rPr>
              <a:t>Impact Factor, IF) - </a:t>
            </a:r>
            <a:r>
              <a:rPr lang="ka-GE" sz="2000" dirty="0">
                <a:latin typeface="Calibri" panose="020F0502020204030204" pitchFamily="34" charset="0"/>
                <a:cs typeface="Calibri" panose="020F0502020204030204" pitchFamily="34" charset="0"/>
              </a:rPr>
              <a:t>არის აკადემიური ჟურნალის ციტირების სიხშირის საზომი, რომელიც გამოიყენება ჟურნალის გავლენისა და მნიშვნელობის შესაფასებლად მეცნიერებისა და კვლევების სამყაროში.</a:t>
            </a:r>
            <a:endParaRPr lang="en-US" sz="20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B97A950B-CB5B-ABE0-8289-5944F66E0F7B}"/>
              </a:ext>
            </a:extLst>
          </p:cNvPr>
          <p:cNvSpPr txBox="1"/>
          <p:nvPr/>
        </p:nvSpPr>
        <p:spPr>
          <a:xfrm>
            <a:off x="426128" y="1850891"/>
            <a:ext cx="11239130" cy="1631216"/>
          </a:xfrm>
          <a:prstGeom prst="rect">
            <a:avLst/>
          </a:prstGeom>
          <a:noFill/>
        </p:spPr>
        <p:txBody>
          <a:bodyPr wrap="square">
            <a:spAutoFit/>
          </a:bodyPr>
          <a:lstStyle/>
          <a:p>
            <a:pPr algn="just"/>
            <a:r>
              <a:rPr lang="ka-GE" sz="2000" dirty="0">
                <a:latin typeface="Calibri" panose="020F0502020204030204" pitchFamily="34" charset="0"/>
                <a:cs typeface="Calibri" panose="020F0502020204030204" pitchFamily="34" charset="0"/>
              </a:rPr>
              <a:t>მაჩვენებელი, რომელიც გამოიყენება აკადემიური ჟურნალების მნიშვნელობისა და გავლენის შესაფასებლად. ის ზომავს, საშუალოდ რამდენი ციტირება აქვს ჟურნალში გამოქვეყნებულ სტატიებს კონკრეტულ პერიოდში (ჩვეულებრივ, ორ წელიწადში). მაღალი გავლენის ფაქტორი მიუთითებს, რომ ჟურნალში გამოქვეყნებული სტატიები ხშირად ციტირებულია, რაც ამ ჟურნალის სფეროში მის მნიშვნელობასა და აქტუალობას გვიჩვენებს.</a:t>
            </a:r>
            <a:endParaRPr lang="en-US" sz="2000" dirty="0">
              <a:latin typeface="Calibri" panose="020F0502020204030204" pitchFamily="34" charset="0"/>
              <a:cs typeface="Calibri" panose="020F0502020204030204" pitchFamily="34" charset="0"/>
            </a:endParaRPr>
          </a:p>
        </p:txBody>
      </p:sp>
      <p:sp>
        <p:nvSpPr>
          <p:cNvPr id="2" name="Title 1">
            <a:extLst>
              <a:ext uri="{FF2B5EF4-FFF2-40B4-BE49-F238E27FC236}">
                <a16:creationId xmlns:a16="http://schemas.microsoft.com/office/drawing/2014/main" id="{5CCBFAE1-2D5C-77BF-9254-C43E98E918BB}"/>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altLang="en-US" sz="3600" dirty="0">
                <a:solidFill>
                  <a:schemeClr val="bg1"/>
                </a:solidFill>
                <a:latin typeface="Calibri" panose="020F0502020204030204" pitchFamily="34" charset="0"/>
                <a:cs typeface="Calibri" panose="020F0502020204030204" pitchFamily="34" charset="0"/>
              </a:rPr>
              <a:t>გავლენის </a:t>
            </a:r>
            <a:r>
              <a:rPr lang="ka-GE" altLang="en-US" sz="3600" dirty="0" err="1">
                <a:solidFill>
                  <a:schemeClr val="bg1"/>
                </a:solidFill>
                <a:latin typeface="Calibri" panose="020F0502020204030204" pitchFamily="34" charset="0"/>
                <a:cs typeface="Calibri" panose="020F0502020204030204" pitchFamily="34" charset="0"/>
              </a:rPr>
              <a:t>გაქტორი</a:t>
            </a:r>
            <a:r>
              <a:rPr lang="ka-GE" altLang="en-US" sz="3600" dirty="0">
                <a:solidFill>
                  <a:schemeClr val="bg1"/>
                </a:solidFill>
                <a:latin typeface="Calibri" panose="020F0502020204030204" pitchFamily="34" charset="0"/>
                <a:cs typeface="Calibri" panose="020F0502020204030204" pitchFamily="34" charset="0"/>
              </a:rPr>
              <a:t> (</a:t>
            </a:r>
            <a:r>
              <a:rPr lang="en-US" altLang="en-US" sz="3600" dirty="0">
                <a:solidFill>
                  <a:schemeClr val="bg1"/>
                </a:solidFill>
                <a:latin typeface="Calibri" panose="020F0502020204030204" pitchFamily="34" charset="0"/>
                <a:cs typeface="Calibri" panose="020F0502020204030204" pitchFamily="34" charset="0"/>
              </a:rPr>
              <a:t>IF – Impact Factor)</a:t>
            </a:r>
          </a:p>
        </p:txBody>
      </p:sp>
    </p:spTree>
    <p:extLst>
      <p:ext uri="{BB962C8B-B14F-4D97-AF65-F5344CB8AC3E}">
        <p14:creationId xmlns:p14="http://schemas.microsoft.com/office/powerpoint/2010/main" val="233968061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FAE1-2D5C-77BF-9254-C43E98E918BB}"/>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altLang="en-US" sz="3600" dirty="0">
                <a:solidFill>
                  <a:schemeClr val="bg1"/>
                </a:solidFill>
                <a:latin typeface="Calibri" panose="020F0502020204030204" pitchFamily="34" charset="0"/>
                <a:cs typeface="Calibri" panose="020F0502020204030204" pitchFamily="34" charset="0"/>
              </a:rPr>
              <a:t>გავლენის </a:t>
            </a:r>
            <a:r>
              <a:rPr lang="ka-GE" altLang="en-US" sz="3600" dirty="0" err="1">
                <a:solidFill>
                  <a:schemeClr val="bg1"/>
                </a:solidFill>
                <a:latin typeface="Calibri" panose="020F0502020204030204" pitchFamily="34" charset="0"/>
                <a:cs typeface="Calibri" panose="020F0502020204030204" pitchFamily="34" charset="0"/>
              </a:rPr>
              <a:t>გაქტორი</a:t>
            </a:r>
            <a:r>
              <a:rPr lang="ka-GE" altLang="en-US" sz="3600" dirty="0">
                <a:solidFill>
                  <a:schemeClr val="bg1"/>
                </a:solidFill>
                <a:latin typeface="Calibri" panose="020F0502020204030204" pitchFamily="34" charset="0"/>
                <a:cs typeface="Calibri" panose="020F0502020204030204" pitchFamily="34" charset="0"/>
              </a:rPr>
              <a:t> (</a:t>
            </a:r>
            <a:r>
              <a:rPr lang="en-US" altLang="en-US" sz="3600" dirty="0">
                <a:solidFill>
                  <a:schemeClr val="bg1"/>
                </a:solidFill>
                <a:latin typeface="Calibri" panose="020F0502020204030204" pitchFamily="34" charset="0"/>
                <a:cs typeface="Calibri" panose="020F0502020204030204" pitchFamily="34" charset="0"/>
              </a:rPr>
              <a:t>IF – Impact Factor)</a:t>
            </a:r>
          </a:p>
        </p:txBody>
      </p:sp>
      <p:sp>
        <p:nvSpPr>
          <p:cNvPr id="8" name="TextBox 7">
            <a:extLst>
              <a:ext uri="{FF2B5EF4-FFF2-40B4-BE49-F238E27FC236}">
                <a16:creationId xmlns:a16="http://schemas.microsoft.com/office/drawing/2014/main" id="{9D91CCCB-8BF3-260C-8C51-44BD470CD756}"/>
              </a:ext>
            </a:extLst>
          </p:cNvPr>
          <p:cNvSpPr txBox="1"/>
          <p:nvPr/>
        </p:nvSpPr>
        <p:spPr>
          <a:xfrm>
            <a:off x="419470" y="542627"/>
            <a:ext cx="11041602" cy="2554545"/>
          </a:xfrm>
          <a:prstGeom prst="rect">
            <a:avLst/>
          </a:prstGeom>
          <a:noFill/>
        </p:spPr>
        <p:txBody>
          <a:bodyPr wrap="square">
            <a:spAutoFit/>
          </a:bodyPr>
          <a:lstStyle/>
          <a:p>
            <a:r>
              <a:rPr lang="ka-GE" sz="2000" b="1" dirty="0">
                <a:latin typeface="Calibri" panose="020F0502020204030204" pitchFamily="34" charset="0"/>
                <a:cs typeface="Calibri" panose="020F0502020204030204" pitchFamily="34" charset="0"/>
              </a:rPr>
              <a:t>როგორ გამოითვლება </a:t>
            </a:r>
            <a:r>
              <a:rPr lang="en-US" sz="2000" b="1" dirty="0">
                <a:latin typeface="Calibri" panose="020F0502020204030204" pitchFamily="34" charset="0"/>
                <a:cs typeface="Calibri" panose="020F0502020204030204" pitchFamily="34" charset="0"/>
              </a:rPr>
              <a:t>Impact Factor:</a:t>
            </a:r>
          </a:p>
          <a:p>
            <a:r>
              <a:rPr lang="en-US" sz="2000" dirty="0">
                <a:latin typeface="Calibri" panose="020F0502020204030204" pitchFamily="34" charset="0"/>
                <a:cs typeface="Calibri" panose="020F0502020204030204" pitchFamily="34" charset="0"/>
              </a:rPr>
              <a:t>Impact Factor </a:t>
            </a:r>
            <a:r>
              <a:rPr lang="ka-GE" sz="2000" dirty="0">
                <a:latin typeface="Calibri" panose="020F0502020204030204" pitchFamily="34" charset="0"/>
                <a:cs typeface="Calibri" panose="020F0502020204030204" pitchFamily="34" charset="0"/>
              </a:rPr>
              <a:t>გამოითვლება შემდეგნაირად:</a:t>
            </a:r>
          </a:p>
          <a:p>
            <a:pPr>
              <a:buFont typeface="+mj-lt"/>
              <a:buAutoNum type="arabicPeriod"/>
            </a:pPr>
            <a:r>
              <a:rPr lang="ka-GE" sz="2000" b="1" dirty="0">
                <a:latin typeface="Calibri" panose="020F0502020204030204" pitchFamily="34" charset="0"/>
                <a:cs typeface="Calibri" panose="020F0502020204030204" pitchFamily="34" charset="0"/>
              </a:rPr>
              <a:t>გამოსათვლელი პერიოდი</a:t>
            </a:r>
            <a:r>
              <a:rPr lang="ka-GE" sz="2000" dirty="0">
                <a:latin typeface="Calibri" panose="020F0502020204030204" pitchFamily="34" charset="0"/>
                <a:cs typeface="Calibri" panose="020F0502020204030204" pitchFamily="34" charset="0"/>
              </a:rPr>
              <a:t>: ჩვეულებრივ, </a:t>
            </a:r>
            <a:r>
              <a:rPr lang="en-US" sz="2000" dirty="0">
                <a:latin typeface="Calibri" panose="020F0502020204030204" pitchFamily="34" charset="0"/>
                <a:cs typeface="Calibri" panose="020F0502020204030204" pitchFamily="34" charset="0"/>
              </a:rPr>
              <a:t>Impact Factor </a:t>
            </a:r>
            <a:r>
              <a:rPr lang="ka-GE" sz="2000" dirty="0" err="1">
                <a:latin typeface="Calibri" panose="020F0502020204030204" pitchFamily="34" charset="0"/>
                <a:cs typeface="Calibri" panose="020F0502020204030204" pitchFamily="34" charset="0"/>
              </a:rPr>
              <a:t>ანგარიშდება</a:t>
            </a:r>
            <a:r>
              <a:rPr lang="ka-GE" sz="2000" dirty="0">
                <a:latin typeface="Calibri" panose="020F0502020204030204" pitchFamily="34" charset="0"/>
                <a:cs typeface="Calibri" panose="020F0502020204030204" pitchFamily="34" charset="0"/>
              </a:rPr>
              <a:t> ორი წლის განმავლობაში.</a:t>
            </a:r>
          </a:p>
          <a:p>
            <a:pPr>
              <a:buFont typeface="+mj-lt"/>
              <a:buAutoNum type="arabicPeriod"/>
            </a:pPr>
            <a:r>
              <a:rPr lang="ka-GE" sz="2000" b="1" dirty="0">
                <a:latin typeface="Calibri" panose="020F0502020204030204" pitchFamily="34" charset="0"/>
                <a:cs typeface="Calibri" panose="020F0502020204030204" pitchFamily="34" charset="0"/>
              </a:rPr>
              <a:t>ციტირების რაოდენობა</a:t>
            </a:r>
            <a:r>
              <a:rPr lang="ka-GE" sz="2000" dirty="0">
                <a:latin typeface="Calibri" panose="020F0502020204030204" pitchFamily="34" charset="0"/>
                <a:cs typeface="Calibri" panose="020F0502020204030204" pitchFamily="34" charset="0"/>
              </a:rPr>
              <a:t>: აკადემიური ჟურნალის სტატიებს იმ პერიოდის განმავლობაში მიღებული ციტირების რაოდენობა.</a:t>
            </a:r>
          </a:p>
          <a:p>
            <a:pPr>
              <a:buFont typeface="+mj-lt"/>
              <a:buAutoNum type="arabicPeriod"/>
            </a:pPr>
            <a:r>
              <a:rPr lang="ka-GE" sz="2000" b="1" dirty="0">
                <a:latin typeface="Calibri" panose="020F0502020204030204" pitchFamily="34" charset="0"/>
                <a:cs typeface="Calibri" panose="020F0502020204030204" pitchFamily="34" charset="0"/>
              </a:rPr>
              <a:t>გამოქვეყნებული სტატიების რაოდენობა</a:t>
            </a:r>
            <a:r>
              <a:rPr lang="ka-GE" sz="2000" dirty="0">
                <a:latin typeface="Calibri" panose="020F0502020204030204" pitchFamily="34" charset="0"/>
                <a:cs typeface="Calibri" panose="020F0502020204030204" pitchFamily="34" charset="0"/>
              </a:rPr>
              <a:t>: იმავე პერიოდში ჟურნალში გამოქვეყნებული სტატიების რაოდენობა.</a:t>
            </a:r>
          </a:p>
        </p:txBody>
      </p:sp>
      <p:grpSp>
        <p:nvGrpSpPr>
          <p:cNvPr id="17" name="Group 16">
            <a:extLst>
              <a:ext uri="{FF2B5EF4-FFF2-40B4-BE49-F238E27FC236}">
                <a16:creationId xmlns:a16="http://schemas.microsoft.com/office/drawing/2014/main" id="{60ABBDA5-8E83-7F62-7AF4-049C4428279E}"/>
              </a:ext>
            </a:extLst>
          </p:cNvPr>
          <p:cNvGrpSpPr/>
          <p:nvPr/>
        </p:nvGrpSpPr>
        <p:grpSpPr>
          <a:xfrm>
            <a:off x="2202024" y="3170753"/>
            <a:ext cx="7678823" cy="860951"/>
            <a:chOff x="2202024" y="3170753"/>
            <a:chExt cx="7678823" cy="860951"/>
          </a:xfrm>
        </p:grpSpPr>
        <p:sp>
          <p:nvSpPr>
            <p:cNvPr id="11" name="TextBox 10">
              <a:extLst>
                <a:ext uri="{FF2B5EF4-FFF2-40B4-BE49-F238E27FC236}">
                  <a16:creationId xmlns:a16="http://schemas.microsoft.com/office/drawing/2014/main" id="{0AB52829-08C3-6B39-9649-0A50E15E9625}"/>
                </a:ext>
              </a:extLst>
            </p:cNvPr>
            <p:cNvSpPr txBox="1"/>
            <p:nvPr/>
          </p:nvSpPr>
          <p:spPr>
            <a:xfrm>
              <a:off x="2202024" y="3429000"/>
              <a:ext cx="1642188" cy="369332"/>
            </a:xfrm>
            <a:prstGeom prst="rect">
              <a:avLst/>
            </a:prstGeom>
            <a:noFill/>
          </p:spPr>
          <p:txBody>
            <a:bodyPr wrap="square" rtlCol="0">
              <a:spAutoFit/>
            </a:bodyPr>
            <a:lstStyle/>
            <a:p>
              <a:r>
                <a:rPr lang="en-US" dirty="0"/>
                <a:t>Impact Factor =</a:t>
              </a:r>
            </a:p>
          </p:txBody>
        </p:sp>
        <p:sp>
          <p:nvSpPr>
            <p:cNvPr id="12" name="TextBox 11">
              <a:extLst>
                <a:ext uri="{FF2B5EF4-FFF2-40B4-BE49-F238E27FC236}">
                  <a16:creationId xmlns:a16="http://schemas.microsoft.com/office/drawing/2014/main" id="{99CABD40-B70F-BD97-9CFC-DC76D2AFCC36}"/>
                </a:ext>
              </a:extLst>
            </p:cNvPr>
            <p:cNvSpPr txBox="1"/>
            <p:nvPr/>
          </p:nvSpPr>
          <p:spPr>
            <a:xfrm>
              <a:off x="4528882" y="3170753"/>
              <a:ext cx="4298302" cy="369332"/>
            </a:xfrm>
            <a:prstGeom prst="rect">
              <a:avLst/>
            </a:prstGeom>
            <a:noFill/>
          </p:spPr>
          <p:txBody>
            <a:bodyPr wrap="square" rtlCol="0">
              <a:spAutoFit/>
            </a:bodyPr>
            <a:lstStyle/>
            <a:p>
              <a:r>
                <a:rPr lang="ka-GE" dirty="0">
                  <a:latin typeface="Calibri" panose="020F0502020204030204" pitchFamily="34" charset="0"/>
                  <a:cs typeface="Calibri" panose="020F0502020204030204" pitchFamily="34" charset="0"/>
                </a:rPr>
                <a:t>ციტირებები ბოლო 2 წლის სტატიებზე</a:t>
              </a:r>
              <a:endParaRPr lang="en-US" dirty="0">
                <a:latin typeface="Calibri" panose="020F0502020204030204" pitchFamily="34" charset="0"/>
                <a:cs typeface="Calibri" panose="020F0502020204030204" pitchFamily="34" charset="0"/>
              </a:endParaRPr>
            </a:p>
          </p:txBody>
        </p:sp>
        <p:cxnSp>
          <p:nvCxnSpPr>
            <p:cNvPr id="14" name="Straight Connector 13">
              <a:extLst>
                <a:ext uri="{FF2B5EF4-FFF2-40B4-BE49-F238E27FC236}">
                  <a16:creationId xmlns:a16="http://schemas.microsoft.com/office/drawing/2014/main" id="{3E9FABEE-D712-4078-2468-9A0993080995}"/>
                </a:ext>
              </a:extLst>
            </p:cNvPr>
            <p:cNvCxnSpPr>
              <a:cxnSpLocks/>
              <a:stCxn id="11" idx="3"/>
            </p:cNvCxnSpPr>
            <p:nvPr/>
          </p:nvCxnSpPr>
          <p:spPr>
            <a:xfrm>
              <a:off x="3844212" y="3613666"/>
              <a:ext cx="6036635" cy="24353"/>
            </a:xfrm>
            <a:prstGeom prst="line">
              <a:avLst/>
            </a:prstGeom>
          </p:spPr>
          <p:style>
            <a:lnRef idx="1">
              <a:schemeClr val="dk1"/>
            </a:lnRef>
            <a:fillRef idx="0">
              <a:schemeClr val="dk1"/>
            </a:fillRef>
            <a:effectRef idx="0">
              <a:schemeClr val="dk1"/>
            </a:effectRef>
            <a:fontRef idx="minor">
              <a:schemeClr val="tx1"/>
            </a:fontRef>
          </p:style>
        </p:cxnSp>
        <p:sp>
          <p:nvSpPr>
            <p:cNvPr id="15" name="TextBox 14">
              <a:extLst>
                <a:ext uri="{FF2B5EF4-FFF2-40B4-BE49-F238E27FC236}">
                  <a16:creationId xmlns:a16="http://schemas.microsoft.com/office/drawing/2014/main" id="{8C307202-FF36-2F8C-817A-B3A995F784FF}"/>
                </a:ext>
              </a:extLst>
            </p:cNvPr>
            <p:cNvSpPr txBox="1"/>
            <p:nvPr/>
          </p:nvSpPr>
          <p:spPr>
            <a:xfrm>
              <a:off x="3844212" y="3662372"/>
              <a:ext cx="6036635" cy="369332"/>
            </a:xfrm>
            <a:prstGeom prst="rect">
              <a:avLst/>
            </a:prstGeom>
            <a:noFill/>
          </p:spPr>
          <p:txBody>
            <a:bodyPr wrap="square" rtlCol="0">
              <a:spAutoFit/>
            </a:bodyPr>
            <a:lstStyle/>
            <a:p>
              <a:r>
                <a:rPr lang="ka-GE" dirty="0">
                  <a:latin typeface="Calibri" panose="020F0502020204030204" pitchFamily="34" charset="0"/>
                  <a:cs typeface="Calibri" panose="020F0502020204030204" pitchFamily="34" charset="0"/>
                </a:rPr>
                <a:t>ბოლო 2 წლის გამოქვეყნებული სტატიების რაოდენობა</a:t>
              </a:r>
              <a:endParaRPr lang="en-US" dirty="0">
                <a:latin typeface="Calibri" panose="020F0502020204030204" pitchFamily="34" charset="0"/>
                <a:cs typeface="Calibri" panose="020F0502020204030204" pitchFamily="34" charset="0"/>
              </a:endParaRPr>
            </a:p>
          </p:txBody>
        </p:sp>
      </p:grpSp>
      <p:sp>
        <p:nvSpPr>
          <p:cNvPr id="19" name="TextBox 18">
            <a:extLst>
              <a:ext uri="{FF2B5EF4-FFF2-40B4-BE49-F238E27FC236}">
                <a16:creationId xmlns:a16="http://schemas.microsoft.com/office/drawing/2014/main" id="{EFADB9F4-F656-6FCD-20F4-D34F714201EC}"/>
              </a:ext>
            </a:extLst>
          </p:cNvPr>
          <p:cNvSpPr txBox="1"/>
          <p:nvPr/>
        </p:nvSpPr>
        <p:spPr>
          <a:xfrm>
            <a:off x="419470" y="4439113"/>
            <a:ext cx="11307932" cy="1200329"/>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მაგალითად:</a:t>
            </a:r>
          </a:p>
          <a:p>
            <a:r>
              <a:rPr lang="ka-GE" dirty="0">
                <a:latin typeface="Calibri" panose="020F0502020204030204" pitchFamily="34" charset="0"/>
                <a:cs typeface="Calibri" panose="020F0502020204030204" pitchFamily="34" charset="0"/>
              </a:rPr>
              <a:t>თუ 2023 წელს, ჟურნალის სტატიებზე მიღებული ციტირებების რაოდენობა 2021-2022 წლებში გამოქვეყნებული სტატიებისთვის არის 100, ხოლო ამ პერიოდში ჟურნალმა 50 სტატია გამოაქვეყნა, მაშინ მისი </a:t>
            </a:r>
            <a:r>
              <a:rPr lang="en-US" dirty="0">
                <a:latin typeface="Calibri" panose="020F0502020204030204" pitchFamily="34" charset="0"/>
                <a:cs typeface="Calibri" panose="020F0502020204030204" pitchFamily="34" charset="0"/>
              </a:rPr>
              <a:t>Impact Factor </a:t>
            </a:r>
            <a:r>
              <a:rPr lang="ka-GE" dirty="0">
                <a:latin typeface="Calibri" panose="020F0502020204030204" pitchFamily="34" charset="0"/>
                <a:cs typeface="Calibri" panose="020F0502020204030204" pitchFamily="34" charset="0"/>
              </a:rPr>
              <a:t>იქნება: </a:t>
            </a:r>
            <a:r>
              <a:rPr lang="en-US" dirty="0">
                <a:latin typeface="Calibri" panose="020F0502020204030204" pitchFamily="34" charset="0"/>
                <a:cs typeface="Calibri" panose="020F0502020204030204" pitchFamily="34" charset="0"/>
              </a:rPr>
              <a:t>IF=100/50=2</a:t>
            </a:r>
            <a:endParaRPr lang="ka-GE"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0145678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FAE1-2D5C-77BF-9254-C43E98E918BB}"/>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altLang="en-US" sz="3600" dirty="0">
                <a:solidFill>
                  <a:schemeClr val="bg1"/>
                </a:solidFill>
                <a:latin typeface="Calibri" panose="020F0502020204030204" pitchFamily="34" charset="0"/>
                <a:cs typeface="Calibri" panose="020F0502020204030204" pitchFamily="34" charset="0"/>
              </a:rPr>
              <a:t>გავლენის </a:t>
            </a:r>
            <a:r>
              <a:rPr lang="ka-GE" altLang="en-US" sz="3600" dirty="0" err="1">
                <a:solidFill>
                  <a:schemeClr val="bg1"/>
                </a:solidFill>
                <a:latin typeface="Calibri" panose="020F0502020204030204" pitchFamily="34" charset="0"/>
                <a:cs typeface="Calibri" panose="020F0502020204030204" pitchFamily="34" charset="0"/>
              </a:rPr>
              <a:t>გაქტორი</a:t>
            </a:r>
            <a:r>
              <a:rPr lang="ka-GE" altLang="en-US" sz="3600" dirty="0">
                <a:solidFill>
                  <a:schemeClr val="bg1"/>
                </a:solidFill>
                <a:latin typeface="Calibri" panose="020F0502020204030204" pitchFamily="34" charset="0"/>
                <a:cs typeface="Calibri" panose="020F0502020204030204" pitchFamily="34" charset="0"/>
              </a:rPr>
              <a:t> (</a:t>
            </a:r>
            <a:r>
              <a:rPr lang="en-US" altLang="en-US" sz="3600" dirty="0">
                <a:solidFill>
                  <a:schemeClr val="bg1"/>
                </a:solidFill>
                <a:latin typeface="Calibri" panose="020F0502020204030204" pitchFamily="34" charset="0"/>
                <a:cs typeface="Calibri" panose="020F0502020204030204" pitchFamily="34" charset="0"/>
              </a:rPr>
              <a:t>IF – Impact Factor)</a:t>
            </a:r>
          </a:p>
        </p:txBody>
      </p:sp>
      <p:sp>
        <p:nvSpPr>
          <p:cNvPr id="4" name="TextBox 3">
            <a:extLst>
              <a:ext uri="{FF2B5EF4-FFF2-40B4-BE49-F238E27FC236}">
                <a16:creationId xmlns:a16="http://schemas.microsoft.com/office/drawing/2014/main" id="{D40D6C43-C3B1-7E0A-B282-84BC572FEF3D}"/>
              </a:ext>
            </a:extLst>
          </p:cNvPr>
          <p:cNvSpPr txBox="1"/>
          <p:nvPr/>
        </p:nvSpPr>
        <p:spPr>
          <a:xfrm>
            <a:off x="321815" y="2775983"/>
            <a:ext cx="11751816" cy="2246769"/>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Impact Factor-</a:t>
            </a:r>
            <a:r>
              <a:rPr lang="ka-GE" sz="2000" b="1" dirty="0">
                <a:latin typeface="Calibri" panose="020F0502020204030204" pitchFamily="34" charset="0"/>
                <a:cs typeface="Calibri" panose="020F0502020204030204" pitchFamily="34" charset="0"/>
              </a:rPr>
              <a:t>ის გამოყენება:</a:t>
            </a:r>
            <a:endParaRPr lang="en-US" sz="2000" b="1" dirty="0">
              <a:latin typeface="Calibri" panose="020F0502020204030204" pitchFamily="34" charset="0"/>
              <a:cs typeface="Calibri" panose="020F0502020204030204" pitchFamily="34" charset="0"/>
            </a:endParaRPr>
          </a:p>
          <a:p>
            <a:endParaRPr lang="ka-GE" sz="2000" b="1"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Impact Factor </a:t>
            </a:r>
            <a:r>
              <a:rPr lang="ka-GE" sz="2000" dirty="0">
                <a:latin typeface="Calibri" panose="020F0502020204030204" pitchFamily="34" charset="0"/>
                <a:cs typeface="Calibri" panose="020F0502020204030204" pitchFamily="34" charset="0"/>
              </a:rPr>
              <a:t>გამოიყენება ჟურნალების შედარებისთვის და კვლევების შეფასებისთვის. მაღალი </a:t>
            </a:r>
            <a:r>
              <a:rPr lang="en-US" sz="2000" dirty="0">
                <a:latin typeface="Calibri" panose="020F0502020204030204" pitchFamily="34" charset="0"/>
                <a:cs typeface="Calibri" panose="020F0502020204030204" pitchFamily="34" charset="0"/>
              </a:rPr>
              <a:t>IF </a:t>
            </a:r>
            <a:r>
              <a:rPr lang="ka-GE" sz="2000" dirty="0">
                <a:latin typeface="Calibri" panose="020F0502020204030204" pitchFamily="34" charset="0"/>
                <a:cs typeface="Calibri" panose="020F0502020204030204" pitchFamily="34" charset="0"/>
              </a:rPr>
              <a:t>ნიშნავს, რომ ჟურნალის სტატიები რომლის ციტირება ხშირად ხდება და ითვლება უფრო მაღალი ხარისხის ან გავლენის მქონედ. კვლევების პუბლიკაციისთვის ჟურნალის შერჩევისას, მკვლევარები ხშირად უყურებენ </a:t>
            </a:r>
            <a:r>
              <a:rPr lang="en-US" sz="2000" dirty="0">
                <a:latin typeface="Calibri" panose="020F0502020204030204" pitchFamily="34" charset="0"/>
                <a:cs typeface="Calibri" panose="020F0502020204030204" pitchFamily="34" charset="0"/>
              </a:rPr>
              <a:t>IF-</a:t>
            </a:r>
            <a:r>
              <a:rPr lang="ka-GE" sz="2000" dirty="0">
                <a:latin typeface="Calibri" panose="020F0502020204030204" pitchFamily="34" charset="0"/>
                <a:cs typeface="Calibri" panose="020F0502020204030204" pitchFamily="34" charset="0"/>
              </a:rPr>
              <a:t>ს, რადგან იგი ასახავს ჟურნალის ავტორიტეტსა და პოპულარობას კონკრეტულ დისციპლინაში.</a:t>
            </a:r>
          </a:p>
        </p:txBody>
      </p:sp>
      <p:pic>
        <p:nvPicPr>
          <p:cNvPr id="6" name="Picture 5">
            <a:extLst>
              <a:ext uri="{FF2B5EF4-FFF2-40B4-BE49-F238E27FC236}">
                <a16:creationId xmlns:a16="http://schemas.microsoft.com/office/drawing/2014/main" id="{43061011-70BB-A9FE-F76F-C4A6A8A2C017}"/>
              </a:ext>
            </a:extLst>
          </p:cNvPr>
          <p:cNvPicPr>
            <a:picLocks noChangeAspect="1"/>
          </p:cNvPicPr>
          <p:nvPr/>
        </p:nvPicPr>
        <p:blipFill>
          <a:blip r:embed="rId2"/>
          <a:stretch>
            <a:fillRect/>
          </a:stretch>
        </p:blipFill>
        <p:spPr>
          <a:xfrm>
            <a:off x="176849" y="1061872"/>
            <a:ext cx="6524625" cy="1428750"/>
          </a:xfrm>
          <a:prstGeom prst="rect">
            <a:avLst/>
          </a:prstGeom>
        </p:spPr>
      </p:pic>
      <p:sp>
        <p:nvSpPr>
          <p:cNvPr id="9" name="TextBox 8">
            <a:extLst>
              <a:ext uri="{FF2B5EF4-FFF2-40B4-BE49-F238E27FC236}">
                <a16:creationId xmlns:a16="http://schemas.microsoft.com/office/drawing/2014/main" id="{05056093-C87D-186C-4856-A38717B62E95}"/>
              </a:ext>
            </a:extLst>
          </p:cNvPr>
          <p:cNvSpPr txBox="1"/>
          <p:nvPr/>
        </p:nvSpPr>
        <p:spPr>
          <a:xfrm>
            <a:off x="321815" y="553786"/>
            <a:ext cx="6097554" cy="369332"/>
          </a:xfrm>
          <a:prstGeom prst="rect">
            <a:avLst/>
          </a:prstGeom>
          <a:noFill/>
        </p:spPr>
        <p:txBody>
          <a:bodyPr wrap="square">
            <a:spAutoFit/>
          </a:bodyPr>
          <a:lstStyle/>
          <a:p>
            <a:r>
              <a:rPr lang="en-US" sz="1800" b="1" dirty="0">
                <a:latin typeface="Calibri" panose="020F0502020204030204" pitchFamily="34" charset="0"/>
                <a:cs typeface="Calibri" panose="020F0502020204030204" pitchFamily="34" charset="0"/>
              </a:rPr>
              <a:t>Impact Factor-</a:t>
            </a:r>
            <a:r>
              <a:rPr lang="ka-GE" sz="1800" b="1" dirty="0">
                <a:latin typeface="Calibri" panose="020F0502020204030204" pitchFamily="34" charset="0"/>
                <a:cs typeface="Calibri" panose="020F0502020204030204" pitchFamily="34" charset="0"/>
              </a:rPr>
              <a:t>ის გამოთვლა ონლაინ:</a:t>
            </a:r>
            <a:endParaRPr lang="en-US" sz="1800" b="1" dirty="0">
              <a:latin typeface="Calibri" panose="020F0502020204030204" pitchFamily="34" charset="0"/>
              <a:cs typeface="Calibri" panose="020F0502020204030204" pitchFamily="34" charset="0"/>
            </a:endParaRPr>
          </a:p>
        </p:txBody>
      </p:sp>
      <p:sp>
        <p:nvSpPr>
          <p:cNvPr id="13" name="TextBox 12">
            <a:extLst>
              <a:ext uri="{FF2B5EF4-FFF2-40B4-BE49-F238E27FC236}">
                <a16:creationId xmlns:a16="http://schemas.microsoft.com/office/drawing/2014/main" id="{A1C8B0CA-4BE4-98E7-5456-EDE366D2A147}"/>
              </a:ext>
            </a:extLst>
          </p:cNvPr>
          <p:cNvSpPr txBox="1"/>
          <p:nvPr/>
        </p:nvSpPr>
        <p:spPr>
          <a:xfrm>
            <a:off x="321815" y="5426796"/>
            <a:ext cx="6094520" cy="369332"/>
          </a:xfrm>
          <a:prstGeom prst="rect">
            <a:avLst/>
          </a:prstGeom>
          <a:noFill/>
        </p:spPr>
        <p:txBody>
          <a:bodyPr wrap="square">
            <a:spAutoFit/>
          </a:bodyPr>
          <a:lstStyle/>
          <a:p>
            <a:r>
              <a:rPr lang="en-US" dirty="0"/>
              <a:t>https://www.youtube.com/watch?v=DqUPine5C94</a:t>
            </a:r>
          </a:p>
        </p:txBody>
      </p:sp>
    </p:spTree>
    <p:extLst>
      <p:ext uri="{BB962C8B-B14F-4D97-AF65-F5344CB8AC3E}">
        <p14:creationId xmlns:p14="http://schemas.microsoft.com/office/powerpoint/2010/main" val="223839412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FAE1-2D5C-77BF-9254-C43E98E918BB}"/>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sz="3600" dirty="0">
                <a:solidFill>
                  <a:schemeClr val="bg1"/>
                </a:solidFill>
                <a:latin typeface="Calibri" panose="020F0502020204030204" pitchFamily="34" charset="0"/>
                <a:cs typeface="Calibri" panose="020F0502020204030204" pitchFamily="34" charset="0"/>
              </a:rPr>
              <a:t>აკადემიური და სამეცნიერო სტატიების შეფასების პროცესი</a:t>
            </a:r>
            <a:r>
              <a:rPr lang="en-US" sz="3600" dirty="0">
                <a:solidFill>
                  <a:schemeClr val="bg1"/>
                </a:solidFill>
                <a:latin typeface="Calibri" panose="020F0502020204030204" pitchFamily="34" charset="0"/>
                <a:cs typeface="Calibri" panose="020F0502020204030204" pitchFamily="34" charset="0"/>
              </a:rPr>
              <a:t> - </a:t>
            </a:r>
            <a:r>
              <a:rPr lang="en-US" sz="3600" b="1" dirty="0">
                <a:solidFill>
                  <a:schemeClr val="bg1"/>
                </a:solidFill>
                <a:latin typeface="Calibri" panose="020F0502020204030204" pitchFamily="34" charset="0"/>
                <a:cs typeface="Calibri" panose="020F0502020204030204" pitchFamily="34" charset="0"/>
              </a:rPr>
              <a:t>Peer Review</a:t>
            </a:r>
            <a:r>
              <a:rPr lang="en-US" sz="3600" dirty="0">
                <a:solidFill>
                  <a:schemeClr val="bg1"/>
                </a:solidFill>
                <a:latin typeface="Calibri" panose="020F0502020204030204" pitchFamily="34" charset="0"/>
                <a:cs typeface="Calibri" panose="020F0502020204030204" pitchFamily="34" charset="0"/>
              </a:rPr>
              <a:t> </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CB4D9DBC-B5C1-95E5-8CF6-74F8EC9D1E08}"/>
              </a:ext>
            </a:extLst>
          </p:cNvPr>
          <p:cNvSpPr txBox="1"/>
          <p:nvPr/>
        </p:nvSpPr>
        <p:spPr>
          <a:xfrm>
            <a:off x="257452" y="709978"/>
            <a:ext cx="11469949" cy="1323439"/>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Peer Review</a:t>
            </a:r>
            <a:r>
              <a:rPr lang="en-US" sz="2000" dirty="0">
                <a:latin typeface="Calibri" panose="020F0502020204030204" pitchFamily="34" charset="0"/>
                <a:cs typeface="Calibri" panose="020F0502020204030204" pitchFamily="34" charset="0"/>
              </a:rPr>
              <a:t> </a:t>
            </a:r>
            <a:r>
              <a:rPr lang="ka-GE" sz="2000" dirty="0">
                <a:latin typeface="Calibri" panose="020F0502020204030204" pitchFamily="34" charset="0"/>
                <a:cs typeface="Calibri" panose="020F0502020204030204" pitchFamily="34" charset="0"/>
              </a:rPr>
              <a:t>არის აკადემიური და სამეცნიერო სტატიების შეფასების პროცესი, რომლის დროსაც სტატიის შინაარსს ამოწმებენ და აფასებენ დამოუკიდებელი ექსპერტები, რომლებიც არიან ამავე სფეროს წარმომადგენლები (</a:t>
            </a:r>
            <a:r>
              <a:rPr lang="en-US" sz="2000" dirty="0">
                <a:latin typeface="Calibri" panose="020F0502020204030204" pitchFamily="34" charset="0"/>
                <a:cs typeface="Calibri" panose="020F0502020204030204" pitchFamily="34" charset="0"/>
              </a:rPr>
              <a:t>Peers). </a:t>
            </a:r>
            <a:r>
              <a:rPr lang="ka-GE" sz="2000" dirty="0">
                <a:latin typeface="Calibri" panose="020F0502020204030204" pitchFamily="34" charset="0"/>
                <a:cs typeface="Calibri" panose="020F0502020204030204" pitchFamily="34" charset="0"/>
              </a:rPr>
              <a:t>ეს პროცესი უზრუნველყოფს სტატიების ხარისხს, სანდოობას და მეცნიერულ სიზუსტეს.</a:t>
            </a:r>
            <a:endParaRPr lang="en-US" sz="2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55A4126A-FD8D-5176-2A72-9F3B388AD408}"/>
              </a:ext>
            </a:extLst>
          </p:cNvPr>
          <p:cNvSpPr txBox="1"/>
          <p:nvPr/>
        </p:nvSpPr>
        <p:spPr>
          <a:xfrm>
            <a:off x="257452" y="2335021"/>
            <a:ext cx="11239131" cy="3785652"/>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Peer Review-</a:t>
            </a:r>
            <a:r>
              <a:rPr lang="ka-GE" sz="2000" b="1" dirty="0">
                <a:latin typeface="Calibri" panose="020F0502020204030204" pitchFamily="34" charset="0"/>
                <a:cs typeface="Calibri" panose="020F0502020204030204" pitchFamily="34" charset="0"/>
              </a:rPr>
              <a:t>ის პროცესი:</a:t>
            </a:r>
            <a:endParaRPr lang="en-US" sz="2000" b="1" dirty="0">
              <a:latin typeface="Calibri" panose="020F0502020204030204" pitchFamily="34" charset="0"/>
              <a:cs typeface="Calibri" panose="020F0502020204030204" pitchFamily="34" charset="0"/>
            </a:endParaRPr>
          </a:p>
          <a:p>
            <a:endParaRPr lang="ka-GE" sz="2000" b="1" dirty="0">
              <a:latin typeface="Calibri" panose="020F0502020204030204" pitchFamily="34" charset="0"/>
              <a:cs typeface="Calibri" panose="020F0502020204030204" pitchFamily="34" charset="0"/>
            </a:endParaRPr>
          </a:p>
          <a:p>
            <a:pPr>
              <a:buFont typeface="+mj-lt"/>
              <a:buAutoNum type="arabicPeriod"/>
            </a:pPr>
            <a:r>
              <a:rPr lang="ka-GE" sz="2000" b="1" dirty="0">
                <a:latin typeface="Calibri" panose="020F0502020204030204" pitchFamily="34" charset="0"/>
                <a:cs typeface="Calibri" panose="020F0502020204030204" pitchFamily="34" charset="0"/>
              </a:rPr>
              <a:t>სტატიის წარდგენა</a:t>
            </a:r>
            <a:r>
              <a:rPr lang="ka-GE" sz="2000" dirty="0">
                <a:latin typeface="Calibri" panose="020F0502020204030204" pitchFamily="34" charset="0"/>
                <a:cs typeface="Calibri" panose="020F0502020204030204" pitchFamily="34" charset="0"/>
              </a:rPr>
              <a:t>: ავტორები აგზავნიან სტატიას სამეცნიერო ჟურნალში გამოსაქვეყნებლად.</a:t>
            </a:r>
          </a:p>
          <a:p>
            <a:pPr>
              <a:buFont typeface="+mj-lt"/>
              <a:buAutoNum type="arabicPeriod"/>
            </a:pPr>
            <a:r>
              <a:rPr lang="ka-GE" sz="2000" b="1" dirty="0">
                <a:latin typeface="Calibri" panose="020F0502020204030204" pitchFamily="34" charset="0"/>
                <a:cs typeface="Calibri" panose="020F0502020204030204" pitchFamily="34" charset="0"/>
              </a:rPr>
              <a:t>რედაქტორის შეფასება</a:t>
            </a:r>
            <a:r>
              <a:rPr lang="ka-GE" sz="2000" dirty="0">
                <a:latin typeface="Calibri" panose="020F0502020204030204" pitchFamily="34" charset="0"/>
                <a:cs typeface="Calibri" panose="020F0502020204030204" pitchFamily="34" charset="0"/>
              </a:rPr>
              <a:t>: ჟურნალის რედაქტორი აფასებს, თუ რამდენად შეესაბამება სტატია ჟურნალის თემატიკას და სტანდარტებს.</a:t>
            </a:r>
          </a:p>
          <a:p>
            <a:pPr>
              <a:buFont typeface="+mj-lt"/>
              <a:buAutoNum type="arabicPeriod"/>
            </a:pPr>
            <a:r>
              <a:rPr lang="ka-GE" sz="2000" b="1" dirty="0">
                <a:latin typeface="Calibri" panose="020F0502020204030204" pitchFamily="34" charset="0"/>
                <a:cs typeface="Calibri" panose="020F0502020204030204" pitchFamily="34" charset="0"/>
              </a:rPr>
              <a:t>ექსპერტების შერჩევა</a:t>
            </a:r>
            <a:r>
              <a:rPr lang="ka-GE" sz="2000" dirty="0">
                <a:latin typeface="Calibri" panose="020F0502020204030204" pitchFamily="34" charset="0"/>
                <a:cs typeface="Calibri" panose="020F0502020204030204" pitchFamily="34" charset="0"/>
              </a:rPr>
              <a:t>: თუ რედაქტორი თვლის, რომ სტატია შესაფერისია, ის აგზავნის მას 2 ან 3 დამოუკიდებელ ექსპერტთან (</a:t>
            </a:r>
            <a:r>
              <a:rPr lang="en-US" sz="2000" dirty="0">
                <a:latin typeface="Calibri" panose="020F0502020204030204" pitchFamily="34" charset="0"/>
                <a:cs typeface="Calibri" panose="020F0502020204030204" pitchFamily="34" charset="0"/>
              </a:rPr>
              <a:t>Peers) </a:t>
            </a:r>
            <a:r>
              <a:rPr lang="ka-GE" sz="2000" dirty="0">
                <a:latin typeface="Calibri" panose="020F0502020204030204" pitchFamily="34" charset="0"/>
                <a:cs typeface="Calibri" panose="020F0502020204030204" pitchFamily="34" charset="0"/>
              </a:rPr>
              <a:t>სფეროდან, რათა შეაფასონ სტატია.</a:t>
            </a:r>
          </a:p>
          <a:p>
            <a:pPr>
              <a:buFont typeface="+mj-lt"/>
              <a:buAutoNum type="arabicPeriod"/>
            </a:pPr>
            <a:r>
              <a:rPr lang="ka-GE" sz="2000" b="1" dirty="0">
                <a:latin typeface="Calibri" panose="020F0502020204030204" pitchFamily="34" charset="0"/>
                <a:cs typeface="Calibri" panose="020F0502020204030204" pitchFamily="34" charset="0"/>
              </a:rPr>
              <a:t>რეცენზირება</a:t>
            </a:r>
            <a:r>
              <a:rPr lang="ka-GE" sz="2000" dirty="0">
                <a:latin typeface="Calibri" panose="020F0502020204030204" pitchFamily="34" charset="0"/>
                <a:cs typeface="Calibri" panose="020F0502020204030204" pitchFamily="34" charset="0"/>
              </a:rPr>
              <a:t>: ექსპერტები დეტალურად სწავლობენ სტატიას, აფასებენ მის მეცნიერულ სიზუსტეს, მეთოდოლოგიას, ციტატებს და შინაარსს, ასევე, გვთავაზობენ ცვლილებებს ან </a:t>
            </a:r>
            <a:r>
              <a:rPr lang="ka-GE" sz="2000" dirty="0" err="1">
                <a:latin typeface="Calibri" panose="020F0502020204030204" pitchFamily="34" charset="0"/>
                <a:cs typeface="Calibri" panose="020F0502020204030204" pitchFamily="34" charset="0"/>
              </a:rPr>
              <a:t>გაუმჯობესებებს</a:t>
            </a:r>
            <a:r>
              <a:rPr lang="ka-GE" sz="2000" dirty="0">
                <a:latin typeface="Calibri" panose="020F0502020204030204" pitchFamily="34" charset="0"/>
                <a:cs typeface="Calibri" panose="020F0502020204030204" pitchFamily="34" charset="0"/>
              </a:rPr>
              <a:t>.</a:t>
            </a:r>
          </a:p>
          <a:p>
            <a:pPr>
              <a:buFont typeface="+mj-lt"/>
              <a:buAutoNum type="arabicPeriod"/>
            </a:pPr>
            <a:r>
              <a:rPr lang="ka-GE" sz="2000" b="1" dirty="0">
                <a:latin typeface="Calibri" panose="020F0502020204030204" pitchFamily="34" charset="0"/>
                <a:cs typeface="Calibri" panose="020F0502020204030204" pitchFamily="34" charset="0"/>
              </a:rPr>
              <a:t>შეფასება და გამოქვეყნება</a:t>
            </a:r>
            <a:r>
              <a:rPr lang="ka-GE" sz="2000" dirty="0">
                <a:latin typeface="Calibri" panose="020F0502020204030204" pitchFamily="34" charset="0"/>
                <a:cs typeface="Calibri" panose="020F0502020204030204" pitchFamily="34" charset="0"/>
              </a:rPr>
              <a:t>: ექსპერტების მოსაზრებების საფუძველზე, რედაქტორი იღებს გადაწყვეტილებას სტატიის გამოსაქვეყნებლად ან გაუმჯობესებისთვის უკან დაბრუნებისთვის.</a:t>
            </a:r>
          </a:p>
        </p:txBody>
      </p:sp>
    </p:spTree>
    <p:extLst>
      <p:ext uri="{BB962C8B-B14F-4D97-AF65-F5344CB8AC3E}">
        <p14:creationId xmlns:p14="http://schemas.microsoft.com/office/powerpoint/2010/main" val="274795378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CBFAE1-2D5C-77BF-9254-C43E98E918BB}"/>
              </a:ext>
            </a:extLst>
          </p:cNvPr>
          <p:cNvSpPr txBox="1">
            <a:spLocks/>
          </p:cNvSpPr>
          <p:nvPr/>
        </p:nvSpPr>
        <p:spPr>
          <a:xfrm>
            <a:off x="0" y="0"/>
            <a:ext cx="12192000" cy="408374"/>
          </a:xfrm>
          <a:prstGeom prst="rect">
            <a:avLst/>
          </a:prstGeom>
          <a:solidFill>
            <a:srgbClr val="1F23A9"/>
          </a:solidFill>
        </p:spPr>
        <p:txBody>
          <a:bodyPr vert="horz" lIns="91440" tIns="45720" rIns="91440" bIns="45720" rtlCol="0" anchor="ctr">
            <a:normAutofit fontScale="75000" lnSpcReduction="2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ka-GE" sz="3600" dirty="0">
                <a:solidFill>
                  <a:schemeClr val="bg1"/>
                </a:solidFill>
                <a:latin typeface="Calibri" panose="020F0502020204030204" pitchFamily="34" charset="0"/>
                <a:cs typeface="Calibri" panose="020F0502020204030204" pitchFamily="34" charset="0"/>
              </a:rPr>
              <a:t>აკადემიური და სამეცნიერო სტატიების შეფასების პროცესი</a:t>
            </a:r>
            <a:r>
              <a:rPr lang="en-US" sz="3600" dirty="0">
                <a:solidFill>
                  <a:schemeClr val="bg1"/>
                </a:solidFill>
                <a:latin typeface="Calibri" panose="020F0502020204030204" pitchFamily="34" charset="0"/>
                <a:cs typeface="Calibri" panose="020F0502020204030204" pitchFamily="34" charset="0"/>
              </a:rPr>
              <a:t> - </a:t>
            </a:r>
            <a:r>
              <a:rPr lang="en-US" sz="3600" b="1" dirty="0">
                <a:solidFill>
                  <a:schemeClr val="bg1"/>
                </a:solidFill>
                <a:latin typeface="Calibri" panose="020F0502020204030204" pitchFamily="34" charset="0"/>
                <a:cs typeface="Calibri" panose="020F0502020204030204" pitchFamily="34" charset="0"/>
              </a:rPr>
              <a:t>Peer Review</a:t>
            </a:r>
            <a:r>
              <a:rPr lang="en-US" sz="3600" dirty="0">
                <a:solidFill>
                  <a:schemeClr val="bg1"/>
                </a:solidFill>
                <a:latin typeface="Calibri" panose="020F0502020204030204" pitchFamily="34" charset="0"/>
                <a:cs typeface="Calibri" panose="020F0502020204030204" pitchFamily="34" charset="0"/>
              </a:rPr>
              <a:t> </a:t>
            </a:r>
            <a:endParaRPr lang="en-US" altLang="en-US" sz="3600" dirty="0">
              <a:solidFill>
                <a:schemeClr val="bg1"/>
              </a:solidFill>
              <a:latin typeface="Calibri" panose="020F0502020204030204" pitchFamily="34" charset="0"/>
              <a:cs typeface="Calibri" panose="020F0502020204030204" pitchFamily="34" charset="0"/>
            </a:endParaRPr>
          </a:p>
        </p:txBody>
      </p:sp>
      <p:sp>
        <p:nvSpPr>
          <p:cNvPr id="4" name="TextBox 3">
            <a:extLst>
              <a:ext uri="{FF2B5EF4-FFF2-40B4-BE49-F238E27FC236}">
                <a16:creationId xmlns:a16="http://schemas.microsoft.com/office/drawing/2014/main" id="{A9193ADF-F32D-D4F3-CE5B-8B67455F1D83}"/>
              </a:ext>
            </a:extLst>
          </p:cNvPr>
          <p:cNvSpPr txBox="1"/>
          <p:nvPr/>
        </p:nvSpPr>
        <p:spPr>
          <a:xfrm>
            <a:off x="381740" y="673703"/>
            <a:ext cx="11345662" cy="3170099"/>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Peer Review-</a:t>
            </a:r>
            <a:r>
              <a:rPr lang="ka-GE" sz="2000" b="1" dirty="0">
                <a:latin typeface="Calibri" panose="020F0502020204030204" pitchFamily="34" charset="0"/>
                <a:cs typeface="Calibri" panose="020F0502020204030204" pitchFamily="34" charset="0"/>
              </a:rPr>
              <a:t>ის მნიშვნელობა და გამოყენება:</a:t>
            </a:r>
            <a:endParaRPr lang="en-US" sz="2000" b="1" dirty="0">
              <a:latin typeface="Calibri" panose="020F0502020204030204" pitchFamily="34" charset="0"/>
              <a:cs typeface="Calibri" panose="020F0502020204030204" pitchFamily="34" charset="0"/>
            </a:endParaRPr>
          </a:p>
          <a:p>
            <a:endParaRPr lang="ka-GE" sz="2000" b="1" dirty="0">
              <a:latin typeface="Calibri" panose="020F0502020204030204" pitchFamily="34" charset="0"/>
              <a:cs typeface="Calibri" panose="020F0502020204030204" pitchFamily="34" charset="0"/>
            </a:endParaRPr>
          </a:p>
          <a:p>
            <a:pPr>
              <a:buFont typeface="+mj-lt"/>
              <a:buAutoNum type="arabicPeriod"/>
            </a:pPr>
            <a:r>
              <a:rPr lang="en-US" sz="2000" b="1" dirty="0">
                <a:latin typeface="Calibri" panose="020F0502020204030204" pitchFamily="34" charset="0"/>
                <a:cs typeface="Calibri" panose="020F0502020204030204" pitchFamily="34" charset="0"/>
              </a:rPr>
              <a:t> </a:t>
            </a:r>
            <a:r>
              <a:rPr lang="ka-GE" sz="2000" b="1" dirty="0">
                <a:latin typeface="Calibri" panose="020F0502020204030204" pitchFamily="34" charset="0"/>
                <a:cs typeface="Calibri" panose="020F0502020204030204" pitchFamily="34" charset="0"/>
              </a:rPr>
              <a:t>ხარისხის კონტროლი</a:t>
            </a:r>
            <a:r>
              <a:rPr lang="ka-GE"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Peer Review </a:t>
            </a:r>
            <a:r>
              <a:rPr lang="ka-GE" sz="2000" dirty="0">
                <a:latin typeface="Calibri" panose="020F0502020204030204" pitchFamily="34" charset="0"/>
                <a:cs typeface="Calibri" panose="020F0502020204030204" pitchFamily="34" charset="0"/>
              </a:rPr>
              <a:t>უზრუნველყოფს კვლევის სტანდარტების დაცვას და შინაარსის მეცნიერულ სისწორეს.</a:t>
            </a:r>
          </a:p>
          <a:p>
            <a:pPr>
              <a:buFont typeface="+mj-lt"/>
              <a:buAutoNum type="arabicPeriod"/>
            </a:pPr>
            <a:r>
              <a:rPr lang="en-US" sz="2000" b="1" dirty="0">
                <a:latin typeface="Calibri" panose="020F0502020204030204" pitchFamily="34" charset="0"/>
                <a:cs typeface="Calibri" panose="020F0502020204030204" pitchFamily="34" charset="0"/>
              </a:rPr>
              <a:t> </a:t>
            </a:r>
            <a:r>
              <a:rPr lang="ka-GE" sz="2000" b="1" dirty="0">
                <a:latin typeface="Calibri" panose="020F0502020204030204" pitchFamily="34" charset="0"/>
                <a:cs typeface="Calibri" panose="020F0502020204030204" pitchFamily="34" charset="0"/>
              </a:rPr>
              <a:t>ობიექტურობა</a:t>
            </a:r>
            <a:r>
              <a:rPr lang="ka-GE" sz="2000" dirty="0">
                <a:latin typeface="Calibri" panose="020F0502020204030204" pitchFamily="34" charset="0"/>
                <a:cs typeface="Calibri" panose="020F0502020204030204" pitchFamily="34" charset="0"/>
              </a:rPr>
              <a:t>: პროცესი ანონიმურია (</a:t>
            </a:r>
            <a:r>
              <a:rPr lang="en-US" sz="2000" dirty="0">
                <a:latin typeface="Calibri" panose="020F0502020204030204" pitchFamily="34" charset="0"/>
                <a:cs typeface="Calibri" panose="020F0502020204030204" pitchFamily="34" charset="0"/>
              </a:rPr>
              <a:t>Double-blind Review) – </a:t>
            </a:r>
            <a:r>
              <a:rPr lang="ka-GE" sz="2000" dirty="0">
                <a:latin typeface="Calibri" panose="020F0502020204030204" pitchFamily="34" charset="0"/>
                <a:cs typeface="Calibri" panose="020F0502020204030204" pitchFamily="34" charset="0"/>
              </a:rPr>
              <a:t>შეფასება ხდება ისე, რომ არც ექსპერტებს ეცოდინებათ ავტორის ვინაობა და არც ავტორს – ექსპერტების.</a:t>
            </a:r>
          </a:p>
          <a:p>
            <a:pPr>
              <a:buFont typeface="+mj-lt"/>
              <a:buAutoNum type="arabicPeriod"/>
            </a:pPr>
            <a:r>
              <a:rPr lang="en-US" sz="2000" b="1" dirty="0">
                <a:latin typeface="Calibri" panose="020F0502020204030204" pitchFamily="34" charset="0"/>
                <a:cs typeface="Calibri" panose="020F0502020204030204" pitchFamily="34" charset="0"/>
              </a:rPr>
              <a:t> </a:t>
            </a:r>
            <a:r>
              <a:rPr lang="ka-GE" sz="2000" b="1" dirty="0">
                <a:latin typeface="Calibri" panose="020F0502020204030204" pitchFamily="34" charset="0"/>
                <a:cs typeface="Calibri" panose="020F0502020204030204" pitchFamily="34" charset="0"/>
              </a:rPr>
              <a:t>გაუმჯობესება</a:t>
            </a:r>
            <a:r>
              <a:rPr lang="ka-GE" sz="2000" dirty="0">
                <a:latin typeface="Calibri" panose="020F0502020204030204" pitchFamily="34" charset="0"/>
                <a:cs typeface="Calibri" panose="020F0502020204030204" pitchFamily="34" charset="0"/>
              </a:rPr>
              <a:t>: ექსპერტები ხშირად სთავაზობენ ავტორებს სტატიების გაუმჯობესების გზებს და ამით ეხმარებიან კვლევების სრულყოფაში.</a:t>
            </a:r>
          </a:p>
          <a:p>
            <a:pPr>
              <a:buFont typeface="+mj-lt"/>
              <a:buAutoNum type="arabicPeriod"/>
            </a:pPr>
            <a:r>
              <a:rPr lang="en-US" sz="2000" b="1" dirty="0">
                <a:latin typeface="Calibri" panose="020F0502020204030204" pitchFamily="34" charset="0"/>
                <a:cs typeface="Calibri" panose="020F0502020204030204" pitchFamily="34" charset="0"/>
              </a:rPr>
              <a:t> </a:t>
            </a:r>
            <a:r>
              <a:rPr lang="ka-GE" sz="2000" b="1" dirty="0">
                <a:latin typeface="Calibri" panose="020F0502020204030204" pitchFamily="34" charset="0"/>
                <a:cs typeface="Calibri" panose="020F0502020204030204" pitchFamily="34" charset="0"/>
              </a:rPr>
              <a:t>სანდოობა</a:t>
            </a:r>
            <a:r>
              <a:rPr lang="ka-GE" sz="2000" dirty="0">
                <a:latin typeface="Calibri" panose="020F0502020204030204" pitchFamily="34" charset="0"/>
                <a:cs typeface="Calibri" panose="020F0502020204030204" pitchFamily="34" charset="0"/>
              </a:rPr>
              <a:t>: </a:t>
            </a:r>
            <a:r>
              <a:rPr lang="en-US" sz="2000" dirty="0">
                <a:latin typeface="Calibri" panose="020F0502020204030204" pitchFamily="34" charset="0"/>
                <a:cs typeface="Calibri" panose="020F0502020204030204" pitchFamily="34" charset="0"/>
              </a:rPr>
              <a:t>Peer-reviewed </a:t>
            </a:r>
            <a:r>
              <a:rPr lang="ka-GE" sz="2000" dirty="0">
                <a:latin typeface="Calibri" panose="020F0502020204030204" pitchFamily="34" charset="0"/>
                <a:cs typeface="Calibri" panose="020F0502020204030204" pitchFamily="34" charset="0"/>
              </a:rPr>
              <a:t>სტატიები ითვლება უფრო სანდოდ და მაღალი დონის მეცნიერებად, რადგან ისინი გაიარეს დამოუკიდებელი ექსპერტების შეფასება.</a:t>
            </a:r>
          </a:p>
        </p:txBody>
      </p:sp>
      <p:sp>
        <p:nvSpPr>
          <p:cNvPr id="7" name="TextBox 6">
            <a:extLst>
              <a:ext uri="{FF2B5EF4-FFF2-40B4-BE49-F238E27FC236}">
                <a16:creationId xmlns:a16="http://schemas.microsoft.com/office/drawing/2014/main" id="{CC127521-9938-5410-7219-D9AFE5A753C2}"/>
              </a:ext>
            </a:extLst>
          </p:cNvPr>
          <p:cNvSpPr txBox="1"/>
          <p:nvPr/>
        </p:nvSpPr>
        <p:spPr>
          <a:xfrm>
            <a:off x="381740" y="4067636"/>
            <a:ext cx="11345662" cy="1938992"/>
          </a:xfrm>
          <a:prstGeom prst="rect">
            <a:avLst/>
          </a:prstGeom>
          <a:noFill/>
        </p:spPr>
        <p:txBody>
          <a:bodyPr wrap="square">
            <a:spAutoFit/>
          </a:bodyPr>
          <a:lstStyle/>
          <a:p>
            <a:r>
              <a:rPr lang="en-US" sz="2000" b="1" dirty="0">
                <a:latin typeface="Calibri" panose="020F0502020204030204" pitchFamily="34" charset="0"/>
                <a:cs typeface="Calibri" panose="020F0502020204030204" pitchFamily="34" charset="0"/>
              </a:rPr>
              <a:t>Peer Review </a:t>
            </a:r>
            <a:r>
              <a:rPr lang="ka-GE" sz="2000" b="1" dirty="0">
                <a:latin typeface="Calibri" panose="020F0502020204030204" pitchFamily="34" charset="0"/>
                <a:cs typeface="Calibri" panose="020F0502020204030204" pitchFamily="34" charset="0"/>
              </a:rPr>
              <a:t>არ გამოითვლება როგორც კონკრეტული ინდექსი ან რიცხვი, მაგრამ ის პროცესი გრძელდება მანამ, სანამ სტატია არ მიაღწევს მკაცრ სტანდარტებს და მიიღებს გამოსაქვეყნებლად თანხმობას.</a:t>
            </a:r>
            <a:endParaRPr lang="en-US" sz="2000" b="1" dirty="0">
              <a:latin typeface="Calibri" panose="020F0502020204030204" pitchFamily="34" charset="0"/>
              <a:cs typeface="Calibri" panose="020F0502020204030204" pitchFamily="34" charset="0"/>
            </a:endParaRPr>
          </a:p>
          <a:p>
            <a:endParaRPr lang="ka-GE" sz="2000" b="1" dirty="0">
              <a:latin typeface="Calibri" panose="020F0502020204030204" pitchFamily="34" charset="0"/>
              <a:cs typeface="Calibri" panose="020F0502020204030204" pitchFamily="34" charset="0"/>
            </a:endParaRPr>
          </a:p>
          <a:p>
            <a:r>
              <a:rPr lang="en-US" sz="2000" dirty="0">
                <a:latin typeface="Calibri" panose="020F0502020204030204" pitchFamily="34" charset="0"/>
                <a:cs typeface="Calibri" panose="020F0502020204030204" pitchFamily="34" charset="0"/>
              </a:rPr>
              <a:t>Peer-reviewed </a:t>
            </a:r>
            <a:r>
              <a:rPr lang="ka-GE" sz="2000" dirty="0">
                <a:latin typeface="Calibri" panose="020F0502020204030204" pitchFamily="34" charset="0"/>
                <a:cs typeface="Calibri" panose="020F0502020204030204" pitchFamily="34" charset="0"/>
              </a:rPr>
              <a:t>სტატია ითვლება ერთ-ერთ ყველაზე სანდო და მაღალი ხარისხის კვლევად, განსაკუთრებით მეცნიერებისა და აკადემიური სამყაროსთვის.</a:t>
            </a:r>
          </a:p>
        </p:txBody>
      </p:sp>
    </p:spTree>
    <p:extLst>
      <p:ext uri="{BB962C8B-B14F-4D97-AF65-F5344CB8AC3E}">
        <p14:creationId xmlns:p14="http://schemas.microsoft.com/office/powerpoint/2010/main" val="136014406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20B0FD-BAC0-78BB-35D1-B259BA53BE03}"/>
              </a:ext>
            </a:extLst>
          </p:cNvPr>
          <p:cNvSpPr>
            <a:spLocks noGrp="1"/>
          </p:cNvSpPr>
          <p:nvPr>
            <p:ph type="title"/>
          </p:nvPr>
        </p:nvSpPr>
        <p:spPr>
          <a:xfrm>
            <a:off x="257453" y="988955"/>
            <a:ext cx="11934547" cy="258022"/>
          </a:xfrm>
        </p:spPr>
        <p:txBody>
          <a:bodyPr>
            <a:noAutofit/>
          </a:bodyPr>
          <a:lstStyle/>
          <a:p>
            <a:r>
              <a:rPr lang="ka-GE" sz="3200" dirty="0">
                <a:latin typeface="Calibri" panose="020F0502020204030204" pitchFamily="34" charset="0"/>
                <a:cs typeface="Calibri" panose="020F0502020204030204" pitchFamily="34" charset="0"/>
              </a:rPr>
              <a:t>მოდით მოვიძიოთ სტატია, განვსაზღვროთ, მართლა ასე ეფექტურია სწავლების </a:t>
            </a:r>
            <a:r>
              <a:rPr lang="ka-GE" sz="3200" dirty="0" err="1">
                <a:latin typeface="Calibri" panose="020F0502020204030204" pitchFamily="34" charset="0"/>
                <a:cs typeface="Calibri" panose="020F0502020204030204" pitchFamily="34" charset="0"/>
              </a:rPr>
              <a:t>კონსტრუქტივისტული</a:t>
            </a:r>
            <a:r>
              <a:rPr lang="ka-GE" sz="3200" dirty="0">
                <a:latin typeface="Calibri" panose="020F0502020204030204" pitchFamily="34" charset="0"/>
                <a:cs typeface="Calibri" panose="020F0502020204030204" pitchFamily="34" charset="0"/>
              </a:rPr>
              <a:t> მიდგომა და სჯობს დიდაქტიკურ სწავლებას, თუ ეს ყველაფერი არ მტკიცდება კვლევებით?</a:t>
            </a:r>
            <a:endParaRPr lang="en-US" sz="3200" dirty="0">
              <a:latin typeface="Calibri" panose="020F0502020204030204" pitchFamily="34" charset="0"/>
              <a:cs typeface="Calibri" panose="020F0502020204030204" pitchFamily="34" charset="0"/>
            </a:endParaRPr>
          </a:p>
        </p:txBody>
      </p:sp>
      <p:pic>
        <p:nvPicPr>
          <p:cNvPr id="4" name="Picture 3" descr="A screenshot of a google scholar&#10;&#10;Description automatically generated">
            <a:extLst>
              <a:ext uri="{FF2B5EF4-FFF2-40B4-BE49-F238E27FC236}">
                <a16:creationId xmlns:a16="http://schemas.microsoft.com/office/drawing/2014/main" id="{3EA7F810-E8EF-C07E-E2E7-EF80EA3D092C}"/>
              </a:ext>
            </a:extLst>
          </p:cNvPr>
          <p:cNvPicPr>
            <a:picLocks noChangeAspect="1"/>
          </p:cNvPicPr>
          <p:nvPr/>
        </p:nvPicPr>
        <p:blipFill>
          <a:blip r:embed="rId2"/>
          <a:stretch>
            <a:fillRect/>
          </a:stretch>
        </p:blipFill>
        <p:spPr>
          <a:xfrm>
            <a:off x="142043" y="2321189"/>
            <a:ext cx="4680381" cy="2375434"/>
          </a:xfrm>
          <a:prstGeom prst="rect">
            <a:avLst/>
          </a:prstGeom>
        </p:spPr>
      </p:pic>
      <p:sp>
        <p:nvSpPr>
          <p:cNvPr id="6" name="TextBox 5">
            <a:extLst>
              <a:ext uri="{FF2B5EF4-FFF2-40B4-BE49-F238E27FC236}">
                <a16:creationId xmlns:a16="http://schemas.microsoft.com/office/drawing/2014/main" id="{BF5C1901-0177-0F86-DA5F-C8241C3D9822}"/>
              </a:ext>
            </a:extLst>
          </p:cNvPr>
          <p:cNvSpPr txBox="1"/>
          <p:nvPr/>
        </p:nvSpPr>
        <p:spPr>
          <a:xfrm>
            <a:off x="5550763" y="4487408"/>
            <a:ext cx="6094520" cy="646331"/>
          </a:xfrm>
          <a:prstGeom prst="rect">
            <a:avLst/>
          </a:prstGeom>
          <a:noFill/>
        </p:spPr>
        <p:txBody>
          <a:bodyPr wrap="square">
            <a:spAutoFit/>
          </a:bodyPr>
          <a:lstStyle/>
          <a:p>
            <a:r>
              <a:rPr lang="en-US" dirty="0"/>
              <a:t>Using simulations to meld didactic and constructivist teaching methods in complex second year STEM courses</a:t>
            </a:r>
          </a:p>
        </p:txBody>
      </p:sp>
      <p:sp>
        <p:nvSpPr>
          <p:cNvPr id="7" name="TextBox 6">
            <a:extLst>
              <a:ext uri="{FF2B5EF4-FFF2-40B4-BE49-F238E27FC236}">
                <a16:creationId xmlns:a16="http://schemas.microsoft.com/office/drawing/2014/main" id="{08E9CC4A-E1C8-C76A-A19F-B57B5942C115}"/>
              </a:ext>
            </a:extLst>
          </p:cNvPr>
          <p:cNvSpPr txBox="1"/>
          <p:nvPr/>
        </p:nvSpPr>
        <p:spPr>
          <a:xfrm>
            <a:off x="4822424" y="3422349"/>
            <a:ext cx="6094520" cy="646331"/>
          </a:xfrm>
          <a:prstGeom prst="rect">
            <a:avLst/>
          </a:prstGeom>
          <a:noFill/>
        </p:spPr>
        <p:txBody>
          <a:bodyPr wrap="square">
            <a:spAutoFit/>
          </a:bodyPr>
          <a:lstStyle/>
          <a:p>
            <a:r>
              <a:rPr lang="ka-GE" dirty="0">
                <a:latin typeface="Calibri" panose="020F0502020204030204" pitchFamily="34" charset="0"/>
                <a:cs typeface="Calibri" panose="020F0502020204030204" pitchFamily="34" charset="0"/>
              </a:rPr>
              <a:t>მითხარით რა დავწერო აქ, თუ მინდა, რომ სტატია იყოს </a:t>
            </a:r>
            <a:r>
              <a:rPr lang="en-US" sz="1800" dirty="0">
                <a:latin typeface="Calibri" panose="020F0502020204030204" pitchFamily="34" charset="0"/>
                <a:cs typeface="Calibri" panose="020F0502020204030204" pitchFamily="34" charset="0"/>
              </a:rPr>
              <a:t>- </a:t>
            </a:r>
            <a:r>
              <a:rPr lang="en-US" sz="1800" b="1" dirty="0">
                <a:latin typeface="Calibri" panose="020F0502020204030204" pitchFamily="34" charset="0"/>
                <a:cs typeface="Calibri" panose="020F0502020204030204" pitchFamily="34" charset="0"/>
              </a:rPr>
              <a:t>Peer Reviewed, </a:t>
            </a:r>
            <a:r>
              <a:rPr lang="ka-GE" sz="1800" b="1" dirty="0">
                <a:latin typeface="Calibri" panose="020F0502020204030204" pitchFamily="34" charset="0"/>
                <a:cs typeface="Calibri" panose="020F0502020204030204" pitchFamily="34" charset="0"/>
              </a:rPr>
              <a:t>ანუ მაღალი სამეცნიერო ხარისხის?</a:t>
            </a:r>
            <a:endParaRPr lang="en-US"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D9A031E-43E3-E4FC-AD60-314FF934E81C}"/>
              </a:ext>
            </a:extLst>
          </p:cNvPr>
          <p:cNvSpPr txBox="1"/>
          <p:nvPr/>
        </p:nvSpPr>
        <p:spPr>
          <a:xfrm>
            <a:off x="4522063" y="4183240"/>
            <a:ext cx="6094520" cy="369332"/>
          </a:xfrm>
          <a:prstGeom prst="rect">
            <a:avLst/>
          </a:prstGeom>
          <a:noFill/>
        </p:spPr>
        <p:txBody>
          <a:bodyPr wrap="square">
            <a:spAutoFit/>
          </a:bodyPr>
          <a:lstStyle/>
          <a:p>
            <a:r>
              <a:rPr lang="ka-GE" dirty="0">
                <a:latin typeface="Calibri" panose="020F0502020204030204" pitchFamily="34" charset="0"/>
                <a:cs typeface="Calibri" panose="020F0502020204030204" pitchFamily="34" charset="0"/>
              </a:rPr>
              <a:t>შედეგი: სტატია:</a:t>
            </a:r>
            <a:endParaRPr lang="en-US" dirty="0">
              <a:latin typeface="Calibri" panose="020F0502020204030204" pitchFamily="34" charset="0"/>
              <a:cs typeface="Calibri" panose="020F0502020204030204" pitchFamily="34" charset="0"/>
            </a:endParaRPr>
          </a:p>
        </p:txBody>
      </p:sp>
      <p:sp>
        <p:nvSpPr>
          <p:cNvPr id="10" name="TextBox 9">
            <a:extLst>
              <a:ext uri="{FF2B5EF4-FFF2-40B4-BE49-F238E27FC236}">
                <a16:creationId xmlns:a16="http://schemas.microsoft.com/office/drawing/2014/main" id="{00D15575-1833-C2EB-4842-2AA3358E9B8F}"/>
              </a:ext>
            </a:extLst>
          </p:cNvPr>
          <p:cNvSpPr txBox="1"/>
          <p:nvPr/>
        </p:nvSpPr>
        <p:spPr>
          <a:xfrm>
            <a:off x="4601962" y="5367801"/>
            <a:ext cx="6094520" cy="646331"/>
          </a:xfrm>
          <a:prstGeom prst="rect">
            <a:avLst/>
          </a:prstGeom>
          <a:noFill/>
        </p:spPr>
        <p:txBody>
          <a:bodyPr wrap="square">
            <a:spAutoFit/>
          </a:bodyPr>
          <a:lstStyle/>
          <a:p>
            <a:r>
              <a:rPr lang="ka-GE" dirty="0">
                <a:latin typeface="Calibri" panose="020F0502020204030204" pitchFamily="34" charset="0"/>
                <a:cs typeface="Calibri" panose="020F0502020204030204" pitchFamily="34" charset="0"/>
              </a:rPr>
              <a:t>შევამოწმოთ ამ სტატიის „ავკარგიანობა“, ციტირების ინდექსი, </a:t>
            </a:r>
            <a:r>
              <a:rPr lang="en-US" dirty="0">
                <a:latin typeface="Calibri" panose="020F0502020204030204" pitchFamily="34" charset="0"/>
                <a:cs typeface="Calibri" panose="020F0502020204030204" pitchFamily="34" charset="0"/>
              </a:rPr>
              <a:t>Impact Factor-</a:t>
            </a:r>
            <a:r>
              <a:rPr lang="ka-GE" dirty="0">
                <a:latin typeface="Calibri" panose="020F0502020204030204" pitchFamily="34" charset="0"/>
                <a:cs typeface="Calibri" panose="020F0502020204030204" pitchFamily="34" charset="0"/>
              </a:rPr>
              <a:t>ი, გამოქვეყნების წელი. </a:t>
            </a:r>
            <a:endParaRPr lang="en-US"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9291032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208DF0-AC91-28FD-F0F9-F3AF00691615}"/>
              </a:ext>
            </a:extLst>
          </p:cNvPr>
          <p:cNvSpPr>
            <a:spLocks noGrp="1"/>
          </p:cNvSpPr>
          <p:nvPr>
            <p:ph type="title"/>
          </p:nvPr>
        </p:nvSpPr>
        <p:spPr>
          <a:xfrm>
            <a:off x="661931" y="325370"/>
            <a:ext cx="4618581" cy="1956841"/>
          </a:xfrm>
        </p:spPr>
        <p:txBody>
          <a:bodyPr anchor="b">
            <a:normAutofit/>
          </a:bodyPr>
          <a:lstStyle/>
          <a:p>
            <a:pPr>
              <a:lnSpc>
                <a:spcPct val="90000"/>
              </a:lnSpc>
            </a:pPr>
            <a:r>
              <a:rPr lang="ka-GE" sz="2200" dirty="0">
                <a:latin typeface="Calibri" panose="020F0502020204030204" pitchFamily="34" charset="0"/>
                <a:cs typeface="Calibri" panose="020F0502020204030204" pitchFamily="34" charset="0"/>
              </a:rPr>
              <a:t>ონლაინ პლატფორმაზე სამეცნიერო ჟურნალების და </a:t>
            </a:r>
            <a:r>
              <a:rPr lang="ka-GE" sz="2200" dirty="0" err="1">
                <a:latin typeface="Calibri" panose="020F0502020204030204" pitchFamily="34" charset="0"/>
                <a:cs typeface="Calibri" panose="020F0502020204030204" pitchFamily="34" charset="0"/>
              </a:rPr>
              <a:t>სტატების</a:t>
            </a:r>
            <a:r>
              <a:rPr lang="ka-GE" sz="2200" dirty="0">
                <a:latin typeface="Calibri" panose="020F0502020204030204" pitchFamily="34" charset="0"/>
                <a:cs typeface="Calibri" panose="020F0502020204030204" pitchFamily="34" charset="0"/>
              </a:rPr>
              <a:t> მოძებნის პრაქტიკული მაგალითი</a:t>
            </a:r>
            <a:endParaRPr lang="en-US" sz="2200" dirty="0">
              <a:latin typeface="Calibri" panose="020F0502020204030204" pitchFamily="34" charset="0"/>
              <a:cs typeface="Calibri" panose="020F0502020204030204" pitchFamily="34" charset="0"/>
            </a:endParaRPr>
          </a:p>
        </p:txBody>
      </p:sp>
      <p:sp>
        <p:nvSpPr>
          <p:cNvPr id="3" name="Content Placeholder 2">
            <a:extLst>
              <a:ext uri="{FF2B5EF4-FFF2-40B4-BE49-F238E27FC236}">
                <a16:creationId xmlns:a16="http://schemas.microsoft.com/office/drawing/2014/main" id="{9643E6E6-70BD-87A4-D15B-B6EC19E47C5B}"/>
              </a:ext>
            </a:extLst>
          </p:cNvPr>
          <p:cNvSpPr>
            <a:spLocks noGrp="1"/>
          </p:cNvSpPr>
          <p:nvPr>
            <p:ph idx="1"/>
          </p:nvPr>
        </p:nvSpPr>
        <p:spPr>
          <a:xfrm>
            <a:off x="568171" y="2872899"/>
            <a:ext cx="4618581" cy="3320668"/>
          </a:xfrm>
        </p:spPr>
        <p:txBody>
          <a:bodyPr>
            <a:normAutofit/>
          </a:bodyPr>
          <a:lstStyle/>
          <a:p>
            <a:pPr marL="0" indent="0">
              <a:buNone/>
            </a:pPr>
            <a:r>
              <a:rPr lang="ka-GE" sz="1600" dirty="0">
                <a:latin typeface="Calibri" panose="020F0502020204030204" pitchFamily="34" charset="0"/>
                <a:cs typeface="Calibri" panose="020F0502020204030204" pitchFamily="34" charset="0"/>
              </a:rPr>
              <a:t>თქვენ ხართ უნივერსიტეტის სტუდენტი, </a:t>
            </a:r>
            <a:r>
              <a:rPr lang="ka-GE" sz="1600" b="1" dirty="0">
                <a:latin typeface="Calibri" panose="020F0502020204030204" pitchFamily="34" charset="0"/>
                <a:cs typeface="Calibri" panose="020F0502020204030204" pitchFamily="34" charset="0"/>
              </a:rPr>
              <a:t>წარმოიდგინეთ  სიტუაცია:</a:t>
            </a:r>
            <a:r>
              <a:rPr lang="ka-GE" sz="1600" dirty="0">
                <a:latin typeface="Calibri" panose="020F0502020204030204" pitchFamily="34" charset="0"/>
                <a:cs typeface="Calibri" panose="020F0502020204030204" pitchFamily="34" charset="0"/>
              </a:rPr>
              <a:t> კვლევით პროექტზე მუშაობთ, რომელიც ეხება </a:t>
            </a:r>
            <a:r>
              <a:rPr lang="ka-GE" sz="1600" b="1" dirty="0">
                <a:solidFill>
                  <a:srgbClr val="FE007C"/>
                </a:solidFill>
                <a:latin typeface="Calibri" panose="020F0502020204030204" pitchFamily="34" charset="0"/>
                <a:cs typeface="Calibri" panose="020F0502020204030204" pitchFamily="34" charset="0"/>
              </a:rPr>
              <a:t>ინფორმაციული სისტემების მართვას</a:t>
            </a:r>
            <a:r>
              <a:rPr lang="ka-GE" sz="1600" dirty="0">
                <a:latin typeface="Calibri" panose="020F0502020204030204" pitchFamily="34" charset="0"/>
                <a:cs typeface="Calibri" panose="020F0502020204030204" pitchFamily="34" charset="0"/>
              </a:rPr>
              <a:t>. </a:t>
            </a:r>
          </a:p>
          <a:p>
            <a:pPr marL="0" indent="0">
              <a:buNone/>
            </a:pPr>
            <a:r>
              <a:rPr lang="ka-GE" sz="2400" dirty="0">
                <a:latin typeface="Calibri" panose="020F0502020204030204" pitchFamily="34" charset="0"/>
                <a:cs typeface="Calibri" panose="020F0502020204030204" pitchFamily="34" charset="0"/>
              </a:rPr>
              <a:t>თქვენი დავალებაა</a:t>
            </a:r>
            <a:r>
              <a:rPr lang="ka-GE" sz="1600" dirty="0">
                <a:latin typeface="Calibri" panose="020F0502020204030204" pitchFamily="34" charset="0"/>
                <a:cs typeface="Calibri" panose="020F0502020204030204" pitchFamily="34" charset="0"/>
              </a:rPr>
              <a:t> მოიძიოთ </a:t>
            </a:r>
            <a:r>
              <a:rPr lang="ka-GE" sz="1600" b="1" dirty="0">
                <a:solidFill>
                  <a:srgbClr val="FE007C"/>
                </a:solidFill>
                <a:latin typeface="Calibri" panose="020F0502020204030204" pitchFamily="34" charset="0"/>
                <a:cs typeface="Calibri" panose="020F0502020204030204" pitchFamily="34" charset="0"/>
              </a:rPr>
              <a:t>სამეცნიერო სტატია</a:t>
            </a:r>
            <a:r>
              <a:rPr lang="ka-GE" sz="1600" dirty="0">
                <a:solidFill>
                  <a:srgbClr val="FE007C"/>
                </a:solidFill>
                <a:latin typeface="Calibri" panose="020F0502020204030204" pitchFamily="34" charset="0"/>
                <a:cs typeface="Calibri" panose="020F0502020204030204" pitchFamily="34" charset="0"/>
              </a:rPr>
              <a:t> </a:t>
            </a:r>
            <a:r>
              <a:rPr lang="ka-GE" sz="1600" dirty="0">
                <a:latin typeface="Calibri" panose="020F0502020204030204" pitchFamily="34" charset="0"/>
                <a:cs typeface="Calibri" panose="020F0502020204030204" pitchFamily="34" charset="0"/>
              </a:rPr>
              <a:t>ამ საკითხზე. სტატიის პოვნა მნიშვნელოვანია, რადგან იგი უნდა გამოიყენოთ როგორც თქვენი კვლევის თეორიული საფუძველი.</a:t>
            </a:r>
          </a:p>
          <a:p>
            <a:pPr>
              <a:lnSpc>
                <a:spcPct val="90000"/>
              </a:lnSpc>
            </a:pPr>
            <a:endParaRPr lang="en-US" sz="1600" dirty="0">
              <a:latin typeface="Calibri" panose="020F0502020204030204" pitchFamily="34" charset="0"/>
              <a:cs typeface="Calibri" panose="020F0502020204030204" pitchFamily="34" charset="0"/>
            </a:endParaRPr>
          </a:p>
        </p:txBody>
      </p:sp>
      <p:pic>
        <p:nvPicPr>
          <p:cNvPr id="6" name="Picture 5">
            <a:extLst>
              <a:ext uri="{FF2B5EF4-FFF2-40B4-BE49-F238E27FC236}">
                <a16:creationId xmlns:a16="http://schemas.microsoft.com/office/drawing/2014/main" id="{1E3EC876-20FE-6B5B-F638-F19B7703B39D}"/>
              </a:ext>
            </a:extLst>
          </p:cNvPr>
          <p:cNvPicPr>
            <a:picLocks noChangeAspect="1"/>
          </p:cNvPicPr>
          <p:nvPr/>
        </p:nvPicPr>
        <p:blipFill>
          <a:blip r:embed="rId2"/>
          <a:srcRect l="16511" r="8262"/>
          <a:stretch/>
        </p:blipFill>
        <p:spPr>
          <a:xfrm>
            <a:off x="5507777" y="10"/>
            <a:ext cx="5159081" cy="6857990"/>
          </a:xfrm>
          <a:custGeom>
            <a:avLst/>
            <a:gdLst/>
            <a:ahLst/>
            <a:cxnLst/>
            <a:rect l="l" t="t" r="r" b="b"/>
            <a:pathLst>
              <a:path w="6878775" h="6858000">
                <a:moveTo>
                  <a:pt x="1102973" y="0"/>
                </a:moveTo>
                <a:lnTo>
                  <a:pt x="1160688" y="0"/>
                </a:lnTo>
                <a:lnTo>
                  <a:pt x="983189" y="331786"/>
                </a:lnTo>
                <a:cubicBezTo>
                  <a:pt x="914866" y="469145"/>
                  <a:pt x="850355" y="608712"/>
                  <a:pt x="789261" y="750263"/>
                </a:cubicBezTo>
                <a:cubicBezTo>
                  <a:pt x="774307" y="784928"/>
                  <a:pt x="759992" y="819849"/>
                  <a:pt x="745295" y="854514"/>
                </a:cubicBezTo>
                <a:cubicBezTo>
                  <a:pt x="756682" y="845393"/>
                  <a:pt x="765489" y="833492"/>
                  <a:pt x="770857" y="819975"/>
                </a:cubicBezTo>
                <a:cubicBezTo>
                  <a:pt x="879943" y="589569"/>
                  <a:pt x="999605" y="365513"/>
                  <a:pt x="1131329" y="148742"/>
                </a:cubicBezTo>
                <a:lnTo>
                  <a:pt x="1227589" y="0"/>
                </a:lnTo>
                <a:lnTo>
                  <a:pt x="6878775" y="0"/>
                </a:lnTo>
                <a:lnTo>
                  <a:pt x="6878775" y="6858000"/>
                </a:lnTo>
                <a:lnTo>
                  <a:pt x="713521" y="6858000"/>
                </a:lnTo>
                <a:lnTo>
                  <a:pt x="625642" y="6670527"/>
                </a:lnTo>
                <a:cubicBezTo>
                  <a:pt x="507232" y="6398531"/>
                  <a:pt x="403083" y="6118381"/>
                  <a:pt x="312785" y="5830359"/>
                </a:cubicBezTo>
                <a:cubicBezTo>
                  <a:pt x="278149" y="5719759"/>
                  <a:pt x="248879" y="5607635"/>
                  <a:pt x="212198" y="5480401"/>
                </a:cubicBezTo>
                <a:cubicBezTo>
                  <a:pt x="212208" y="5491601"/>
                  <a:pt x="212803" y="5502788"/>
                  <a:pt x="213988" y="5513923"/>
                </a:cubicBezTo>
                <a:cubicBezTo>
                  <a:pt x="264089" y="5723695"/>
                  <a:pt x="307290" y="5935370"/>
                  <a:pt x="365826" y="6142729"/>
                </a:cubicBezTo>
                <a:cubicBezTo>
                  <a:pt x="433152" y="6380817"/>
                  <a:pt x="510068" y="6614016"/>
                  <a:pt x="597975" y="6841549"/>
                </a:cubicBezTo>
                <a:lnTo>
                  <a:pt x="604824" y="6858000"/>
                </a:lnTo>
                <a:lnTo>
                  <a:pt x="552056" y="6858000"/>
                </a:lnTo>
                <a:lnTo>
                  <a:pt x="539576" y="6828295"/>
                </a:lnTo>
                <a:cubicBezTo>
                  <a:pt x="380597" y="6414594"/>
                  <a:pt x="260223" y="5988893"/>
                  <a:pt x="171555" y="5552906"/>
                </a:cubicBezTo>
                <a:cubicBezTo>
                  <a:pt x="91163" y="5157998"/>
                  <a:pt x="43746" y="4758899"/>
                  <a:pt x="12305" y="4357388"/>
                </a:cubicBezTo>
                <a:cubicBezTo>
                  <a:pt x="-14281" y="4013908"/>
                  <a:pt x="4507" y="3672965"/>
                  <a:pt x="46684" y="3331516"/>
                </a:cubicBezTo>
                <a:cubicBezTo>
                  <a:pt x="127203" y="2664286"/>
                  <a:pt x="277819" y="2007265"/>
                  <a:pt x="496065" y="1371196"/>
                </a:cubicBezTo>
                <a:cubicBezTo>
                  <a:pt x="636273" y="966066"/>
                  <a:pt x="800445" y="573253"/>
                  <a:pt x="995723" y="196614"/>
                </a:cubicBezTo>
                <a:close/>
              </a:path>
            </a:pathLst>
          </a:custGeom>
        </p:spPr>
      </p:pic>
    </p:spTree>
    <p:extLst>
      <p:ext uri="{BB962C8B-B14F-4D97-AF65-F5344CB8AC3E}">
        <p14:creationId xmlns:p14="http://schemas.microsoft.com/office/powerpoint/2010/main" val="286503491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35BBB-2155-B05E-0356-0973575B2D00}"/>
              </a:ext>
            </a:extLst>
          </p:cNvPr>
          <p:cNvSpPr>
            <a:spLocks noGrp="1"/>
          </p:cNvSpPr>
          <p:nvPr>
            <p:ph type="title"/>
          </p:nvPr>
        </p:nvSpPr>
        <p:spPr>
          <a:xfrm>
            <a:off x="936410" y="-351765"/>
            <a:ext cx="5399288" cy="1429979"/>
          </a:xfrm>
        </p:spPr>
        <p:txBody>
          <a:bodyPr>
            <a:normAutofit/>
          </a:bodyPr>
          <a:lstStyle/>
          <a:p>
            <a:r>
              <a:rPr kumimoji="0" lang="en-US" altLang="en-US" b="1" i="0" u="none" strike="noStrike" cap="none" normalizeH="0" baseline="0" dirty="0" err="1">
                <a:ln>
                  <a:noFill/>
                </a:ln>
                <a:effectLst/>
                <a:latin typeface="+mn-lt"/>
              </a:rPr>
              <a:t>პროცესის</a:t>
            </a:r>
            <a:r>
              <a:rPr kumimoji="0" lang="en-US" altLang="en-US" b="1" i="0" u="none" strike="noStrike" cap="none" normalizeH="0" baseline="0" dirty="0">
                <a:ln>
                  <a:noFill/>
                </a:ln>
                <a:effectLst/>
                <a:latin typeface="+mn-lt"/>
              </a:rPr>
              <a:t> </a:t>
            </a:r>
            <a:r>
              <a:rPr kumimoji="0" lang="en-US" altLang="en-US" b="1" i="0" u="none" strike="noStrike" cap="none" normalizeH="0" baseline="0" dirty="0" err="1">
                <a:ln>
                  <a:noFill/>
                </a:ln>
                <a:effectLst/>
                <a:latin typeface="+mn-lt"/>
              </a:rPr>
              <a:t>აღწერა</a:t>
            </a:r>
            <a:r>
              <a:rPr kumimoji="0" lang="en-US" altLang="en-US" b="1" i="0" u="none" strike="noStrike" cap="none" normalizeH="0" baseline="0" dirty="0">
                <a:ln>
                  <a:noFill/>
                </a:ln>
                <a:effectLst/>
                <a:latin typeface="+mn-lt"/>
              </a:rPr>
              <a:t>:</a:t>
            </a:r>
            <a:endParaRPr lang="en-US" dirty="0">
              <a:latin typeface="+mn-lt"/>
            </a:endParaRPr>
          </a:p>
        </p:txBody>
      </p:sp>
      <p:pic>
        <p:nvPicPr>
          <p:cNvPr id="6" name="Picture 5">
            <a:extLst>
              <a:ext uri="{FF2B5EF4-FFF2-40B4-BE49-F238E27FC236}">
                <a16:creationId xmlns:a16="http://schemas.microsoft.com/office/drawing/2014/main" id="{AE4D3C36-1F2C-32CC-1927-7862C53EBAB6}"/>
              </a:ext>
            </a:extLst>
          </p:cNvPr>
          <p:cNvPicPr>
            <a:picLocks noChangeAspect="1"/>
          </p:cNvPicPr>
          <p:nvPr/>
        </p:nvPicPr>
        <p:blipFill>
          <a:blip r:embed="rId2"/>
          <a:srcRect l="15270" r="19520"/>
          <a:stretch/>
        </p:blipFill>
        <p:spPr>
          <a:xfrm>
            <a:off x="7719911" y="-351765"/>
            <a:ext cx="4472089" cy="6857990"/>
          </a:xfrm>
          <a:custGeom>
            <a:avLst/>
            <a:gdLst/>
            <a:ahLst/>
            <a:cxnLst/>
            <a:rect l="l" t="t" r="r" b="b"/>
            <a:pathLst>
              <a:path w="5962785" h="6858000">
                <a:moveTo>
                  <a:pt x="1044839" y="0"/>
                </a:moveTo>
                <a:lnTo>
                  <a:pt x="5962785" y="0"/>
                </a:lnTo>
                <a:lnTo>
                  <a:pt x="5962785" y="6858000"/>
                </a:lnTo>
                <a:lnTo>
                  <a:pt x="1469886" y="6858000"/>
                </a:lnTo>
                <a:lnTo>
                  <a:pt x="1416006" y="6823984"/>
                </a:lnTo>
                <a:cubicBezTo>
                  <a:pt x="1356767" y="6787940"/>
                  <a:pt x="1296437" y="6755500"/>
                  <a:pt x="1232473" y="6733873"/>
                </a:cubicBezTo>
                <a:cubicBezTo>
                  <a:pt x="1145250" y="6705037"/>
                  <a:pt x="1060933" y="6654575"/>
                  <a:pt x="1075471" y="6503186"/>
                </a:cubicBezTo>
                <a:cubicBezTo>
                  <a:pt x="1078378" y="6459932"/>
                  <a:pt x="1055118" y="6427493"/>
                  <a:pt x="1020229" y="6438306"/>
                </a:cubicBezTo>
                <a:cubicBezTo>
                  <a:pt x="953358" y="6459932"/>
                  <a:pt x="921375" y="6398656"/>
                  <a:pt x="883579" y="6351798"/>
                </a:cubicBezTo>
                <a:cubicBezTo>
                  <a:pt x="816707" y="6268895"/>
                  <a:pt x="752743" y="6182387"/>
                  <a:pt x="645167" y="6167969"/>
                </a:cubicBezTo>
                <a:cubicBezTo>
                  <a:pt x="665519" y="6103088"/>
                  <a:pt x="700408" y="6110298"/>
                  <a:pt x="732391" y="6124716"/>
                </a:cubicBezTo>
                <a:cubicBezTo>
                  <a:pt x="816707" y="6160761"/>
                  <a:pt x="901023" y="6200410"/>
                  <a:pt x="985339" y="6236455"/>
                </a:cubicBezTo>
                <a:cubicBezTo>
                  <a:pt x="1040581" y="6258081"/>
                  <a:pt x="1095822" y="6290522"/>
                  <a:pt x="1168509" y="6265291"/>
                </a:cubicBezTo>
                <a:cubicBezTo>
                  <a:pt x="1104545" y="6135530"/>
                  <a:pt x="996969" y="6110298"/>
                  <a:pt x="909746" y="6070649"/>
                </a:cubicBezTo>
                <a:cubicBezTo>
                  <a:pt x="802169" y="6020185"/>
                  <a:pt x="738206" y="5926470"/>
                  <a:pt x="659704" y="5818335"/>
                </a:cubicBezTo>
                <a:cubicBezTo>
                  <a:pt x="738206" y="5789500"/>
                  <a:pt x="787632" y="5868798"/>
                  <a:pt x="851597" y="5865193"/>
                </a:cubicBezTo>
                <a:cubicBezTo>
                  <a:pt x="854504" y="5854380"/>
                  <a:pt x="860319" y="5832753"/>
                  <a:pt x="860319" y="5832753"/>
                </a:cubicBezTo>
                <a:cubicBezTo>
                  <a:pt x="755650" y="5775081"/>
                  <a:pt x="709132" y="5666947"/>
                  <a:pt x="691686" y="5533581"/>
                </a:cubicBezTo>
                <a:cubicBezTo>
                  <a:pt x="685872" y="5465095"/>
                  <a:pt x="648075" y="5443468"/>
                  <a:pt x="610278" y="5411029"/>
                </a:cubicBezTo>
                <a:cubicBezTo>
                  <a:pt x="482350" y="5299289"/>
                  <a:pt x="345700" y="5198364"/>
                  <a:pt x="238123" y="5046976"/>
                </a:cubicBezTo>
                <a:cubicBezTo>
                  <a:pt x="363144" y="5064998"/>
                  <a:pt x="461997" y="5165924"/>
                  <a:pt x="592833" y="5209177"/>
                </a:cubicBezTo>
                <a:cubicBezTo>
                  <a:pt x="488165" y="5043371"/>
                  <a:pt x="351514" y="4956864"/>
                  <a:pt x="226494" y="4855939"/>
                </a:cubicBezTo>
                <a:cubicBezTo>
                  <a:pt x="168344" y="4809081"/>
                  <a:pt x="116011" y="4751408"/>
                  <a:pt x="49139" y="4726177"/>
                </a:cubicBezTo>
                <a:cubicBezTo>
                  <a:pt x="25879" y="4718968"/>
                  <a:pt x="-14825" y="4700947"/>
                  <a:pt x="5527" y="4650483"/>
                </a:cubicBezTo>
                <a:cubicBezTo>
                  <a:pt x="22972" y="4607230"/>
                  <a:pt x="54954" y="4621648"/>
                  <a:pt x="84029" y="4632460"/>
                </a:cubicBezTo>
                <a:cubicBezTo>
                  <a:pt x="153807" y="4661296"/>
                  <a:pt x="229401" y="4661296"/>
                  <a:pt x="325347" y="4661296"/>
                </a:cubicBezTo>
                <a:cubicBezTo>
                  <a:pt x="243939" y="4524326"/>
                  <a:pt x="95658" y="4567580"/>
                  <a:pt x="25879" y="4423401"/>
                </a:cubicBezTo>
                <a:cubicBezTo>
                  <a:pt x="113103" y="4398170"/>
                  <a:pt x="179975" y="4448632"/>
                  <a:pt x="249753" y="4459446"/>
                </a:cubicBezTo>
                <a:cubicBezTo>
                  <a:pt x="313718" y="4470259"/>
                  <a:pt x="328254" y="4445028"/>
                  <a:pt x="313718" y="4365729"/>
                </a:cubicBezTo>
                <a:cubicBezTo>
                  <a:pt x="290458" y="4243177"/>
                  <a:pt x="325347" y="4181900"/>
                  <a:pt x="418386" y="4214341"/>
                </a:cubicBezTo>
                <a:cubicBezTo>
                  <a:pt x="505609" y="4246781"/>
                  <a:pt x="514332" y="4199922"/>
                  <a:pt x="491072" y="4131438"/>
                </a:cubicBezTo>
                <a:cubicBezTo>
                  <a:pt x="456183" y="4030512"/>
                  <a:pt x="493979" y="3951214"/>
                  <a:pt x="520147" y="3864706"/>
                </a:cubicBezTo>
                <a:cubicBezTo>
                  <a:pt x="560851" y="3734945"/>
                  <a:pt x="543407" y="3670064"/>
                  <a:pt x="459090" y="3572743"/>
                </a:cubicBezTo>
                <a:cubicBezTo>
                  <a:pt x="409664" y="3518676"/>
                  <a:pt x="360236" y="3471818"/>
                  <a:pt x="290458" y="3424959"/>
                </a:cubicBezTo>
                <a:cubicBezTo>
                  <a:pt x="450368" y="3399728"/>
                  <a:pt x="284643" y="3313221"/>
                  <a:pt x="339884" y="3259153"/>
                </a:cubicBezTo>
                <a:cubicBezTo>
                  <a:pt x="453275" y="3237527"/>
                  <a:pt x="543407" y="3410542"/>
                  <a:pt x="697501" y="3360078"/>
                </a:cubicBezTo>
                <a:cubicBezTo>
                  <a:pt x="511425" y="3212294"/>
                  <a:pt x="302087" y="3165436"/>
                  <a:pt x="165437" y="2967190"/>
                </a:cubicBezTo>
                <a:cubicBezTo>
                  <a:pt x="197419" y="2923937"/>
                  <a:pt x="229401" y="2967190"/>
                  <a:pt x="255568" y="2949167"/>
                </a:cubicBezTo>
                <a:cubicBezTo>
                  <a:pt x="255568" y="2938354"/>
                  <a:pt x="560851" y="3006840"/>
                  <a:pt x="578296" y="2725691"/>
                </a:cubicBezTo>
                <a:cubicBezTo>
                  <a:pt x="584111" y="2725691"/>
                  <a:pt x="589926" y="2725691"/>
                  <a:pt x="595740" y="2714876"/>
                </a:cubicBezTo>
                <a:cubicBezTo>
                  <a:pt x="627722" y="2675228"/>
                  <a:pt x="598648" y="2581510"/>
                  <a:pt x="650982" y="2574301"/>
                </a:cubicBezTo>
                <a:cubicBezTo>
                  <a:pt x="709132" y="2567092"/>
                  <a:pt x="764373" y="2534653"/>
                  <a:pt x="825429" y="2552674"/>
                </a:cubicBezTo>
                <a:cubicBezTo>
                  <a:pt x="871949" y="2567092"/>
                  <a:pt x="921375" y="2585115"/>
                  <a:pt x="970802" y="2585115"/>
                </a:cubicBezTo>
                <a:cubicBezTo>
                  <a:pt x="1023136" y="2585115"/>
                  <a:pt x="1095822" y="2707668"/>
                  <a:pt x="1127805" y="2545465"/>
                </a:cubicBezTo>
                <a:cubicBezTo>
                  <a:pt x="1127805" y="2538257"/>
                  <a:pt x="1217936" y="2556280"/>
                  <a:pt x="1267362" y="2563488"/>
                </a:cubicBezTo>
                <a:cubicBezTo>
                  <a:pt x="1308067" y="2570698"/>
                  <a:pt x="1357494" y="2603137"/>
                  <a:pt x="1386568" y="2538257"/>
                </a:cubicBezTo>
                <a:cubicBezTo>
                  <a:pt x="1401105" y="2498607"/>
                  <a:pt x="1331326" y="2426518"/>
                  <a:pt x="1270270" y="2419309"/>
                </a:cubicBezTo>
                <a:cubicBezTo>
                  <a:pt x="1215029" y="2412101"/>
                  <a:pt x="1159787" y="2404892"/>
                  <a:pt x="1107453" y="2419309"/>
                </a:cubicBezTo>
                <a:cubicBezTo>
                  <a:pt x="1043489" y="2437331"/>
                  <a:pt x="1008599" y="2408495"/>
                  <a:pt x="991154" y="2343615"/>
                </a:cubicBezTo>
                <a:cubicBezTo>
                  <a:pt x="970802" y="2275131"/>
                  <a:pt x="933005" y="2239085"/>
                  <a:pt x="880671" y="2206645"/>
                </a:cubicBezTo>
                <a:cubicBezTo>
                  <a:pt x="752743" y="2127346"/>
                  <a:pt x="630630" y="2033629"/>
                  <a:pt x="491072" y="1986771"/>
                </a:cubicBezTo>
                <a:cubicBezTo>
                  <a:pt x="464905" y="1979562"/>
                  <a:pt x="432923" y="1965145"/>
                  <a:pt x="421293" y="1903868"/>
                </a:cubicBezTo>
                <a:cubicBezTo>
                  <a:pt x="799262" y="1997584"/>
                  <a:pt x="1142342" y="2239085"/>
                  <a:pt x="1531941" y="2224667"/>
                </a:cubicBezTo>
                <a:cubicBezTo>
                  <a:pt x="1427272" y="2148974"/>
                  <a:pt x="1302252" y="2145369"/>
                  <a:pt x="1188861" y="2091301"/>
                </a:cubicBezTo>
                <a:cubicBezTo>
                  <a:pt x="1270270" y="2051652"/>
                  <a:pt x="1345864" y="2094906"/>
                  <a:pt x="1421458" y="2116532"/>
                </a:cubicBezTo>
                <a:cubicBezTo>
                  <a:pt x="1485422" y="2134554"/>
                  <a:pt x="1543571" y="2138160"/>
                  <a:pt x="1549386" y="2026420"/>
                </a:cubicBezTo>
                <a:cubicBezTo>
                  <a:pt x="1549386" y="2015607"/>
                  <a:pt x="1549386" y="2008398"/>
                  <a:pt x="1549386" y="1997584"/>
                </a:cubicBezTo>
                <a:cubicBezTo>
                  <a:pt x="1526126" y="1950727"/>
                  <a:pt x="1494144" y="1929099"/>
                  <a:pt x="1453440" y="1914682"/>
                </a:cubicBezTo>
                <a:cubicBezTo>
                  <a:pt x="1430180" y="1907473"/>
                  <a:pt x="1398198" y="1893056"/>
                  <a:pt x="1398198" y="1860614"/>
                </a:cubicBezTo>
                <a:cubicBezTo>
                  <a:pt x="1401105" y="1738063"/>
                  <a:pt x="1322604" y="1702018"/>
                  <a:pt x="1247011" y="1665972"/>
                </a:cubicBezTo>
                <a:cubicBezTo>
                  <a:pt x="1287715" y="1604696"/>
                  <a:pt x="1322604" y="1647950"/>
                  <a:pt x="1354586" y="1644345"/>
                </a:cubicBezTo>
                <a:cubicBezTo>
                  <a:pt x="1374939" y="1640741"/>
                  <a:pt x="1395290" y="1637138"/>
                  <a:pt x="1395290" y="1604696"/>
                </a:cubicBezTo>
                <a:cubicBezTo>
                  <a:pt x="1395290" y="1579465"/>
                  <a:pt x="1386568" y="1547025"/>
                  <a:pt x="1366216" y="1547025"/>
                </a:cubicBezTo>
                <a:cubicBezTo>
                  <a:pt x="1238288" y="1543420"/>
                  <a:pt x="1165601" y="1370405"/>
                  <a:pt x="1031858" y="1370405"/>
                </a:cubicBezTo>
                <a:cubicBezTo>
                  <a:pt x="950450" y="1370405"/>
                  <a:pt x="1072563" y="1273083"/>
                  <a:pt x="1005692" y="1233435"/>
                </a:cubicBezTo>
                <a:cubicBezTo>
                  <a:pt x="991154" y="1222621"/>
                  <a:pt x="1046396" y="1208203"/>
                  <a:pt x="1069655" y="1211808"/>
                </a:cubicBezTo>
                <a:cubicBezTo>
                  <a:pt x="1092915" y="1215412"/>
                  <a:pt x="1113268" y="1240644"/>
                  <a:pt x="1142342" y="1222621"/>
                </a:cubicBezTo>
                <a:cubicBezTo>
                  <a:pt x="1156879" y="1157741"/>
                  <a:pt x="1119082" y="1132510"/>
                  <a:pt x="1084193" y="1114487"/>
                </a:cubicBezTo>
                <a:cubicBezTo>
                  <a:pt x="1008599" y="1071234"/>
                  <a:pt x="933005" y="1020771"/>
                  <a:pt x="848689" y="1006353"/>
                </a:cubicBezTo>
                <a:cubicBezTo>
                  <a:pt x="819615" y="1002748"/>
                  <a:pt x="802169" y="984726"/>
                  <a:pt x="805077" y="948681"/>
                </a:cubicBezTo>
                <a:cubicBezTo>
                  <a:pt x="810892" y="901822"/>
                  <a:pt x="839967" y="916240"/>
                  <a:pt x="863226" y="919844"/>
                </a:cubicBezTo>
                <a:cubicBezTo>
                  <a:pt x="877764" y="923450"/>
                  <a:pt x="892301" y="934263"/>
                  <a:pt x="906838" y="909031"/>
                </a:cubicBezTo>
                <a:cubicBezTo>
                  <a:pt x="566666" y="653113"/>
                  <a:pt x="386404" y="667532"/>
                  <a:pt x="5527" y="458471"/>
                </a:cubicBezTo>
                <a:cubicBezTo>
                  <a:pt x="89843" y="418822"/>
                  <a:pt x="150900" y="447658"/>
                  <a:pt x="209049" y="454867"/>
                </a:cubicBezTo>
                <a:cubicBezTo>
                  <a:pt x="354422" y="472890"/>
                  <a:pt x="264290" y="505329"/>
                  <a:pt x="409664" y="526956"/>
                </a:cubicBezTo>
                <a:cubicBezTo>
                  <a:pt x="479443" y="537770"/>
                  <a:pt x="543407" y="573815"/>
                  <a:pt x="621908" y="516143"/>
                </a:cubicBezTo>
                <a:cubicBezTo>
                  <a:pt x="674242" y="476494"/>
                  <a:pt x="758558" y="519747"/>
                  <a:pt x="822522" y="552188"/>
                </a:cubicBezTo>
                <a:cubicBezTo>
                  <a:pt x="874856" y="581024"/>
                  <a:pt x="927190" y="588232"/>
                  <a:pt x="996969" y="552188"/>
                </a:cubicBezTo>
                <a:cubicBezTo>
                  <a:pt x="933005" y="530562"/>
                  <a:pt x="883579" y="512539"/>
                  <a:pt x="834151" y="498120"/>
                </a:cubicBezTo>
                <a:cubicBezTo>
                  <a:pt x="793447" y="487307"/>
                  <a:pt x="770187" y="462076"/>
                  <a:pt x="773095" y="408008"/>
                </a:cubicBezTo>
                <a:cubicBezTo>
                  <a:pt x="773095" y="379172"/>
                  <a:pt x="764373" y="339523"/>
                  <a:pt x="793447" y="325106"/>
                </a:cubicBezTo>
                <a:cubicBezTo>
                  <a:pt x="816707" y="310688"/>
                  <a:pt x="848689" y="325106"/>
                  <a:pt x="860319" y="350336"/>
                </a:cubicBezTo>
                <a:cubicBezTo>
                  <a:pt x="874856" y="397195"/>
                  <a:pt x="889393" y="440449"/>
                  <a:pt x="938820" y="444054"/>
                </a:cubicBezTo>
                <a:cubicBezTo>
                  <a:pt x="1005692" y="451262"/>
                  <a:pt x="967894" y="422426"/>
                  <a:pt x="956265" y="386381"/>
                </a:cubicBezTo>
                <a:cubicBezTo>
                  <a:pt x="944635" y="346733"/>
                  <a:pt x="979525" y="335919"/>
                  <a:pt x="1002784" y="343127"/>
                </a:cubicBezTo>
                <a:cubicBezTo>
                  <a:pt x="1090008" y="375569"/>
                  <a:pt x="1180139" y="317897"/>
                  <a:pt x="1270270" y="364755"/>
                </a:cubicBezTo>
                <a:cubicBezTo>
                  <a:pt x="1247011" y="249411"/>
                  <a:pt x="1197583" y="198949"/>
                  <a:pt x="1092915" y="180926"/>
                </a:cubicBezTo>
                <a:cubicBezTo>
                  <a:pt x="1055118" y="177322"/>
                  <a:pt x="1014414" y="184530"/>
                  <a:pt x="979525" y="152090"/>
                </a:cubicBezTo>
                <a:cubicBezTo>
                  <a:pt x="959172" y="134068"/>
                  <a:pt x="938820" y="112441"/>
                  <a:pt x="953358" y="76396"/>
                </a:cubicBezTo>
                <a:cubicBezTo>
                  <a:pt x="962080" y="51165"/>
                  <a:pt x="985339" y="51165"/>
                  <a:pt x="1005692" y="58373"/>
                </a:cubicBezTo>
                <a:cubicBezTo>
                  <a:pt x="1090008" y="98023"/>
                  <a:pt x="1180139" y="108837"/>
                  <a:pt x="1267362" y="123254"/>
                </a:cubicBezTo>
                <a:cubicBezTo>
                  <a:pt x="1281900" y="126859"/>
                  <a:pt x="1296437" y="134068"/>
                  <a:pt x="1310975" y="98023"/>
                </a:cubicBezTo>
                <a:cubicBezTo>
                  <a:pt x="1260095" y="81803"/>
                  <a:pt x="1209941" y="62879"/>
                  <a:pt x="1159787" y="43505"/>
                </a:cubicBezTo>
                <a:close/>
              </a:path>
            </a:pathLst>
          </a:custGeom>
        </p:spPr>
      </p:pic>
      <p:sp>
        <p:nvSpPr>
          <p:cNvPr id="4" name="Rectangle 1">
            <a:extLst>
              <a:ext uri="{FF2B5EF4-FFF2-40B4-BE49-F238E27FC236}">
                <a16:creationId xmlns:a16="http://schemas.microsoft.com/office/drawing/2014/main" id="{C732D89E-6ABF-218E-2A23-F56A29951582}"/>
              </a:ext>
            </a:extLst>
          </p:cNvPr>
          <p:cNvSpPr>
            <a:spLocks noGrp="1" noChangeArrowheads="1"/>
          </p:cNvSpPr>
          <p:nvPr>
            <p:ph idx="1"/>
          </p:nvPr>
        </p:nvSpPr>
        <p:spPr bwMode="auto">
          <a:xfrm>
            <a:off x="400088" y="992769"/>
            <a:ext cx="7319823" cy="3843666"/>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Ctr="0" compatLnSpc="1">
            <a:prstTxWarp prst="textNoShape">
              <a:avLst/>
            </a:prstTxWarp>
            <a:noAutofit/>
          </a:bodyPr>
          <a:lstStyle/>
          <a:p>
            <a:pPr marL="0" indent="0" eaLnBrk="0" fontAlgn="base" hangingPunct="0">
              <a:spcBef>
                <a:spcPct val="0"/>
              </a:spcBef>
              <a:spcAft>
                <a:spcPts val="600"/>
              </a:spcAft>
              <a:buFontTx/>
              <a:buAutoNum type="arabicPeriod"/>
            </a:pPr>
            <a:r>
              <a:rPr lang="en-US" altLang="en-US" sz="2200" b="1" dirty="0"/>
              <a:t>Google Scholar-</a:t>
            </a:r>
            <a:r>
              <a:rPr lang="en-US" altLang="en-US" sz="2200" b="1" dirty="0" err="1"/>
              <a:t>ის</a:t>
            </a:r>
            <a:r>
              <a:rPr lang="en-US" altLang="en-US" sz="2200" b="1" dirty="0"/>
              <a:t> </a:t>
            </a:r>
            <a:r>
              <a:rPr lang="en-US" altLang="en-US" sz="2200" b="1" dirty="0" err="1"/>
              <a:t>გამოყენებ</a:t>
            </a:r>
            <a:r>
              <a:rPr lang="ka-GE" altLang="en-US" sz="2200" b="1" dirty="0"/>
              <a:t>ით</a:t>
            </a:r>
            <a:r>
              <a:rPr lang="en-US" altLang="en-US" sz="2200" dirty="0"/>
              <a:t> </a:t>
            </a:r>
            <a:r>
              <a:rPr lang="en-US" altLang="en-US" sz="2200" dirty="0" err="1"/>
              <a:t>გადადით</a:t>
            </a:r>
            <a:r>
              <a:rPr lang="en-US" altLang="en-US" sz="2200" dirty="0"/>
              <a:t> Google Scholar-</a:t>
            </a:r>
            <a:r>
              <a:rPr lang="en-US" altLang="en-US" sz="2200" dirty="0" err="1"/>
              <a:t>ის</a:t>
            </a:r>
            <a:r>
              <a:rPr lang="en-US" altLang="en-US" sz="2200" dirty="0"/>
              <a:t> </a:t>
            </a:r>
            <a:r>
              <a:rPr lang="en-US" altLang="en-US" sz="2200" dirty="0" err="1"/>
              <a:t>ვებგვერდზე</a:t>
            </a:r>
            <a:r>
              <a:rPr lang="en-US" altLang="en-US" sz="2200" dirty="0"/>
              <a:t> </a:t>
            </a:r>
            <a:r>
              <a:rPr lang="en-US" altLang="en-US" sz="2200" dirty="0" err="1"/>
              <a:t>და</a:t>
            </a:r>
            <a:r>
              <a:rPr lang="en-US" altLang="en-US" sz="2200" dirty="0"/>
              <a:t> </a:t>
            </a:r>
            <a:r>
              <a:rPr lang="en-US" altLang="en-US" sz="2200" dirty="0" err="1"/>
              <a:t>ჩაწერეთ</a:t>
            </a:r>
            <a:r>
              <a:rPr lang="en-US" altLang="en-US" sz="2200" dirty="0"/>
              <a:t> </a:t>
            </a:r>
            <a:r>
              <a:rPr lang="en-US" altLang="en-US" sz="2200" dirty="0" err="1"/>
              <a:t>ძიების</a:t>
            </a:r>
            <a:r>
              <a:rPr lang="en-US" altLang="en-US" sz="2200" dirty="0"/>
              <a:t> </a:t>
            </a:r>
            <a:r>
              <a:rPr lang="en-US" altLang="en-US" sz="2200" dirty="0" err="1"/>
              <a:t>ველში</a:t>
            </a:r>
            <a:r>
              <a:rPr lang="en-US" altLang="en-US" sz="2200" dirty="0"/>
              <a:t>: "Information Systems Management" OR "Management of Information Systems" OR "</a:t>
            </a:r>
            <a:r>
              <a:rPr lang="en-US" altLang="en-US" sz="2200" dirty="0" err="1"/>
              <a:t>ინფორმაციული</a:t>
            </a:r>
            <a:r>
              <a:rPr lang="en-US" altLang="en-US" sz="2200" dirty="0"/>
              <a:t> </a:t>
            </a:r>
            <a:r>
              <a:rPr lang="en-US" altLang="en-US" sz="2200" dirty="0" err="1"/>
              <a:t>სისტემების</a:t>
            </a:r>
            <a:r>
              <a:rPr lang="en-US" altLang="en-US" sz="2200" dirty="0"/>
              <a:t> </a:t>
            </a:r>
            <a:r>
              <a:rPr lang="en-US" altLang="en-US" sz="2200" dirty="0" err="1"/>
              <a:t>მართვა</a:t>
            </a:r>
            <a:r>
              <a:rPr lang="en-US" altLang="en-US" sz="2200" dirty="0"/>
              <a:t>".</a:t>
            </a:r>
          </a:p>
          <a:p>
            <a:pPr marL="0" indent="0" eaLnBrk="0" fontAlgn="base" hangingPunct="0">
              <a:spcBef>
                <a:spcPct val="0"/>
              </a:spcBef>
              <a:spcAft>
                <a:spcPts val="600"/>
              </a:spcAft>
              <a:buFontTx/>
              <a:buAutoNum type="arabicPeriod" startAt="2"/>
            </a:pPr>
            <a:r>
              <a:rPr lang="en-US" altLang="en-US" sz="2200" b="1" dirty="0" err="1"/>
              <a:t>შედეგების</a:t>
            </a:r>
            <a:r>
              <a:rPr lang="en-US" altLang="en-US" sz="2200" b="1" dirty="0"/>
              <a:t> </a:t>
            </a:r>
            <a:r>
              <a:rPr lang="en-US" altLang="en-US" sz="2200" b="1" dirty="0" err="1"/>
              <a:t>ფილტრაცია</a:t>
            </a:r>
            <a:r>
              <a:rPr lang="en-US" altLang="en-US" sz="2200" dirty="0"/>
              <a:t>: </a:t>
            </a:r>
            <a:r>
              <a:rPr lang="en-US" altLang="en-US" sz="2200" dirty="0" err="1"/>
              <a:t>გამოიყენეთ</a:t>
            </a:r>
            <a:r>
              <a:rPr lang="en-US" altLang="en-US" sz="2200" dirty="0"/>
              <a:t> </a:t>
            </a:r>
            <a:r>
              <a:rPr lang="en-US" altLang="en-US" sz="2200" b="1" dirty="0" err="1"/>
              <a:t>თარიღის</a:t>
            </a:r>
            <a:r>
              <a:rPr lang="en-US" altLang="en-US" sz="2200" b="1" dirty="0"/>
              <a:t> </a:t>
            </a:r>
            <a:r>
              <a:rPr lang="en-US" altLang="en-US" sz="2200" b="1" dirty="0" err="1"/>
              <a:t>ფილტრი</a:t>
            </a:r>
            <a:r>
              <a:rPr lang="en-US" altLang="en-US" sz="2200" dirty="0"/>
              <a:t>, </a:t>
            </a:r>
            <a:r>
              <a:rPr lang="en-US" altLang="en-US" sz="2200" dirty="0" err="1"/>
              <a:t>რომ</a:t>
            </a:r>
            <a:r>
              <a:rPr lang="en-US" altLang="en-US" sz="2200" dirty="0"/>
              <a:t> </a:t>
            </a:r>
            <a:r>
              <a:rPr lang="en-US" altLang="en-US" sz="2200" dirty="0" err="1"/>
              <a:t>იპოვოთ</a:t>
            </a:r>
            <a:r>
              <a:rPr lang="en-US" altLang="en-US" sz="2200" dirty="0"/>
              <a:t> </a:t>
            </a:r>
            <a:r>
              <a:rPr lang="en-US" altLang="en-US" sz="2200" dirty="0" err="1"/>
              <a:t>უახლესი</a:t>
            </a:r>
            <a:r>
              <a:rPr lang="en-US" altLang="en-US" sz="2200" dirty="0"/>
              <a:t> </a:t>
            </a:r>
            <a:r>
              <a:rPr lang="en-US" altLang="en-US" sz="2200" dirty="0" err="1"/>
              <a:t>სტატიები</a:t>
            </a:r>
            <a:r>
              <a:rPr lang="en-US" altLang="en-US" sz="2200" dirty="0"/>
              <a:t>, </a:t>
            </a:r>
            <a:r>
              <a:rPr lang="en-US" altLang="en-US" sz="2200" dirty="0" err="1"/>
              <a:t>და</a:t>
            </a:r>
            <a:r>
              <a:rPr lang="en-US" altLang="en-US" sz="2200" dirty="0"/>
              <a:t> </a:t>
            </a:r>
            <a:r>
              <a:rPr lang="en-US" altLang="en-US" sz="2200" dirty="0" err="1"/>
              <a:t>აირჩიეთ</a:t>
            </a:r>
            <a:r>
              <a:rPr lang="en-US" altLang="en-US" sz="2200" dirty="0"/>
              <a:t> "Since 2019" (</a:t>
            </a:r>
            <a:r>
              <a:rPr lang="en-US" altLang="en-US" sz="2200" dirty="0" err="1"/>
              <a:t>ან</a:t>
            </a:r>
            <a:r>
              <a:rPr lang="en-US" altLang="en-US" sz="2200" dirty="0"/>
              <a:t> </a:t>
            </a:r>
            <a:r>
              <a:rPr lang="en-US" altLang="en-US" sz="2200" dirty="0" err="1"/>
              <a:t>სხვა</a:t>
            </a:r>
            <a:r>
              <a:rPr lang="en-US" altLang="en-US" sz="2200" dirty="0"/>
              <a:t> </a:t>
            </a:r>
            <a:r>
              <a:rPr lang="en-US" altLang="en-US" sz="2200" dirty="0" err="1"/>
              <a:t>პერიოდი</a:t>
            </a:r>
            <a:r>
              <a:rPr lang="en-US" altLang="en-US" sz="2200" dirty="0"/>
              <a:t>, </a:t>
            </a:r>
            <a:r>
              <a:rPr lang="en-US" altLang="en-US" sz="2200" dirty="0" err="1"/>
              <a:t>თუ</a:t>
            </a:r>
            <a:r>
              <a:rPr lang="en-US" altLang="en-US" sz="2200" dirty="0"/>
              <a:t> </a:t>
            </a:r>
            <a:r>
              <a:rPr lang="en-US" altLang="en-US" sz="2200" dirty="0" err="1"/>
              <a:t>გჭირდებათ</a:t>
            </a:r>
            <a:r>
              <a:rPr lang="en-US" altLang="en-US" sz="2200" dirty="0"/>
              <a:t>).</a:t>
            </a:r>
          </a:p>
          <a:p>
            <a:pPr marL="0" indent="0" eaLnBrk="0" fontAlgn="base" hangingPunct="0">
              <a:spcBef>
                <a:spcPct val="0"/>
              </a:spcBef>
              <a:spcAft>
                <a:spcPts val="600"/>
              </a:spcAft>
              <a:buFontTx/>
              <a:buAutoNum type="arabicPeriod" startAt="3"/>
            </a:pPr>
            <a:r>
              <a:rPr lang="en-US" altLang="en-US" sz="2200" b="1" dirty="0" err="1"/>
              <a:t>სტატიის</a:t>
            </a:r>
            <a:r>
              <a:rPr lang="en-US" altLang="en-US" sz="2200" b="1" dirty="0"/>
              <a:t> </a:t>
            </a:r>
            <a:r>
              <a:rPr lang="en-US" altLang="en-US" sz="2200" b="1" dirty="0" err="1"/>
              <a:t>პოვნა</a:t>
            </a:r>
            <a:r>
              <a:rPr lang="en-US" altLang="en-US" sz="2200" dirty="0"/>
              <a:t>: </a:t>
            </a:r>
            <a:r>
              <a:rPr lang="en-US" altLang="en-US" sz="2200" dirty="0" err="1"/>
              <a:t>დაათვალიერეთ</a:t>
            </a:r>
            <a:r>
              <a:rPr lang="en-US" altLang="en-US" sz="2200" dirty="0"/>
              <a:t> </a:t>
            </a:r>
            <a:r>
              <a:rPr lang="en-US" altLang="en-US" sz="2200" dirty="0" err="1"/>
              <a:t>პირველი</a:t>
            </a:r>
            <a:r>
              <a:rPr lang="en-US" altLang="en-US" sz="2200" dirty="0"/>
              <a:t> 10-15 </a:t>
            </a:r>
            <a:r>
              <a:rPr lang="en-US" altLang="en-US" sz="2200" dirty="0" err="1"/>
              <a:t>შედეგი</a:t>
            </a:r>
            <a:r>
              <a:rPr lang="en-US" altLang="en-US" sz="2200" dirty="0"/>
              <a:t>, </a:t>
            </a:r>
            <a:r>
              <a:rPr lang="en-US" altLang="en-US" sz="2200" dirty="0" err="1"/>
              <a:t>შეარჩიეთ</a:t>
            </a:r>
            <a:r>
              <a:rPr lang="en-US" altLang="en-US" sz="2200" dirty="0"/>
              <a:t> </a:t>
            </a:r>
            <a:r>
              <a:rPr lang="en-US" altLang="en-US" sz="2200" dirty="0" err="1"/>
              <a:t>სტატია</a:t>
            </a:r>
            <a:r>
              <a:rPr lang="en-US" altLang="en-US" sz="2200" dirty="0"/>
              <a:t>, </a:t>
            </a:r>
            <a:r>
              <a:rPr lang="en-US" altLang="en-US" sz="2200" dirty="0" err="1"/>
              <a:t>რომელიც</a:t>
            </a:r>
            <a:r>
              <a:rPr lang="en-US" altLang="en-US" sz="2200" dirty="0"/>
              <a:t> </a:t>
            </a:r>
            <a:r>
              <a:rPr lang="en-US" altLang="en-US" sz="2200" dirty="0" err="1"/>
              <a:t>დაგეხმარებათ</a:t>
            </a:r>
            <a:r>
              <a:rPr lang="en-US" altLang="en-US" sz="2200" dirty="0"/>
              <a:t> </a:t>
            </a:r>
            <a:r>
              <a:rPr lang="en-US" altLang="en-US" sz="2200" dirty="0" err="1"/>
              <a:t>თქვენი</a:t>
            </a:r>
            <a:r>
              <a:rPr lang="en-US" altLang="en-US" sz="2200" dirty="0"/>
              <a:t> </a:t>
            </a:r>
            <a:r>
              <a:rPr lang="en-US" altLang="en-US" sz="2200" dirty="0" err="1"/>
              <a:t>კვლევაში</a:t>
            </a:r>
            <a:r>
              <a:rPr lang="en-US" altLang="en-US" sz="2200" dirty="0"/>
              <a:t>.</a:t>
            </a:r>
          </a:p>
          <a:p>
            <a:pPr marL="0" indent="0" eaLnBrk="0" fontAlgn="base" hangingPunct="0">
              <a:spcBef>
                <a:spcPct val="0"/>
              </a:spcBef>
              <a:spcAft>
                <a:spcPts val="600"/>
              </a:spcAft>
              <a:buFontTx/>
              <a:buAutoNum type="arabicPeriod" startAt="4"/>
            </a:pPr>
            <a:r>
              <a:rPr lang="en-US" altLang="en-US" sz="2200" b="1" dirty="0" err="1"/>
              <a:t>ციტირების</a:t>
            </a:r>
            <a:r>
              <a:rPr lang="en-US" altLang="en-US" sz="2200" b="1" dirty="0"/>
              <a:t> </a:t>
            </a:r>
            <a:r>
              <a:rPr lang="en-US" altLang="en-US" sz="2200" b="1" dirty="0" err="1"/>
              <a:t>მართვა</a:t>
            </a:r>
            <a:r>
              <a:rPr lang="en-US" altLang="en-US" sz="2200" dirty="0"/>
              <a:t>: </a:t>
            </a:r>
            <a:r>
              <a:rPr lang="en-US" altLang="en-US" sz="2200" dirty="0" err="1"/>
              <a:t>ციტირების</a:t>
            </a:r>
            <a:r>
              <a:rPr lang="en-US" altLang="en-US" sz="2200" dirty="0"/>
              <a:t> </a:t>
            </a:r>
            <a:r>
              <a:rPr lang="en-US" altLang="en-US" sz="2200" dirty="0" err="1"/>
              <a:t>ფორმატის</a:t>
            </a:r>
            <a:r>
              <a:rPr lang="en-US" altLang="en-US" sz="2200" dirty="0"/>
              <a:t> </a:t>
            </a:r>
            <a:r>
              <a:rPr lang="en-US" altLang="en-US" sz="2200" dirty="0" err="1"/>
              <a:t>გასამარტივებლად</a:t>
            </a:r>
            <a:r>
              <a:rPr lang="en-US" altLang="en-US" sz="2200" dirty="0"/>
              <a:t>, </a:t>
            </a:r>
            <a:r>
              <a:rPr lang="en-US" altLang="en-US" sz="2200" dirty="0" err="1"/>
              <a:t>დაამატეთ</a:t>
            </a:r>
            <a:r>
              <a:rPr lang="en-US" altLang="en-US" sz="2200" dirty="0"/>
              <a:t> </a:t>
            </a:r>
            <a:r>
              <a:rPr lang="en-US" altLang="en-US" sz="2200" dirty="0" err="1"/>
              <a:t>სტატია</a:t>
            </a:r>
            <a:r>
              <a:rPr lang="en-US" altLang="en-US" sz="2200" dirty="0"/>
              <a:t> Zotero </a:t>
            </a:r>
            <a:r>
              <a:rPr lang="en-US" altLang="en-US" sz="2200" dirty="0" err="1"/>
              <a:t>ან</a:t>
            </a:r>
            <a:r>
              <a:rPr lang="en-US" altLang="en-US" sz="2200" dirty="0"/>
              <a:t> Mendeley </a:t>
            </a:r>
            <a:r>
              <a:rPr lang="en-US" altLang="en-US" sz="2200" dirty="0" err="1"/>
              <a:t>პროგრამაში</a:t>
            </a:r>
            <a:r>
              <a:rPr lang="en-US" altLang="en-US" sz="2200" dirty="0"/>
              <a:t>, </a:t>
            </a:r>
            <a:r>
              <a:rPr lang="en-US" altLang="en-US" sz="2200" dirty="0" err="1"/>
              <a:t>რომ</a:t>
            </a:r>
            <a:r>
              <a:rPr lang="en-US" altLang="en-US" sz="2200" dirty="0"/>
              <a:t> </a:t>
            </a:r>
            <a:r>
              <a:rPr lang="en-US" altLang="en-US" sz="2200" dirty="0" err="1"/>
              <a:t>მოგვიანებით</a:t>
            </a:r>
            <a:r>
              <a:rPr lang="en-US" altLang="en-US" sz="2200" dirty="0"/>
              <a:t> </a:t>
            </a:r>
            <a:r>
              <a:rPr lang="en-US" altLang="en-US" sz="2200" dirty="0" err="1"/>
              <a:t>შეძლოთ</a:t>
            </a:r>
            <a:r>
              <a:rPr lang="en-US" altLang="en-US" sz="2200" dirty="0"/>
              <a:t> </a:t>
            </a:r>
            <a:r>
              <a:rPr lang="en-US" altLang="en-US" sz="2200" dirty="0" err="1"/>
              <a:t>ბიბლიოგრაფიის</a:t>
            </a:r>
            <a:r>
              <a:rPr lang="en-US" altLang="en-US" sz="2200" dirty="0"/>
              <a:t> </a:t>
            </a:r>
            <a:r>
              <a:rPr lang="en-US" altLang="en-US" sz="2200" dirty="0" err="1"/>
              <a:t>ავტომატური</a:t>
            </a:r>
            <a:r>
              <a:rPr lang="en-US" altLang="en-US" sz="2200" dirty="0"/>
              <a:t> </a:t>
            </a:r>
            <a:r>
              <a:rPr lang="en-US" altLang="en-US" sz="2200" dirty="0" err="1"/>
              <a:t>გენერაცია</a:t>
            </a:r>
            <a:r>
              <a:rPr lang="en-US" altLang="en-US" sz="2200" dirty="0"/>
              <a:t>.</a:t>
            </a:r>
          </a:p>
        </p:txBody>
      </p:sp>
    </p:spTree>
    <p:extLst>
      <p:ext uri="{BB962C8B-B14F-4D97-AF65-F5344CB8AC3E}">
        <p14:creationId xmlns:p14="http://schemas.microsoft.com/office/powerpoint/2010/main" val="64341922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68AE8A35-268B-8A0F-C160-01D80CBD4564}"/>
              </a:ext>
            </a:extLst>
          </p:cNvPr>
          <p:cNvSpPr txBox="1"/>
          <p:nvPr/>
        </p:nvSpPr>
        <p:spPr>
          <a:xfrm>
            <a:off x="57707" y="-1502"/>
            <a:ext cx="8313938" cy="1477328"/>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1. რომელი პლატფორმა გამოიყენება სამეცნიერო სტატიის მოძიებისთვის?</a:t>
            </a:r>
            <a:br>
              <a:rPr lang="ka-GE"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ა</a:t>
            </a:r>
            <a:r>
              <a:rPr lang="en-US" dirty="0">
                <a:latin typeface="Calibri" panose="020F0502020204030204" pitchFamily="34" charset="0"/>
                <a:cs typeface="Calibri" panose="020F0502020204030204" pitchFamily="34" charset="0"/>
              </a:rPr>
              <a:t>) YouTube</a:t>
            </a:r>
            <a:br>
              <a:rPr lang="en-US"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ბ</a:t>
            </a:r>
            <a:r>
              <a:rPr lang="en-US" dirty="0">
                <a:latin typeface="Calibri" panose="020F0502020204030204" pitchFamily="34" charset="0"/>
                <a:cs typeface="Calibri" panose="020F0502020204030204" pitchFamily="34" charset="0"/>
              </a:rPr>
              <a:t>) Facebook</a:t>
            </a:r>
            <a:br>
              <a:rPr lang="en-US"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გ</a:t>
            </a:r>
            <a:r>
              <a:rPr lang="en-US" dirty="0">
                <a:latin typeface="Calibri" panose="020F0502020204030204" pitchFamily="34" charset="0"/>
                <a:cs typeface="Calibri" panose="020F0502020204030204" pitchFamily="34" charset="0"/>
              </a:rPr>
              <a:t>) Google Scholar</a:t>
            </a:r>
            <a:br>
              <a:rPr lang="en-US"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დ</a:t>
            </a:r>
            <a:r>
              <a:rPr lang="en-US" dirty="0">
                <a:latin typeface="Calibri" panose="020F0502020204030204" pitchFamily="34" charset="0"/>
                <a:cs typeface="Calibri" panose="020F0502020204030204" pitchFamily="34" charset="0"/>
              </a:rPr>
              <a:t>) Instagram</a:t>
            </a:r>
            <a:endParaRPr lang="ka-GE" dirty="0">
              <a:latin typeface="Calibri" panose="020F0502020204030204" pitchFamily="34" charset="0"/>
              <a:cs typeface="Calibri" panose="020F0502020204030204" pitchFamily="34" charset="0"/>
            </a:endParaRPr>
          </a:p>
        </p:txBody>
      </p:sp>
      <p:sp>
        <p:nvSpPr>
          <p:cNvPr id="7" name="TextBox 6">
            <a:extLst>
              <a:ext uri="{FF2B5EF4-FFF2-40B4-BE49-F238E27FC236}">
                <a16:creationId xmlns:a16="http://schemas.microsoft.com/office/drawing/2014/main" id="{F43645ED-B513-A0AC-CCCE-6C75AC7E0215}"/>
              </a:ext>
            </a:extLst>
          </p:cNvPr>
          <p:cNvSpPr txBox="1"/>
          <p:nvPr/>
        </p:nvSpPr>
        <p:spPr>
          <a:xfrm>
            <a:off x="57707" y="1436445"/>
            <a:ext cx="8651291" cy="1754326"/>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2. რომელ საკითხზე შეიძლება იყოს შესაძლებელი </a:t>
            </a:r>
            <a:r>
              <a:rPr lang="en-US" b="1" dirty="0">
                <a:latin typeface="Calibri" panose="020F0502020204030204" pitchFamily="34" charset="0"/>
                <a:cs typeface="Calibri" panose="020F0502020204030204" pitchFamily="34" charset="0"/>
              </a:rPr>
              <a:t>Google Scholar-</a:t>
            </a:r>
            <a:r>
              <a:rPr lang="ka-GE" b="1" dirty="0">
                <a:latin typeface="Calibri" panose="020F0502020204030204" pitchFamily="34" charset="0"/>
                <a:cs typeface="Calibri" panose="020F0502020204030204" pitchFamily="34" charset="0"/>
              </a:rPr>
              <a:t>ში სტატიის პოვნა?</a:t>
            </a:r>
            <a:br>
              <a:rPr lang="ka-GE"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ა</a:t>
            </a: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ფილმების მიმოხილვა</a:t>
            </a:r>
            <a:br>
              <a:rPr lang="ka-GE"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ბ</a:t>
            </a: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ინფორმაციული სისტემების მართვა</a:t>
            </a:r>
            <a:br>
              <a:rPr lang="ka-GE"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გ</a:t>
            </a: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რესტორნების მენიუები</a:t>
            </a:r>
            <a:br>
              <a:rPr lang="ka-GE"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დ</a:t>
            </a: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სპორტული თამაშების განრიგი</a:t>
            </a:r>
          </a:p>
        </p:txBody>
      </p:sp>
      <p:sp>
        <p:nvSpPr>
          <p:cNvPr id="9" name="TextBox 8">
            <a:extLst>
              <a:ext uri="{FF2B5EF4-FFF2-40B4-BE49-F238E27FC236}">
                <a16:creationId xmlns:a16="http://schemas.microsoft.com/office/drawing/2014/main" id="{9BD733D0-FFA4-93D6-2222-00685FA1CF9D}"/>
              </a:ext>
            </a:extLst>
          </p:cNvPr>
          <p:cNvSpPr txBox="1"/>
          <p:nvPr/>
        </p:nvSpPr>
        <p:spPr>
          <a:xfrm>
            <a:off x="0" y="3135358"/>
            <a:ext cx="7887810" cy="1754326"/>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3. რომელი ფილტრი გამოიყენება </a:t>
            </a:r>
            <a:r>
              <a:rPr lang="en-US" b="1" dirty="0">
                <a:latin typeface="Calibri" panose="020F0502020204030204" pitchFamily="34" charset="0"/>
                <a:cs typeface="Calibri" panose="020F0502020204030204" pitchFamily="34" charset="0"/>
              </a:rPr>
              <a:t>Google Scholar-</a:t>
            </a:r>
            <a:r>
              <a:rPr lang="ka-GE" b="1" dirty="0">
                <a:latin typeface="Calibri" panose="020F0502020204030204" pitchFamily="34" charset="0"/>
                <a:cs typeface="Calibri" panose="020F0502020204030204" pitchFamily="34" charset="0"/>
              </a:rPr>
              <a:t>ზე უახლესი სტატიების მოსაძიებლად?</a:t>
            </a:r>
            <a:br>
              <a:rPr lang="ka-GE"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ა</a:t>
            </a: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თარიღის ფილტრი</a:t>
            </a:r>
            <a:br>
              <a:rPr lang="ka-GE"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ბ</a:t>
            </a: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ენის ფილტრი</a:t>
            </a:r>
            <a:br>
              <a:rPr lang="ka-GE"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გ</a:t>
            </a: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მხოლოდ სათაურის ფილტრი</a:t>
            </a:r>
            <a:br>
              <a:rPr lang="ka-GE"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დ</a:t>
            </a: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ბიბლიოგრაფიის ფილტრი</a:t>
            </a:r>
          </a:p>
        </p:txBody>
      </p:sp>
      <p:sp>
        <p:nvSpPr>
          <p:cNvPr id="11" name="TextBox 10">
            <a:extLst>
              <a:ext uri="{FF2B5EF4-FFF2-40B4-BE49-F238E27FC236}">
                <a16:creationId xmlns:a16="http://schemas.microsoft.com/office/drawing/2014/main" id="{DD589EBA-8329-B5E3-1CC0-FBB3FE3916EC}"/>
              </a:ext>
            </a:extLst>
          </p:cNvPr>
          <p:cNvSpPr txBox="1"/>
          <p:nvPr/>
        </p:nvSpPr>
        <p:spPr>
          <a:xfrm>
            <a:off x="48831" y="4794890"/>
            <a:ext cx="8926497" cy="1754326"/>
          </a:xfrm>
          <a:prstGeom prst="rect">
            <a:avLst/>
          </a:prstGeom>
          <a:noFill/>
        </p:spPr>
        <p:txBody>
          <a:bodyPr wrap="square">
            <a:spAutoFit/>
          </a:bodyPr>
          <a:lstStyle/>
          <a:p>
            <a:r>
              <a:rPr lang="ka-GE" b="1" dirty="0">
                <a:latin typeface="Calibri" panose="020F0502020204030204" pitchFamily="34" charset="0"/>
                <a:cs typeface="Calibri" panose="020F0502020204030204" pitchFamily="34" charset="0"/>
              </a:rPr>
              <a:t>4. რა შეიძლება იყოს ციტირების მართვის პროგრამის გამოყენების მთავარი უპირატესობა?</a:t>
            </a:r>
            <a:br>
              <a:rPr lang="ka-GE"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ა</a:t>
            </a: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სტატიის ავტორის შეცვლა</a:t>
            </a:r>
            <a:br>
              <a:rPr lang="ka-GE"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ბ</a:t>
            </a: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ციტირების ავტომატური მართვა და ბიბლიოგრაფიის გენერაცია</a:t>
            </a:r>
            <a:br>
              <a:rPr lang="ka-GE"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გ</a:t>
            </a: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სტატიის გადმოწერა მხოლოდ </a:t>
            </a:r>
            <a:r>
              <a:rPr lang="en-US" dirty="0">
                <a:latin typeface="Calibri" panose="020F0502020204030204" pitchFamily="34" charset="0"/>
                <a:cs typeface="Calibri" panose="020F0502020204030204" pitchFamily="34" charset="0"/>
              </a:rPr>
              <a:t>PDF </a:t>
            </a:r>
            <a:r>
              <a:rPr lang="ka-GE" dirty="0">
                <a:latin typeface="Calibri" panose="020F0502020204030204" pitchFamily="34" charset="0"/>
                <a:cs typeface="Calibri" panose="020F0502020204030204" pitchFamily="34" charset="0"/>
              </a:rPr>
              <a:t>ფორმატში</a:t>
            </a:r>
            <a:br>
              <a:rPr lang="ka-GE" dirty="0">
                <a:latin typeface="Calibri" panose="020F0502020204030204" pitchFamily="34" charset="0"/>
                <a:cs typeface="Calibri" panose="020F0502020204030204" pitchFamily="34" charset="0"/>
              </a:rPr>
            </a:br>
            <a:r>
              <a:rPr lang="ka-GE" dirty="0">
                <a:latin typeface="Calibri" panose="020F0502020204030204" pitchFamily="34" charset="0"/>
                <a:cs typeface="Calibri" panose="020F0502020204030204" pitchFamily="34" charset="0"/>
              </a:rPr>
              <a:t>დ</a:t>
            </a:r>
            <a:r>
              <a:rPr lang="en-US" dirty="0">
                <a:latin typeface="Calibri" panose="020F0502020204030204" pitchFamily="34" charset="0"/>
                <a:cs typeface="Calibri" panose="020F0502020204030204" pitchFamily="34" charset="0"/>
              </a:rPr>
              <a:t>) </a:t>
            </a:r>
            <a:r>
              <a:rPr lang="ka-GE" dirty="0">
                <a:latin typeface="Calibri" panose="020F0502020204030204" pitchFamily="34" charset="0"/>
                <a:cs typeface="Calibri" panose="020F0502020204030204" pitchFamily="34" charset="0"/>
              </a:rPr>
              <a:t>მხოლოდ სტატიების შეჯამება</a:t>
            </a:r>
          </a:p>
        </p:txBody>
      </p:sp>
      <p:sp>
        <p:nvSpPr>
          <p:cNvPr id="12" name="Freeform: Shape 11">
            <a:extLst>
              <a:ext uri="{FF2B5EF4-FFF2-40B4-BE49-F238E27FC236}">
                <a16:creationId xmlns:a16="http://schemas.microsoft.com/office/drawing/2014/main" id="{3BA03945-0977-671F-6AB3-39D6E59BD596}"/>
              </a:ext>
            </a:extLst>
          </p:cNvPr>
          <p:cNvSpPr/>
          <p:nvPr/>
        </p:nvSpPr>
        <p:spPr>
          <a:xfrm>
            <a:off x="0" y="829951"/>
            <a:ext cx="392931" cy="390617"/>
          </a:xfrm>
          <a:custGeom>
            <a:avLst/>
            <a:gdLst>
              <a:gd name="connsiteX0" fmla="*/ 390618 w 392931"/>
              <a:gd name="connsiteY0" fmla="*/ 106532 h 390617"/>
              <a:gd name="connsiteX1" fmla="*/ 363985 w 392931"/>
              <a:gd name="connsiteY1" fmla="*/ 62143 h 390617"/>
              <a:gd name="connsiteX2" fmla="*/ 230820 w 392931"/>
              <a:gd name="connsiteY2" fmla="*/ 0 h 390617"/>
              <a:gd name="connsiteX3" fmla="*/ 124288 w 392931"/>
              <a:gd name="connsiteY3" fmla="*/ 8877 h 390617"/>
              <a:gd name="connsiteX4" fmla="*/ 71022 w 392931"/>
              <a:gd name="connsiteY4" fmla="*/ 53266 h 390617"/>
              <a:gd name="connsiteX5" fmla="*/ 35511 w 392931"/>
              <a:gd name="connsiteY5" fmla="*/ 97654 h 390617"/>
              <a:gd name="connsiteX6" fmla="*/ 0 w 392931"/>
              <a:gd name="connsiteY6" fmla="*/ 177553 h 390617"/>
              <a:gd name="connsiteX7" fmla="*/ 53266 w 392931"/>
              <a:gd name="connsiteY7" fmla="*/ 310718 h 390617"/>
              <a:gd name="connsiteX8" fmla="*/ 124288 w 392931"/>
              <a:gd name="connsiteY8" fmla="*/ 381739 h 390617"/>
              <a:gd name="connsiteX9" fmla="*/ 159799 w 392931"/>
              <a:gd name="connsiteY9" fmla="*/ 390617 h 390617"/>
              <a:gd name="connsiteX10" fmla="*/ 328474 w 392931"/>
              <a:gd name="connsiteY10" fmla="*/ 372862 h 390617"/>
              <a:gd name="connsiteX11" fmla="*/ 337352 w 392931"/>
              <a:gd name="connsiteY11" fmla="*/ 346229 h 390617"/>
              <a:gd name="connsiteX12" fmla="*/ 372863 w 392931"/>
              <a:gd name="connsiteY12" fmla="*/ 275207 h 390617"/>
              <a:gd name="connsiteX13" fmla="*/ 381740 w 392931"/>
              <a:gd name="connsiteY13" fmla="*/ 106532 h 390617"/>
              <a:gd name="connsiteX14" fmla="*/ 390618 w 392931"/>
              <a:gd name="connsiteY14" fmla="*/ 106532 h 39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2931" h="390617">
                <a:moveTo>
                  <a:pt x="390618" y="106532"/>
                </a:moveTo>
                <a:cubicBezTo>
                  <a:pt x="387659" y="99134"/>
                  <a:pt x="376705" y="73803"/>
                  <a:pt x="363985" y="62143"/>
                </a:cubicBezTo>
                <a:cubicBezTo>
                  <a:pt x="300734" y="4163"/>
                  <a:pt x="297875" y="11175"/>
                  <a:pt x="230820" y="0"/>
                </a:cubicBezTo>
                <a:cubicBezTo>
                  <a:pt x="195309" y="2959"/>
                  <a:pt x="158093" y="-2391"/>
                  <a:pt x="124288" y="8877"/>
                </a:cubicBezTo>
                <a:cubicBezTo>
                  <a:pt x="102362" y="16186"/>
                  <a:pt x="87365" y="36923"/>
                  <a:pt x="71022" y="53266"/>
                </a:cubicBezTo>
                <a:cubicBezTo>
                  <a:pt x="57624" y="66664"/>
                  <a:pt x="46022" y="81888"/>
                  <a:pt x="35511" y="97654"/>
                </a:cubicBezTo>
                <a:cubicBezTo>
                  <a:pt x="23073" y="116311"/>
                  <a:pt x="7687" y="158336"/>
                  <a:pt x="0" y="177553"/>
                </a:cubicBezTo>
                <a:cubicBezTo>
                  <a:pt x="9575" y="206279"/>
                  <a:pt x="30578" y="281843"/>
                  <a:pt x="53266" y="310718"/>
                </a:cubicBezTo>
                <a:cubicBezTo>
                  <a:pt x="73951" y="337044"/>
                  <a:pt x="91808" y="373619"/>
                  <a:pt x="124288" y="381739"/>
                </a:cubicBezTo>
                <a:lnTo>
                  <a:pt x="159799" y="390617"/>
                </a:lnTo>
                <a:cubicBezTo>
                  <a:pt x="216024" y="384699"/>
                  <a:pt x="273626" y="386574"/>
                  <a:pt x="328474" y="372862"/>
                </a:cubicBezTo>
                <a:cubicBezTo>
                  <a:pt x="337553" y="370592"/>
                  <a:pt x="333480" y="354748"/>
                  <a:pt x="337352" y="346229"/>
                </a:cubicBezTo>
                <a:cubicBezTo>
                  <a:pt x="348305" y="322133"/>
                  <a:pt x="372863" y="275207"/>
                  <a:pt x="372863" y="275207"/>
                </a:cubicBezTo>
                <a:cubicBezTo>
                  <a:pt x="391303" y="201446"/>
                  <a:pt x="402528" y="189684"/>
                  <a:pt x="381740" y="106532"/>
                </a:cubicBezTo>
                <a:cubicBezTo>
                  <a:pt x="380135" y="100113"/>
                  <a:pt x="393577" y="113930"/>
                  <a:pt x="390618" y="106532"/>
                </a:cubicBezTo>
                <a:close/>
              </a:path>
            </a:pathLst>
          </a:custGeom>
          <a:noFill/>
          <a:ln w="15875">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DAC3BF5F-F09D-90C8-EAD2-C3ABEE654A75}"/>
              </a:ext>
            </a:extLst>
          </p:cNvPr>
          <p:cNvSpPr/>
          <p:nvPr/>
        </p:nvSpPr>
        <p:spPr>
          <a:xfrm>
            <a:off x="3" y="2258195"/>
            <a:ext cx="392931" cy="390617"/>
          </a:xfrm>
          <a:custGeom>
            <a:avLst/>
            <a:gdLst>
              <a:gd name="connsiteX0" fmla="*/ 390618 w 392931"/>
              <a:gd name="connsiteY0" fmla="*/ 106532 h 390617"/>
              <a:gd name="connsiteX1" fmla="*/ 363985 w 392931"/>
              <a:gd name="connsiteY1" fmla="*/ 62143 h 390617"/>
              <a:gd name="connsiteX2" fmla="*/ 230820 w 392931"/>
              <a:gd name="connsiteY2" fmla="*/ 0 h 390617"/>
              <a:gd name="connsiteX3" fmla="*/ 124288 w 392931"/>
              <a:gd name="connsiteY3" fmla="*/ 8877 h 390617"/>
              <a:gd name="connsiteX4" fmla="*/ 71022 w 392931"/>
              <a:gd name="connsiteY4" fmla="*/ 53266 h 390617"/>
              <a:gd name="connsiteX5" fmla="*/ 35511 w 392931"/>
              <a:gd name="connsiteY5" fmla="*/ 97654 h 390617"/>
              <a:gd name="connsiteX6" fmla="*/ 0 w 392931"/>
              <a:gd name="connsiteY6" fmla="*/ 177553 h 390617"/>
              <a:gd name="connsiteX7" fmla="*/ 53266 w 392931"/>
              <a:gd name="connsiteY7" fmla="*/ 310718 h 390617"/>
              <a:gd name="connsiteX8" fmla="*/ 124288 w 392931"/>
              <a:gd name="connsiteY8" fmla="*/ 381739 h 390617"/>
              <a:gd name="connsiteX9" fmla="*/ 159799 w 392931"/>
              <a:gd name="connsiteY9" fmla="*/ 390617 h 390617"/>
              <a:gd name="connsiteX10" fmla="*/ 328474 w 392931"/>
              <a:gd name="connsiteY10" fmla="*/ 372862 h 390617"/>
              <a:gd name="connsiteX11" fmla="*/ 337352 w 392931"/>
              <a:gd name="connsiteY11" fmla="*/ 346229 h 390617"/>
              <a:gd name="connsiteX12" fmla="*/ 372863 w 392931"/>
              <a:gd name="connsiteY12" fmla="*/ 275207 h 390617"/>
              <a:gd name="connsiteX13" fmla="*/ 381740 w 392931"/>
              <a:gd name="connsiteY13" fmla="*/ 106532 h 390617"/>
              <a:gd name="connsiteX14" fmla="*/ 390618 w 392931"/>
              <a:gd name="connsiteY14" fmla="*/ 106532 h 39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2931" h="390617">
                <a:moveTo>
                  <a:pt x="390618" y="106532"/>
                </a:moveTo>
                <a:cubicBezTo>
                  <a:pt x="387659" y="99134"/>
                  <a:pt x="376705" y="73803"/>
                  <a:pt x="363985" y="62143"/>
                </a:cubicBezTo>
                <a:cubicBezTo>
                  <a:pt x="300734" y="4163"/>
                  <a:pt x="297875" y="11175"/>
                  <a:pt x="230820" y="0"/>
                </a:cubicBezTo>
                <a:cubicBezTo>
                  <a:pt x="195309" y="2959"/>
                  <a:pt x="158093" y="-2391"/>
                  <a:pt x="124288" y="8877"/>
                </a:cubicBezTo>
                <a:cubicBezTo>
                  <a:pt x="102362" y="16186"/>
                  <a:pt x="87365" y="36923"/>
                  <a:pt x="71022" y="53266"/>
                </a:cubicBezTo>
                <a:cubicBezTo>
                  <a:pt x="57624" y="66664"/>
                  <a:pt x="46022" y="81888"/>
                  <a:pt x="35511" y="97654"/>
                </a:cubicBezTo>
                <a:cubicBezTo>
                  <a:pt x="23073" y="116311"/>
                  <a:pt x="7687" y="158336"/>
                  <a:pt x="0" y="177553"/>
                </a:cubicBezTo>
                <a:cubicBezTo>
                  <a:pt x="9575" y="206279"/>
                  <a:pt x="30578" y="281843"/>
                  <a:pt x="53266" y="310718"/>
                </a:cubicBezTo>
                <a:cubicBezTo>
                  <a:pt x="73951" y="337044"/>
                  <a:pt x="91808" y="373619"/>
                  <a:pt x="124288" y="381739"/>
                </a:cubicBezTo>
                <a:lnTo>
                  <a:pt x="159799" y="390617"/>
                </a:lnTo>
                <a:cubicBezTo>
                  <a:pt x="216024" y="384699"/>
                  <a:pt x="273626" y="386574"/>
                  <a:pt x="328474" y="372862"/>
                </a:cubicBezTo>
                <a:cubicBezTo>
                  <a:pt x="337553" y="370592"/>
                  <a:pt x="333480" y="354748"/>
                  <a:pt x="337352" y="346229"/>
                </a:cubicBezTo>
                <a:cubicBezTo>
                  <a:pt x="348305" y="322133"/>
                  <a:pt x="372863" y="275207"/>
                  <a:pt x="372863" y="275207"/>
                </a:cubicBezTo>
                <a:cubicBezTo>
                  <a:pt x="391303" y="201446"/>
                  <a:pt x="402528" y="189684"/>
                  <a:pt x="381740" y="106532"/>
                </a:cubicBezTo>
                <a:cubicBezTo>
                  <a:pt x="380135" y="100113"/>
                  <a:pt x="393577" y="113930"/>
                  <a:pt x="390618" y="106532"/>
                </a:cubicBezTo>
                <a:close/>
              </a:path>
            </a:pathLst>
          </a:custGeom>
          <a:noFill/>
          <a:ln w="15875">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2D15A9D9-E687-F0FE-F26B-718DA72933B1}"/>
              </a:ext>
            </a:extLst>
          </p:cNvPr>
          <p:cNvSpPr/>
          <p:nvPr/>
        </p:nvSpPr>
        <p:spPr>
          <a:xfrm>
            <a:off x="-48827" y="3646053"/>
            <a:ext cx="392931" cy="390617"/>
          </a:xfrm>
          <a:custGeom>
            <a:avLst/>
            <a:gdLst>
              <a:gd name="connsiteX0" fmla="*/ 390618 w 392931"/>
              <a:gd name="connsiteY0" fmla="*/ 106532 h 390617"/>
              <a:gd name="connsiteX1" fmla="*/ 363985 w 392931"/>
              <a:gd name="connsiteY1" fmla="*/ 62143 h 390617"/>
              <a:gd name="connsiteX2" fmla="*/ 230820 w 392931"/>
              <a:gd name="connsiteY2" fmla="*/ 0 h 390617"/>
              <a:gd name="connsiteX3" fmla="*/ 124288 w 392931"/>
              <a:gd name="connsiteY3" fmla="*/ 8877 h 390617"/>
              <a:gd name="connsiteX4" fmla="*/ 71022 w 392931"/>
              <a:gd name="connsiteY4" fmla="*/ 53266 h 390617"/>
              <a:gd name="connsiteX5" fmla="*/ 35511 w 392931"/>
              <a:gd name="connsiteY5" fmla="*/ 97654 h 390617"/>
              <a:gd name="connsiteX6" fmla="*/ 0 w 392931"/>
              <a:gd name="connsiteY6" fmla="*/ 177553 h 390617"/>
              <a:gd name="connsiteX7" fmla="*/ 53266 w 392931"/>
              <a:gd name="connsiteY7" fmla="*/ 310718 h 390617"/>
              <a:gd name="connsiteX8" fmla="*/ 124288 w 392931"/>
              <a:gd name="connsiteY8" fmla="*/ 381739 h 390617"/>
              <a:gd name="connsiteX9" fmla="*/ 159799 w 392931"/>
              <a:gd name="connsiteY9" fmla="*/ 390617 h 390617"/>
              <a:gd name="connsiteX10" fmla="*/ 328474 w 392931"/>
              <a:gd name="connsiteY10" fmla="*/ 372862 h 390617"/>
              <a:gd name="connsiteX11" fmla="*/ 337352 w 392931"/>
              <a:gd name="connsiteY11" fmla="*/ 346229 h 390617"/>
              <a:gd name="connsiteX12" fmla="*/ 372863 w 392931"/>
              <a:gd name="connsiteY12" fmla="*/ 275207 h 390617"/>
              <a:gd name="connsiteX13" fmla="*/ 381740 w 392931"/>
              <a:gd name="connsiteY13" fmla="*/ 106532 h 390617"/>
              <a:gd name="connsiteX14" fmla="*/ 390618 w 392931"/>
              <a:gd name="connsiteY14" fmla="*/ 106532 h 39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2931" h="390617">
                <a:moveTo>
                  <a:pt x="390618" y="106532"/>
                </a:moveTo>
                <a:cubicBezTo>
                  <a:pt x="387659" y="99134"/>
                  <a:pt x="376705" y="73803"/>
                  <a:pt x="363985" y="62143"/>
                </a:cubicBezTo>
                <a:cubicBezTo>
                  <a:pt x="300734" y="4163"/>
                  <a:pt x="297875" y="11175"/>
                  <a:pt x="230820" y="0"/>
                </a:cubicBezTo>
                <a:cubicBezTo>
                  <a:pt x="195309" y="2959"/>
                  <a:pt x="158093" y="-2391"/>
                  <a:pt x="124288" y="8877"/>
                </a:cubicBezTo>
                <a:cubicBezTo>
                  <a:pt x="102362" y="16186"/>
                  <a:pt x="87365" y="36923"/>
                  <a:pt x="71022" y="53266"/>
                </a:cubicBezTo>
                <a:cubicBezTo>
                  <a:pt x="57624" y="66664"/>
                  <a:pt x="46022" y="81888"/>
                  <a:pt x="35511" y="97654"/>
                </a:cubicBezTo>
                <a:cubicBezTo>
                  <a:pt x="23073" y="116311"/>
                  <a:pt x="7687" y="158336"/>
                  <a:pt x="0" y="177553"/>
                </a:cubicBezTo>
                <a:cubicBezTo>
                  <a:pt x="9575" y="206279"/>
                  <a:pt x="30578" y="281843"/>
                  <a:pt x="53266" y="310718"/>
                </a:cubicBezTo>
                <a:cubicBezTo>
                  <a:pt x="73951" y="337044"/>
                  <a:pt x="91808" y="373619"/>
                  <a:pt x="124288" y="381739"/>
                </a:cubicBezTo>
                <a:lnTo>
                  <a:pt x="159799" y="390617"/>
                </a:lnTo>
                <a:cubicBezTo>
                  <a:pt x="216024" y="384699"/>
                  <a:pt x="273626" y="386574"/>
                  <a:pt x="328474" y="372862"/>
                </a:cubicBezTo>
                <a:cubicBezTo>
                  <a:pt x="337553" y="370592"/>
                  <a:pt x="333480" y="354748"/>
                  <a:pt x="337352" y="346229"/>
                </a:cubicBezTo>
                <a:cubicBezTo>
                  <a:pt x="348305" y="322133"/>
                  <a:pt x="372863" y="275207"/>
                  <a:pt x="372863" y="275207"/>
                </a:cubicBezTo>
                <a:cubicBezTo>
                  <a:pt x="391303" y="201446"/>
                  <a:pt x="402528" y="189684"/>
                  <a:pt x="381740" y="106532"/>
                </a:cubicBezTo>
                <a:cubicBezTo>
                  <a:pt x="380135" y="100113"/>
                  <a:pt x="393577" y="113930"/>
                  <a:pt x="390618" y="106532"/>
                </a:cubicBezTo>
                <a:close/>
              </a:path>
            </a:pathLst>
          </a:custGeom>
          <a:noFill/>
          <a:ln w="15875">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03F3D0DF-7F52-B773-4465-2EEDF00F836C}"/>
              </a:ext>
            </a:extLst>
          </p:cNvPr>
          <p:cNvSpPr/>
          <p:nvPr/>
        </p:nvSpPr>
        <p:spPr>
          <a:xfrm>
            <a:off x="0" y="5617440"/>
            <a:ext cx="392931" cy="390617"/>
          </a:xfrm>
          <a:custGeom>
            <a:avLst/>
            <a:gdLst>
              <a:gd name="connsiteX0" fmla="*/ 390618 w 392931"/>
              <a:gd name="connsiteY0" fmla="*/ 106532 h 390617"/>
              <a:gd name="connsiteX1" fmla="*/ 363985 w 392931"/>
              <a:gd name="connsiteY1" fmla="*/ 62143 h 390617"/>
              <a:gd name="connsiteX2" fmla="*/ 230820 w 392931"/>
              <a:gd name="connsiteY2" fmla="*/ 0 h 390617"/>
              <a:gd name="connsiteX3" fmla="*/ 124288 w 392931"/>
              <a:gd name="connsiteY3" fmla="*/ 8877 h 390617"/>
              <a:gd name="connsiteX4" fmla="*/ 71022 w 392931"/>
              <a:gd name="connsiteY4" fmla="*/ 53266 h 390617"/>
              <a:gd name="connsiteX5" fmla="*/ 35511 w 392931"/>
              <a:gd name="connsiteY5" fmla="*/ 97654 h 390617"/>
              <a:gd name="connsiteX6" fmla="*/ 0 w 392931"/>
              <a:gd name="connsiteY6" fmla="*/ 177553 h 390617"/>
              <a:gd name="connsiteX7" fmla="*/ 53266 w 392931"/>
              <a:gd name="connsiteY7" fmla="*/ 310718 h 390617"/>
              <a:gd name="connsiteX8" fmla="*/ 124288 w 392931"/>
              <a:gd name="connsiteY8" fmla="*/ 381739 h 390617"/>
              <a:gd name="connsiteX9" fmla="*/ 159799 w 392931"/>
              <a:gd name="connsiteY9" fmla="*/ 390617 h 390617"/>
              <a:gd name="connsiteX10" fmla="*/ 328474 w 392931"/>
              <a:gd name="connsiteY10" fmla="*/ 372862 h 390617"/>
              <a:gd name="connsiteX11" fmla="*/ 337352 w 392931"/>
              <a:gd name="connsiteY11" fmla="*/ 346229 h 390617"/>
              <a:gd name="connsiteX12" fmla="*/ 372863 w 392931"/>
              <a:gd name="connsiteY12" fmla="*/ 275207 h 390617"/>
              <a:gd name="connsiteX13" fmla="*/ 381740 w 392931"/>
              <a:gd name="connsiteY13" fmla="*/ 106532 h 390617"/>
              <a:gd name="connsiteX14" fmla="*/ 390618 w 392931"/>
              <a:gd name="connsiteY14" fmla="*/ 106532 h 3906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92931" h="390617">
                <a:moveTo>
                  <a:pt x="390618" y="106532"/>
                </a:moveTo>
                <a:cubicBezTo>
                  <a:pt x="387659" y="99134"/>
                  <a:pt x="376705" y="73803"/>
                  <a:pt x="363985" y="62143"/>
                </a:cubicBezTo>
                <a:cubicBezTo>
                  <a:pt x="300734" y="4163"/>
                  <a:pt x="297875" y="11175"/>
                  <a:pt x="230820" y="0"/>
                </a:cubicBezTo>
                <a:cubicBezTo>
                  <a:pt x="195309" y="2959"/>
                  <a:pt x="158093" y="-2391"/>
                  <a:pt x="124288" y="8877"/>
                </a:cubicBezTo>
                <a:cubicBezTo>
                  <a:pt x="102362" y="16186"/>
                  <a:pt x="87365" y="36923"/>
                  <a:pt x="71022" y="53266"/>
                </a:cubicBezTo>
                <a:cubicBezTo>
                  <a:pt x="57624" y="66664"/>
                  <a:pt x="46022" y="81888"/>
                  <a:pt x="35511" y="97654"/>
                </a:cubicBezTo>
                <a:cubicBezTo>
                  <a:pt x="23073" y="116311"/>
                  <a:pt x="7687" y="158336"/>
                  <a:pt x="0" y="177553"/>
                </a:cubicBezTo>
                <a:cubicBezTo>
                  <a:pt x="9575" y="206279"/>
                  <a:pt x="30578" y="281843"/>
                  <a:pt x="53266" y="310718"/>
                </a:cubicBezTo>
                <a:cubicBezTo>
                  <a:pt x="73951" y="337044"/>
                  <a:pt x="91808" y="373619"/>
                  <a:pt x="124288" y="381739"/>
                </a:cubicBezTo>
                <a:lnTo>
                  <a:pt x="159799" y="390617"/>
                </a:lnTo>
                <a:cubicBezTo>
                  <a:pt x="216024" y="384699"/>
                  <a:pt x="273626" y="386574"/>
                  <a:pt x="328474" y="372862"/>
                </a:cubicBezTo>
                <a:cubicBezTo>
                  <a:pt x="337553" y="370592"/>
                  <a:pt x="333480" y="354748"/>
                  <a:pt x="337352" y="346229"/>
                </a:cubicBezTo>
                <a:cubicBezTo>
                  <a:pt x="348305" y="322133"/>
                  <a:pt x="372863" y="275207"/>
                  <a:pt x="372863" y="275207"/>
                </a:cubicBezTo>
                <a:cubicBezTo>
                  <a:pt x="391303" y="201446"/>
                  <a:pt x="402528" y="189684"/>
                  <a:pt x="381740" y="106532"/>
                </a:cubicBezTo>
                <a:cubicBezTo>
                  <a:pt x="380135" y="100113"/>
                  <a:pt x="393577" y="113930"/>
                  <a:pt x="390618" y="106532"/>
                </a:cubicBezTo>
                <a:close/>
              </a:path>
            </a:pathLst>
          </a:custGeom>
          <a:noFill/>
          <a:ln w="15875">
            <a:solidFill>
              <a:srgbClr val="00206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749914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1" presetClass="entr" presetSubtype="1"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heel(1)">
                                      <p:cBhvr>
                                        <p:cTn id="7" dur="20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21" presetClass="entr" presetSubtype="1" fill="hold" grpId="0"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heel(1)">
                                      <p:cBhvr>
                                        <p:cTn id="12" dur="2000"/>
                                        <p:tgtEl>
                                          <p:spTgt spid="13"/>
                                        </p:tgtEl>
                                      </p:cBhvr>
                                    </p:animEffect>
                                  </p:childTnLst>
                                </p:cTn>
                              </p:par>
                            </p:childTnLst>
                          </p:cTn>
                        </p:par>
                      </p:childTnLst>
                    </p:cTn>
                  </p:par>
                  <p:par>
                    <p:cTn id="13" fill="hold">
                      <p:stCondLst>
                        <p:cond delay="indefinite"/>
                      </p:stCondLst>
                      <p:childTnLst>
                        <p:par>
                          <p:cTn id="14" fill="hold">
                            <p:stCondLst>
                              <p:cond delay="0"/>
                            </p:stCondLst>
                            <p:childTnLst>
                              <p:par>
                                <p:cTn id="15" presetID="21"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heel(1)">
                                      <p:cBhvr>
                                        <p:cTn id="17" dur="20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1" presetClass="entr" presetSubtype="1" fill="hold" grpId="0" nodeType="click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wheel(1)">
                                      <p:cBhvr>
                                        <p:cTn id="22" dur="20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4" grpId="0" animBg="1"/>
      <p:bldP spid="15"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874042" y="586856"/>
            <a:ext cx="2401025" cy="3387497"/>
          </a:xfrm>
        </p:spPr>
        <p:txBody>
          <a:bodyPr anchor="b">
            <a:normAutofit/>
          </a:bodyPr>
          <a:lstStyle/>
          <a:p>
            <a:pPr algn="r"/>
            <a:r>
              <a:rPr lang="ka-GE" sz="3500" dirty="0">
                <a:solidFill>
                  <a:srgbClr val="FFFFFF"/>
                </a:solidFill>
                <a:latin typeface="Calibri" panose="020F0502020204030204" pitchFamily="34" charset="0"/>
                <a:cs typeface="Calibri" panose="020F0502020204030204" pitchFamily="34" charset="0"/>
              </a:rPr>
              <a:t>დასკვნა და </a:t>
            </a:r>
            <a:br>
              <a:rPr lang="ka-GE" sz="3500" dirty="0">
                <a:solidFill>
                  <a:srgbClr val="FFFFFF"/>
                </a:solidFill>
                <a:latin typeface="Calibri" panose="020F0502020204030204" pitchFamily="34" charset="0"/>
                <a:cs typeface="Calibri" panose="020F0502020204030204" pitchFamily="34" charset="0"/>
              </a:rPr>
            </a:br>
            <a:r>
              <a:rPr lang="ka-GE" sz="3500" dirty="0">
                <a:solidFill>
                  <a:srgbClr val="FFFFFF"/>
                </a:solidFill>
                <a:latin typeface="Calibri" panose="020F0502020204030204" pitchFamily="34" charset="0"/>
                <a:cs typeface="Calibri" panose="020F0502020204030204" pitchFamily="34" charset="0"/>
              </a:rPr>
              <a:t>კითხვა-პასუხი</a:t>
            </a:r>
          </a:p>
        </p:txBody>
      </p:sp>
      <p:sp>
        <p:nvSpPr>
          <p:cNvPr id="3" name="Content Placeholder 2"/>
          <p:cNvSpPr>
            <a:spLocks noGrp="1"/>
          </p:cNvSpPr>
          <p:nvPr>
            <p:ph idx="1"/>
          </p:nvPr>
        </p:nvSpPr>
        <p:spPr>
          <a:xfrm>
            <a:off x="2272682" y="649481"/>
            <a:ext cx="7775521" cy="4561712"/>
          </a:xfrm>
        </p:spPr>
        <p:txBody>
          <a:bodyPr anchor="ctr">
            <a:normAutofit/>
          </a:bodyPr>
          <a:lstStyle/>
          <a:p>
            <a:r>
              <a:rPr lang="ka-GE" sz="2400" dirty="0">
                <a:latin typeface="Calibri" panose="020F0502020204030204" pitchFamily="34" charset="0"/>
                <a:cs typeface="Calibri" panose="020F0502020204030204" pitchFamily="34" charset="0"/>
              </a:rPr>
              <a:t>დავალების შესრულების დროს მოძიებული სტატიის  </a:t>
            </a:r>
            <a:r>
              <a:rPr lang="en-US" sz="1400" dirty="0"/>
              <a:t>A Survey on Blockchain for Information Systems Management and Security </a:t>
            </a:r>
            <a:r>
              <a:rPr lang="ka-GE" sz="1400" dirty="0"/>
              <a:t> </a:t>
            </a:r>
            <a:r>
              <a:rPr lang="ka-GE" sz="2400" dirty="0">
                <a:latin typeface="Calibri" panose="020F0502020204030204" pitchFamily="34" charset="0"/>
                <a:cs typeface="Calibri" panose="020F0502020204030204" pitchFamily="34" charset="0"/>
              </a:rPr>
              <a:t>გარჩევა.</a:t>
            </a:r>
          </a:p>
          <a:p>
            <a:r>
              <a:rPr lang="ka-GE" sz="2400" dirty="0">
                <a:latin typeface="Calibri" panose="020F0502020204030204" pitchFamily="34" charset="0"/>
                <a:cs typeface="Calibri" panose="020F0502020204030204" pitchFamily="34" charset="0"/>
              </a:rPr>
              <a:t>სტუდენტებთან ინტერაქტიული დისკუსია და კითხვები.</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399</TotalTime>
  <Words>3319</Words>
  <Application>Microsoft Office PowerPoint</Application>
  <PresentationFormat>Widescreen</PresentationFormat>
  <Paragraphs>242</Paragraphs>
  <Slides>33</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33</vt:i4>
      </vt:variant>
    </vt:vector>
  </HeadingPairs>
  <TitlesOfParts>
    <vt:vector size="40" baseType="lpstr">
      <vt:lpstr>Arial</vt:lpstr>
      <vt:lpstr>Calibri</vt:lpstr>
      <vt:lpstr>Calibri Light</vt:lpstr>
      <vt:lpstr>inherit</vt:lpstr>
      <vt:lpstr>Segoe UI Historic</vt:lpstr>
      <vt:lpstr>Sylfaen</vt:lpstr>
      <vt:lpstr>Office Theme</vt:lpstr>
      <vt:lpstr>ონლიან ბიბლიოთეკების ბაზების მიმოხილვა; ციტირების ინდექსი, ზეგავლენის„იმფაქტ“ ფაქტორი  (IF), Peer review</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მნიშვნელოვანი ონლაინ ბიბლიოთეკები და მონაცემთა ბაზები:</vt:lpstr>
      <vt:lpstr>PowerPoint Presentation</vt:lpstr>
      <vt:lpstr>PowerPoint Presentation</vt:lpstr>
      <vt:lpstr>ინსტიტუციური ბიბლიოთეკები:</vt:lpstr>
      <vt:lpstr>PowerPoint Presentation</vt:lpstr>
      <vt:lpstr>მნიშვნელოვანი ონლაინ ბიბლიოთეკები და მონაცემთა ბაზები:</vt:lpstr>
      <vt:lpstr>PowerPoint Presentation</vt:lpstr>
      <vt:lpstr>PowerPoint Presentation</vt:lpstr>
      <vt:lpstr>PowerPoint Presentation</vt:lpstr>
      <vt:lpstr>PowerPoint Presentation</vt:lpstr>
      <vt:lpstr>ციტირების ინდექსი (Citation Index)</vt:lpstr>
      <vt:lpstr>ციტირების ინდექსი (Citation Index)</vt:lpstr>
      <vt:lpstr>როგორ ითვლება ციტირების ინდექსი?</vt:lpstr>
      <vt:lpstr>გავლენის ფაქტორი (Impact Factor, IF) - არის აკადემიური ჟურნალის ციტირების სიხშირის საზომი, რომელიც გამოიყენება ჟურნალის გავლენისა და მნიშვნელობის შესაფასებლად მეცნიერებისა და კვლევების სამყაროში.</vt:lpstr>
      <vt:lpstr>PowerPoint Presentation</vt:lpstr>
      <vt:lpstr>PowerPoint Presentation</vt:lpstr>
      <vt:lpstr>PowerPoint Presentation</vt:lpstr>
      <vt:lpstr>PowerPoint Presentation</vt:lpstr>
      <vt:lpstr>მოდით მოვიძიოთ სტატია, განვსაზღვროთ, მართლა ასე ეფექტურია სწავლების კონსტრუქტივისტული მიდგომა და სჯობს დიდაქტიკურ სწავლებას, თუ ეს ყველაფერი არ მტკიცდება კვლევებით?</vt:lpstr>
      <vt:lpstr>ონლაინ პლატფორმაზე სამეცნიერო ჟურნალების და სტატების მოძებნის პრაქტიკული მაგალითი</vt:lpstr>
      <vt:lpstr>პროცესის აღწერა:</vt:lpstr>
      <vt:lpstr>PowerPoint Presentation</vt:lpstr>
      <vt:lpstr>დასკვნა და  კითხვა-პასუხი</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Office User</dc:creator>
  <cp:lastModifiedBy>Giorgi Ratiani</cp:lastModifiedBy>
  <cp:revision>22</cp:revision>
  <dcterms:created xsi:type="dcterms:W3CDTF">2021-03-10T15:14:38Z</dcterms:created>
  <dcterms:modified xsi:type="dcterms:W3CDTF">2024-10-02T08:08:38Z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cdd2b3a5-926f-4111-8eea-9c5318b8762f_Enabled">
    <vt:lpwstr>true</vt:lpwstr>
  </property>
  <property fmtid="{D5CDD505-2E9C-101B-9397-08002B2CF9AE}" pid="3" name="MSIP_Label_cdd2b3a5-926f-4111-8eea-9c5318b8762f_SetDate">
    <vt:lpwstr>2024-09-24T10:49:57Z</vt:lpwstr>
  </property>
  <property fmtid="{D5CDD505-2E9C-101B-9397-08002B2CF9AE}" pid="4" name="MSIP_Label_cdd2b3a5-926f-4111-8eea-9c5318b8762f_Method">
    <vt:lpwstr>Standard</vt:lpwstr>
  </property>
  <property fmtid="{D5CDD505-2E9C-101B-9397-08002B2CF9AE}" pid="5" name="MSIP_Label_cdd2b3a5-926f-4111-8eea-9c5318b8762f_Name">
    <vt:lpwstr>defa4170-0d19-0005-0004-bc88714345d2</vt:lpwstr>
  </property>
  <property fmtid="{D5CDD505-2E9C-101B-9397-08002B2CF9AE}" pid="6" name="MSIP_Label_cdd2b3a5-926f-4111-8eea-9c5318b8762f_SiteId">
    <vt:lpwstr>61d2e93c-423d-43b4-8f23-1580c2341952</vt:lpwstr>
  </property>
  <property fmtid="{D5CDD505-2E9C-101B-9397-08002B2CF9AE}" pid="7" name="MSIP_Label_cdd2b3a5-926f-4111-8eea-9c5318b8762f_ActionId">
    <vt:lpwstr>65c2014f-b9c5-4574-9ccd-76308b098117</vt:lpwstr>
  </property>
  <property fmtid="{D5CDD505-2E9C-101B-9397-08002B2CF9AE}" pid="8" name="MSIP_Label_cdd2b3a5-926f-4111-8eea-9c5318b8762f_ContentBits">
    <vt:lpwstr>0</vt:lpwstr>
  </property>
</Properties>
</file>