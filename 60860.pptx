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9" r:id="rId2"/>
    <p:sldId id="296" r:id="rId3"/>
    <p:sldId id="332" r:id="rId4"/>
    <p:sldId id="333" r:id="rId5"/>
    <p:sldId id="335" r:id="rId6"/>
    <p:sldId id="334" r:id="rId7"/>
    <p:sldId id="336" r:id="rId8"/>
    <p:sldId id="339" r:id="rId9"/>
    <p:sldId id="337" r:id="rId10"/>
    <p:sldId id="338" r:id="rId11"/>
    <p:sldId id="324" r:id="rId12"/>
    <p:sldId id="273" r:id="rId13"/>
    <p:sldId id="340" r:id="rId14"/>
    <p:sldId id="26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23A9"/>
    <a:srgbClr val="FE007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50"/>
    <p:restoredTop sz="94587"/>
  </p:normalViewPr>
  <p:slideViewPr>
    <p:cSldViewPr snapToGrid="0" snapToObjects="1">
      <p:cViewPr varScale="1">
        <p:scale>
          <a:sx n="106" d="100"/>
          <a:sy n="106" d="100"/>
        </p:scale>
        <p:origin x="7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886DB8-16A9-42B7-8E3A-96528C0E0EE1}" type="datetimeFigureOut">
              <a:rPr lang="en-US" smtClean="0"/>
              <a:t>10/16/2024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9AF9238-3366-43C7-96FF-4CFB4B9E5BA6}" type="slidenum">
              <a:rPr lang="en-US" smtClean="0"/>
              <a:t>‹#›</a:t>
            </a:fld>
            <a:endParaRPr lang="en-US"/>
          </a:p>
        </p:txBody>
      </p:sp>
    </p:spTree>
    <p:extLst>
      <p:ext uri="{BB962C8B-B14F-4D97-AF65-F5344CB8AC3E}">
        <p14:creationId xmlns:p14="http://schemas.microsoft.com/office/powerpoint/2010/main" val="1855861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23DBA-DF2B-4F45-987C-FFC11F950F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0733E3-D73A-514C-8080-026404A509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DD2E74-6BFE-AB48-B142-D0FFBDD04371}"/>
              </a:ext>
            </a:extLst>
          </p:cNvPr>
          <p:cNvSpPr>
            <a:spLocks noGrp="1"/>
          </p:cNvSpPr>
          <p:nvPr>
            <p:ph type="dt" sz="half" idx="10"/>
          </p:nvPr>
        </p:nvSpPr>
        <p:spPr/>
        <p:txBody>
          <a:bodyPr/>
          <a:lstStyle/>
          <a:p>
            <a:fld id="{7D618AD1-5EA9-DC4F-81BA-55CDDDB406E8}" type="datetimeFigureOut">
              <a:rPr lang="en-US" smtClean="0"/>
              <a:t>10/16/2024</a:t>
            </a:fld>
            <a:endParaRPr lang="en-US"/>
          </a:p>
        </p:txBody>
      </p:sp>
      <p:sp>
        <p:nvSpPr>
          <p:cNvPr id="5" name="Footer Placeholder 4">
            <a:extLst>
              <a:ext uri="{FF2B5EF4-FFF2-40B4-BE49-F238E27FC236}">
                <a16:creationId xmlns:a16="http://schemas.microsoft.com/office/drawing/2014/main" id="{1D9D4078-DAD2-DB4A-8B06-2E2A8784F2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73DA6-AF3E-234F-80B6-DA7FD4314B5C}"/>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57863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A810-663F-3C42-88E3-AA6ADF2758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F44CEF-4240-4D42-8645-22F161709FE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218BBE-84B0-424D-9C56-31DA3B125987}"/>
              </a:ext>
            </a:extLst>
          </p:cNvPr>
          <p:cNvSpPr>
            <a:spLocks noGrp="1"/>
          </p:cNvSpPr>
          <p:nvPr>
            <p:ph type="dt" sz="half" idx="10"/>
          </p:nvPr>
        </p:nvSpPr>
        <p:spPr/>
        <p:txBody>
          <a:bodyPr/>
          <a:lstStyle/>
          <a:p>
            <a:fld id="{7D618AD1-5EA9-DC4F-81BA-55CDDDB406E8}" type="datetimeFigureOut">
              <a:rPr lang="en-US" smtClean="0"/>
              <a:t>10/16/2024</a:t>
            </a:fld>
            <a:endParaRPr lang="en-US"/>
          </a:p>
        </p:txBody>
      </p:sp>
      <p:sp>
        <p:nvSpPr>
          <p:cNvPr id="5" name="Footer Placeholder 4">
            <a:extLst>
              <a:ext uri="{FF2B5EF4-FFF2-40B4-BE49-F238E27FC236}">
                <a16:creationId xmlns:a16="http://schemas.microsoft.com/office/drawing/2014/main" id="{23B4F96B-E831-B848-9D06-6F1F8B04C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70F6E-E1BB-504E-A498-0A5515096734}"/>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4271462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FC56-774B-B247-B2AC-277A1CC5E1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EC0F574-4E85-DE42-A23E-429EC4F355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537E851-989D-8A45-962A-AA62DBB89B24}"/>
              </a:ext>
            </a:extLst>
          </p:cNvPr>
          <p:cNvSpPr>
            <a:spLocks noGrp="1"/>
          </p:cNvSpPr>
          <p:nvPr>
            <p:ph type="dt" sz="half" idx="10"/>
          </p:nvPr>
        </p:nvSpPr>
        <p:spPr/>
        <p:txBody>
          <a:bodyPr/>
          <a:lstStyle/>
          <a:p>
            <a:fld id="{7D618AD1-5EA9-DC4F-81BA-55CDDDB406E8}" type="datetimeFigureOut">
              <a:rPr lang="en-US" smtClean="0"/>
              <a:t>10/16/2024</a:t>
            </a:fld>
            <a:endParaRPr lang="en-US"/>
          </a:p>
        </p:txBody>
      </p:sp>
      <p:sp>
        <p:nvSpPr>
          <p:cNvPr id="5" name="Footer Placeholder 4">
            <a:extLst>
              <a:ext uri="{FF2B5EF4-FFF2-40B4-BE49-F238E27FC236}">
                <a16:creationId xmlns:a16="http://schemas.microsoft.com/office/drawing/2014/main" id="{53912DB8-05D1-EA45-91A2-1C3EEFE9DC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BE4A9C-8352-FA4F-8E57-5142269E1968}"/>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447444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1E5A2-94FE-F74B-A73E-69F797E336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EF23EF-3EF9-6E41-982E-A91742E7FF6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AD81EA-A2CA-C142-A576-3D63684823B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AA7C62-82E5-BF4B-91A0-56FDBD37011B}"/>
              </a:ext>
            </a:extLst>
          </p:cNvPr>
          <p:cNvSpPr>
            <a:spLocks noGrp="1"/>
          </p:cNvSpPr>
          <p:nvPr>
            <p:ph type="dt" sz="half" idx="10"/>
          </p:nvPr>
        </p:nvSpPr>
        <p:spPr/>
        <p:txBody>
          <a:bodyPr/>
          <a:lstStyle/>
          <a:p>
            <a:fld id="{7D618AD1-5EA9-DC4F-81BA-55CDDDB406E8}" type="datetimeFigureOut">
              <a:rPr lang="en-US" smtClean="0"/>
              <a:t>10/16/2024</a:t>
            </a:fld>
            <a:endParaRPr lang="en-US"/>
          </a:p>
        </p:txBody>
      </p:sp>
      <p:sp>
        <p:nvSpPr>
          <p:cNvPr id="6" name="Footer Placeholder 5">
            <a:extLst>
              <a:ext uri="{FF2B5EF4-FFF2-40B4-BE49-F238E27FC236}">
                <a16:creationId xmlns:a16="http://schemas.microsoft.com/office/drawing/2014/main" id="{0A6E85FF-EEAB-784F-B672-BC83A8027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C501E-E1E6-384E-82A9-6ABC83334929}"/>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838032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29547-13D4-E24C-A8E6-CE231947D7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F11D77-9FE0-ED41-BD90-8DE2AD4E36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CECB0E-C552-E440-9878-24CB44E0D59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A3E5D2-04A3-DD43-9CB9-69CCB47829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3380742-3FFD-E440-A9CC-454BF809896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8EAF7D-6F54-C84F-B0F2-492D45DA9EB2}"/>
              </a:ext>
            </a:extLst>
          </p:cNvPr>
          <p:cNvSpPr>
            <a:spLocks noGrp="1"/>
          </p:cNvSpPr>
          <p:nvPr>
            <p:ph type="dt" sz="half" idx="10"/>
          </p:nvPr>
        </p:nvSpPr>
        <p:spPr/>
        <p:txBody>
          <a:bodyPr/>
          <a:lstStyle/>
          <a:p>
            <a:fld id="{7D618AD1-5EA9-DC4F-81BA-55CDDDB406E8}" type="datetimeFigureOut">
              <a:rPr lang="en-US" smtClean="0"/>
              <a:t>10/16/2024</a:t>
            </a:fld>
            <a:endParaRPr lang="en-US"/>
          </a:p>
        </p:txBody>
      </p:sp>
      <p:sp>
        <p:nvSpPr>
          <p:cNvPr id="8" name="Footer Placeholder 7">
            <a:extLst>
              <a:ext uri="{FF2B5EF4-FFF2-40B4-BE49-F238E27FC236}">
                <a16:creationId xmlns:a16="http://schemas.microsoft.com/office/drawing/2014/main" id="{C5481826-AD2D-CE47-9818-EC3FCC301D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1F9511-5C5A-3F4A-BC29-699DAB33701E}"/>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2342253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DF426-DF0F-8846-852E-72F92D6895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7F8E96-AE5D-3E42-AEC6-222B3474F49D}"/>
              </a:ext>
            </a:extLst>
          </p:cNvPr>
          <p:cNvSpPr>
            <a:spLocks noGrp="1"/>
          </p:cNvSpPr>
          <p:nvPr>
            <p:ph type="dt" sz="half" idx="10"/>
          </p:nvPr>
        </p:nvSpPr>
        <p:spPr/>
        <p:txBody>
          <a:bodyPr/>
          <a:lstStyle/>
          <a:p>
            <a:fld id="{7D618AD1-5EA9-DC4F-81BA-55CDDDB406E8}" type="datetimeFigureOut">
              <a:rPr lang="en-US" smtClean="0"/>
              <a:t>10/16/2024</a:t>
            </a:fld>
            <a:endParaRPr lang="en-US"/>
          </a:p>
        </p:txBody>
      </p:sp>
      <p:sp>
        <p:nvSpPr>
          <p:cNvPr id="4" name="Footer Placeholder 3">
            <a:extLst>
              <a:ext uri="{FF2B5EF4-FFF2-40B4-BE49-F238E27FC236}">
                <a16:creationId xmlns:a16="http://schemas.microsoft.com/office/drawing/2014/main" id="{4362DF59-6FF0-F04A-A7DA-437294B087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75AB1E-10F4-BA44-BEBD-AFD22B65A44B}"/>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394576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05CF62-97A6-C34C-81E8-0D9DA4FE785C}"/>
              </a:ext>
            </a:extLst>
          </p:cNvPr>
          <p:cNvSpPr>
            <a:spLocks noGrp="1"/>
          </p:cNvSpPr>
          <p:nvPr>
            <p:ph type="dt" sz="half" idx="10"/>
          </p:nvPr>
        </p:nvSpPr>
        <p:spPr/>
        <p:txBody>
          <a:bodyPr/>
          <a:lstStyle/>
          <a:p>
            <a:fld id="{7D618AD1-5EA9-DC4F-81BA-55CDDDB406E8}" type="datetimeFigureOut">
              <a:rPr lang="en-US" smtClean="0"/>
              <a:t>10/16/2024</a:t>
            </a:fld>
            <a:endParaRPr lang="en-US"/>
          </a:p>
        </p:txBody>
      </p:sp>
      <p:sp>
        <p:nvSpPr>
          <p:cNvPr id="3" name="Footer Placeholder 2">
            <a:extLst>
              <a:ext uri="{FF2B5EF4-FFF2-40B4-BE49-F238E27FC236}">
                <a16:creationId xmlns:a16="http://schemas.microsoft.com/office/drawing/2014/main" id="{46A767A3-EB16-E845-BDA9-C5C3DB4132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3AA980-C4E5-514B-B3C2-9AE3C75A5791}"/>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277312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3825E-1355-6D4D-BD05-1AF530FA50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07A8F4-6502-FA41-B8FE-F95074F4E8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2235BC-6363-924A-B581-173F059D4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5C8CE90-8E70-EA40-8F54-0E3A8BEC5DD9}"/>
              </a:ext>
            </a:extLst>
          </p:cNvPr>
          <p:cNvSpPr>
            <a:spLocks noGrp="1"/>
          </p:cNvSpPr>
          <p:nvPr>
            <p:ph type="dt" sz="half" idx="10"/>
          </p:nvPr>
        </p:nvSpPr>
        <p:spPr/>
        <p:txBody>
          <a:bodyPr/>
          <a:lstStyle/>
          <a:p>
            <a:fld id="{7D618AD1-5EA9-DC4F-81BA-55CDDDB406E8}" type="datetimeFigureOut">
              <a:rPr lang="en-US" smtClean="0"/>
              <a:t>10/16/2024</a:t>
            </a:fld>
            <a:endParaRPr lang="en-US"/>
          </a:p>
        </p:txBody>
      </p:sp>
      <p:sp>
        <p:nvSpPr>
          <p:cNvPr id="6" name="Footer Placeholder 5">
            <a:extLst>
              <a:ext uri="{FF2B5EF4-FFF2-40B4-BE49-F238E27FC236}">
                <a16:creationId xmlns:a16="http://schemas.microsoft.com/office/drawing/2014/main" id="{57CFB6D2-88A3-DC45-A546-979F81E028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9F336-843C-144B-A346-0B0E21623EAB}"/>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2806373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28D2A-16DA-534C-826B-B0EA586EBB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17A813-D28A-0A41-9F13-D8BAFD80AF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720809-2225-8445-B4F7-B284ECEE13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3525E7B-8265-8944-9FDC-8C8607D243C7}"/>
              </a:ext>
            </a:extLst>
          </p:cNvPr>
          <p:cNvSpPr>
            <a:spLocks noGrp="1"/>
          </p:cNvSpPr>
          <p:nvPr>
            <p:ph type="dt" sz="half" idx="10"/>
          </p:nvPr>
        </p:nvSpPr>
        <p:spPr/>
        <p:txBody>
          <a:bodyPr/>
          <a:lstStyle/>
          <a:p>
            <a:fld id="{7D618AD1-5EA9-DC4F-81BA-55CDDDB406E8}" type="datetimeFigureOut">
              <a:rPr lang="en-US" smtClean="0"/>
              <a:t>10/16/2024</a:t>
            </a:fld>
            <a:endParaRPr lang="en-US"/>
          </a:p>
        </p:txBody>
      </p:sp>
      <p:sp>
        <p:nvSpPr>
          <p:cNvPr id="6" name="Footer Placeholder 5">
            <a:extLst>
              <a:ext uri="{FF2B5EF4-FFF2-40B4-BE49-F238E27FC236}">
                <a16:creationId xmlns:a16="http://schemas.microsoft.com/office/drawing/2014/main" id="{76E2AF67-760A-2845-8342-B599AF18F5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03F5E5-FECB-9743-B897-D8F405FB4CB8}"/>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322757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50A44-167B-A44B-B05F-AA5FEDC33C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D503D3-13A4-ED47-9627-5816D287CDB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FD9D2-4023-B14F-A513-65BA3AEE48E4}"/>
              </a:ext>
            </a:extLst>
          </p:cNvPr>
          <p:cNvSpPr>
            <a:spLocks noGrp="1"/>
          </p:cNvSpPr>
          <p:nvPr>
            <p:ph type="dt" sz="half" idx="10"/>
          </p:nvPr>
        </p:nvSpPr>
        <p:spPr/>
        <p:txBody>
          <a:bodyPr/>
          <a:lstStyle/>
          <a:p>
            <a:fld id="{7D618AD1-5EA9-DC4F-81BA-55CDDDB406E8}" type="datetimeFigureOut">
              <a:rPr lang="en-US" smtClean="0"/>
              <a:t>10/16/2024</a:t>
            </a:fld>
            <a:endParaRPr lang="en-US"/>
          </a:p>
        </p:txBody>
      </p:sp>
      <p:sp>
        <p:nvSpPr>
          <p:cNvPr id="5" name="Footer Placeholder 4">
            <a:extLst>
              <a:ext uri="{FF2B5EF4-FFF2-40B4-BE49-F238E27FC236}">
                <a16:creationId xmlns:a16="http://schemas.microsoft.com/office/drawing/2014/main" id="{AC83BF4C-8CCA-AB4E-8EF1-26FBEC3FC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DDD98A-1568-9F4B-92F3-86CFFA8CF4B9}"/>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1361633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23E512-95E1-7D4A-93DE-8C58F6B94DF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D51599-1C9E-F94E-AB39-5624FE10286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9E750B-603B-0642-AB7A-CA70C340E1DB}"/>
              </a:ext>
            </a:extLst>
          </p:cNvPr>
          <p:cNvSpPr>
            <a:spLocks noGrp="1"/>
          </p:cNvSpPr>
          <p:nvPr>
            <p:ph type="dt" sz="half" idx="10"/>
          </p:nvPr>
        </p:nvSpPr>
        <p:spPr/>
        <p:txBody>
          <a:bodyPr/>
          <a:lstStyle/>
          <a:p>
            <a:fld id="{7D618AD1-5EA9-DC4F-81BA-55CDDDB406E8}" type="datetimeFigureOut">
              <a:rPr lang="en-US" smtClean="0"/>
              <a:t>10/16/2024</a:t>
            </a:fld>
            <a:endParaRPr lang="en-US"/>
          </a:p>
        </p:txBody>
      </p:sp>
      <p:sp>
        <p:nvSpPr>
          <p:cNvPr id="5" name="Footer Placeholder 4">
            <a:extLst>
              <a:ext uri="{FF2B5EF4-FFF2-40B4-BE49-F238E27FC236}">
                <a16:creationId xmlns:a16="http://schemas.microsoft.com/office/drawing/2014/main" id="{BAC555D2-BFCE-3C41-958E-9BD6A5F1E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DB6981-57E7-AD42-A153-C93B4F4A815F}"/>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964754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72D02D-660A-314D-8A95-E9AFD731B3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B4F413-A9F8-2343-92B9-BAECFB91A3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879BBC-EC5F-0947-83DA-33FDD50A34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618AD1-5EA9-DC4F-81BA-55CDDDB406E8}" type="datetimeFigureOut">
              <a:rPr lang="en-US" smtClean="0"/>
              <a:t>10/16/2024</a:t>
            </a:fld>
            <a:endParaRPr lang="en-US"/>
          </a:p>
        </p:txBody>
      </p:sp>
      <p:sp>
        <p:nvSpPr>
          <p:cNvPr id="5" name="Footer Placeholder 4">
            <a:extLst>
              <a:ext uri="{FF2B5EF4-FFF2-40B4-BE49-F238E27FC236}">
                <a16:creationId xmlns:a16="http://schemas.microsoft.com/office/drawing/2014/main" id="{07099E26-FF96-FB42-B085-0A61AFF843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535D2E6-E8AD-8940-BAF8-9480857101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9A9CB1-8B9D-E54A-8D15-C7AD7A01024F}" type="slidenum">
              <a:rPr lang="en-US" smtClean="0"/>
              <a:t>‹#›</a:t>
            </a:fld>
            <a:endParaRPr lang="en-US"/>
          </a:p>
        </p:txBody>
      </p:sp>
    </p:spTree>
    <p:extLst>
      <p:ext uri="{BB962C8B-B14F-4D97-AF65-F5344CB8AC3E}">
        <p14:creationId xmlns:p14="http://schemas.microsoft.com/office/powerpoint/2010/main" val="3957296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64492" y="985866"/>
            <a:ext cx="6586906" cy="3892668"/>
          </a:xfrm>
        </p:spPr>
        <p:txBody>
          <a:bodyPr>
            <a:normAutofit fontScale="90000"/>
          </a:bodyPr>
          <a:lstStyle/>
          <a:p>
            <a:pPr algn="l"/>
            <a:r>
              <a:rPr lang="ka-GE" sz="5700" dirty="0">
                <a:latin typeface="Calibri" panose="020F0502020204030204" pitchFamily="34" charset="0"/>
                <a:cs typeface="Calibri" panose="020F0502020204030204" pitchFamily="34" charset="0"/>
              </a:rPr>
              <a:t>სამეცნიერო სტატიის შემადგენელი კომპონენტები</a:t>
            </a:r>
            <a:br>
              <a:rPr lang="ka-GE" sz="5700" dirty="0">
                <a:latin typeface="Calibri" panose="020F0502020204030204" pitchFamily="34" charset="0"/>
                <a:cs typeface="Calibri" panose="020F0502020204030204" pitchFamily="34" charset="0"/>
              </a:rPr>
            </a:br>
            <a:br>
              <a:rPr lang="ka-GE" sz="5700" dirty="0">
                <a:latin typeface="Calibri" panose="020F0502020204030204" pitchFamily="34" charset="0"/>
                <a:cs typeface="Calibri" panose="020F0502020204030204" pitchFamily="34" charset="0"/>
              </a:rPr>
            </a:br>
            <a:r>
              <a:rPr lang="ka-GE" sz="2000" dirty="0">
                <a:latin typeface="Calibri" panose="020F0502020204030204" pitchFamily="34" charset="0"/>
                <a:cs typeface="Calibri" panose="020F0502020204030204" pitchFamily="34" charset="0"/>
              </a:rPr>
              <a:t>შესავალი, მეთოდები, მასალები, შედეგები, დასკვნა, ლიტერატურა </a:t>
            </a:r>
            <a:br>
              <a:rPr lang="ka-GE" sz="2000" dirty="0">
                <a:latin typeface="Calibri" panose="020F0502020204030204" pitchFamily="34" charset="0"/>
                <a:cs typeface="Calibri" panose="020F0502020204030204" pitchFamily="34" charset="0"/>
              </a:rPr>
            </a:br>
            <a:br>
              <a:rPr lang="ka-GE" sz="5700" dirty="0">
                <a:latin typeface="Calibri" panose="020F0502020204030204" pitchFamily="34" charset="0"/>
                <a:cs typeface="Calibri" panose="020F0502020204030204" pitchFamily="34" charset="0"/>
              </a:rPr>
            </a:br>
            <a:r>
              <a:rPr lang="ka-GE" sz="2700" b="1" dirty="0">
                <a:latin typeface="Calibri" panose="020F0502020204030204" pitchFamily="34" charset="0"/>
                <a:cs typeface="Calibri" panose="020F0502020204030204" pitchFamily="34" charset="0"/>
              </a:rPr>
              <a:t>ლექტ. </a:t>
            </a:r>
            <a:r>
              <a:rPr lang="ka-GE" sz="2700" dirty="0">
                <a:latin typeface="Calibri" panose="020F0502020204030204" pitchFamily="34" charset="0"/>
                <a:cs typeface="Calibri" panose="020F0502020204030204" pitchFamily="34" charset="0"/>
              </a:rPr>
              <a:t>გიორგი რატიანი</a:t>
            </a:r>
          </a:p>
        </p:txBody>
      </p:sp>
      <p:pic>
        <p:nvPicPr>
          <p:cNvPr id="2050" name="Picture 2" descr="BTU • ბიზნესისა და ტექნოლოგიების უნივერსიტეტი | Tbilisi">
            <a:extLst>
              <a:ext uri="{FF2B5EF4-FFF2-40B4-BE49-F238E27FC236}">
                <a16:creationId xmlns:a16="http://schemas.microsoft.com/office/drawing/2014/main" id="{9BE989EF-9400-7E38-F968-1AD9D33703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64030" y="1737169"/>
            <a:ext cx="3065526" cy="306552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7A80C1-3165-0CF2-1FCA-50CE630CB55C}"/>
              </a:ext>
            </a:extLst>
          </p:cNvPr>
          <p:cNvSpPr>
            <a:spLocks noGrp="1"/>
          </p:cNvSpPr>
          <p:nvPr>
            <p:ph type="title"/>
          </p:nvPr>
        </p:nvSpPr>
        <p:spPr>
          <a:xfrm>
            <a:off x="0" y="0"/>
            <a:ext cx="12192000" cy="408374"/>
          </a:xfrm>
          <a:solidFill>
            <a:srgbClr val="1F23A9"/>
          </a:solidFill>
        </p:spPr>
        <p:txBody>
          <a:bodyPr>
            <a:normAutofit fontScale="90000"/>
          </a:bodyPr>
          <a:lstStyle/>
          <a:p>
            <a:pPr algn="ctr" eaLnBrk="1" hangingPunct="1"/>
            <a:r>
              <a:rPr lang="ka-GE" altLang="en-US" sz="3600" dirty="0">
                <a:solidFill>
                  <a:schemeClr val="bg1"/>
                </a:solidFill>
                <a:latin typeface="Calibri" panose="020F0502020204030204" pitchFamily="34" charset="0"/>
                <a:cs typeface="Calibri" panose="020F0502020204030204" pitchFamily="34" charset="0"/>
              </a:rPr>
              <a:t>სამეცნიერო სტატიის კომპონენტები</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F741CB1E-3377-8AE5-B072-015821D8325C}"/>
              </a:ext>
            </a:extLst>
          </p:cNvPr>
          <p:cNvSpPr txBox="1">
            <a:spLocks/>
          </p:cNvSpPr>
          <p:nvPr/>
        </p:nvSpPr>
        <p:spPr>
          <a:xfrm>
            <a:off x="646960" y="631437"/>
            <a:ext cx="11206684" cy="90013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b="1" dirty="0">
                <a:latin typeface="Calibri" panose="020F0502020204030204" pitchFamily="34" charset="0"/>
                <a:cs typeface="Calibri" panose="020F0502020204030204" pitchFamily="34" charset="0"/>
              </a:rPr>
              <a:t>1) </a:t>
            </a:r>
            <a:r>
              <a:rPr lang="ka-GE" sz="3200" b="1" dirty="0">
                <a:latin typeface="Calibri" panose="020F0502020204030204" pitchFamily="34" charset="0"/>
                <a:cs typeface="Calibri" panose="020F0502020204030204" pitchFamily="34" charset="0"/>
              </a:rPr>
              <a:t>აბსტრაქტი</a:t>
            </a:r>
          </a:p>
        </p:txBody>
      </p:sp>
      <p:sp>
        <p:nvSpPr>
          <p:cNvPr id="8" name="TextBox 7">
            <a:extLst>
              <a:ext uri="{FF2B5EF4-FFF2-40B4-BE49-F238E27FC236}">
                <a16:creationId xmlns:a16="http://schemas.microsoft.com/office/drawing/2014/main" id="{4EBAD644-6445-CAC3-2593-F8D6B55502EC}"/>
              </a:ext>
            </a:extLst>
          </p:cNvPr>
          <p:cNvSpPr txBox="1"/>
          <p:nvPr/>
        </p:nvSpPr>
        <p:spPr>
          <a:xfrm>
            <a:off x="706772" y="1363249"/>
            <a:ext cx="11146872" cy="4708981"/>
          </a:xfrm>
          <a:prstGeom prst="rect">
            <a:avLst/>
          </a:prstGeom>
          <a:noFill/>
        </p:spPr>
        <p:txBody>
          <a:bodyPr wrap="square">
            <a:spAutoFit/>
          </a:bodyPr>
          <a:lstStyle/>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არის?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აბსტრაქტი მოკლე ჩამონათვალია, რომელიც წარმოაჩენს კვლევის მთავარ მიზნებს, მეთოდებს, შედეგებს და დასკვნებს. იგი მომხმარებელს ეხმარება სწრაფად და მოკლედ გაეცნოს სტატიის შინაარსს.</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როგორ დავწეროთ?</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აბსტრაქტი სჯობს დაწეროთ ბოლოს, როცა უკვე გაქვთ სრული სტატია.</a:t>
            </a: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აკრიფეთ 150-250 სიტყვით.</a:t>
            </a: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მოიცავს მიზანს, მეთოდოლოგიას, შედეგებს და დასკვნებს.</a:t>
            </a: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წერის დროს იყავით კონკრეტული და ცხადად წარმოაჩინეთ ფაქტები.</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უნდა გავითვალისწინოთ წერის დროს?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თავი აარიდეთ ზედმეტ დეტალებს.</a:t>
            </a: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გამოიყენეთ გასაგები ენა, არ გამოიყენოთ</a:t>
            </a:r>
            <a:r>
              <a:rPr lang="az-Cyrl-AZ" sz="2000" dirty="0">
                <a:latin typeface="Calibri" panose="020F0502020204030204" pitchFamily="34" charset="0"/>
                <a:cs typeface="Calibri" panose="020F0502020204030204" pitchFamily="34" charset="0"/>
              </a:rPr>
              <a:t> </a:t>
            </a:r>
            <a:r>
              <a:rPr lang="ka-GE" sz="2000" dirty="0">
                <a:latin typeface="Calibri" panose="020F0502020204030204" pitchFamily="34" charset="0"/>
                <a:cs typeface="Calibri" panose="020F0502020204030204" pitchFamily="34" charset="0"/>
              </a:rPr>
              <a:t>სპეციალური ტერმინები.</a:t>
            </a:r>
          </a:p>
          <a:p>
            <a:pPr marL="285750" indent="-285750">
              <a:buFont typeface="Wingdings" panose="05000000000000000000" pitchFamily="2" charset="2"/>
              <a:buChar char="ü"/>
            </a:pP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6681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7A80C1-3165-0CF2-1FCA-50CE630CB55C}"/>
              </a:ext>
            </a:extLst>
          </p:cNvPr>
          <p:cNvSpPr>
            <a:spLocks noGrp="1"/>
          </p:cNvSpPr>
          <p:nvPr>
            <p:ph type="title"/>
          </p:nvPr>
        </p:nvSpPr>
        <p:spPr>
          <a:xfrm>
            <a:off x="0" y="0"/>
            <a:ext cx="12192000" cy="408374"/>
          </a:xfrm>
          <a:solidFill>
            <a:srgbClr val="1F23A9"/>
          </a:solidFill>
        </p:spPr>
        <p:txBody>
          <a:bodyPr>
            <a:normAutofit fontScale="90000"/>
          </a:bodyPr>
          <a:lstStyle/>
          <a:p>
            <a:pPr algn="ctr" eaLnBrk="1" hangingPunct="1"/>
            <a:r>
              <a:rPr lang="ka-GE" altLang="en-US" sz="3600" dirty="0">
                <a:solidFill>
                  <a:schemeClr val="bg1"/>
                </a:solidFill>
                <a:latin typeface="Calibri" panose="020F0502020204030204" pitchFamily="34" charset="0"/>
                <a:cs typeface="Calibri" panose="020F0502020204030204" pitchFamily="34" charset="0"/>
              </a:rPr>
              <a:t>სამეცნიერო სტატიის კომპონენტები</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F741CB1E-3377-8AE5-B072-015821D8325C}"/>
              </a:ext>
            </a:extLst>
          </p:cNvPr>
          <p:cNvSpPr txBox="1">
            <a:spLocks/>
          </p:cNvSpPr>
          <p:nvPr/>
        </p:nvSpPr>
        <p:spPr>
          <a:xfrm>
            <a:off x="646960" y="631437"/>
            <a:ext cx="11206684" cy="90013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ka-GE" sz="3200" b="1" dirty="0">
                <a:latin typeface="Calibri" panose="020F0502020204030204" pitchFamily="34" charset="0"/>
                <a:cs typeface="Calibri" panose="020F0502020204030204" pitchFamily="34" charset="0"/>
              </a:rPr>
              <a:t>2</a:t>
            </a:r>
            <a:r>
              <a:rPr lang="en-US" sz="3200" b="1" dirty="0">
                <a:latin typeface="Calibri" panose="020F0502020204030204" pitchFamily="34" charset="0"/>
                <a:cs typeface="Calibri" panose="020F0502020204030204" pitchFamily="34" charset="0"/>
              </a:rPr>
              <a:t>) </a:t>
            </a:r>
            <a:r>
              <a:rPr lang="ka-GE" sz="3200" b="1" dirty="0">
                <a:latin typeface="Calibri" panose="020F0502020204030204" pitchFamily="34" charset="0"/>
                <a:cs typeface="Calibri" panose="020F0502020204030204" pitchFamily="34" charset="0"/>
              </a:rPr>
              <a:t>შესავალი</a:t>
            </a:r>
          </a:p>
        </p:txBody>
      </p:sp>
      <p:sp>
        <p:nvSpPr>
          <p:cNvPr id="8" name="TextBox 7">
            <a:extLst>
              <a:ext uri="{FF2B5EF4-FFF2-40B4-BE49-F238E27FC236}">
                <a16:creationId xmlns:a16="http://schemas.microsoft.com/office/drawing/2014/main" id="{4EBAD644-6445-CAC3-2593-F8D6B55502EC}"/>
              </a:ext>
            </a:extLst>
          </p:cNvPr>
          <p:cNvSpPr txBox="1"/>
          <p:nvPr/>
        </p:nvSpPr>
        <p:spPr>
          <a:xfrm>
            <a:off x="706772" y="1363249"/>
            <a:ext cx="11146872" cy="3785652"/>
          </a:xfrm>
          <a:prstGeom prst="rect">
            <a:avLst/>
          </a:prstGeom>
          <a:noFill/>
        </p:spPr>
        <p:txBody>
          <a:bodyPr wrap="square">
            <a:spAutoFit/>
          </a:bodyPr>
          <a:lstStyle/>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არის?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შესავალი მკვითხველს აღუწერს პრობლემას, რომელიც კვლევის საფუძვლად გამოდგება, და განიხილავს მის მნიშვნელობას.</a:t>
            </a: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შესავალში უნდა მოხდეს კვლევის მიზნების და ამოცანების ჩამოწერა.</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როგორ დავწეროთ?</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დაიწყეთ საერთო საკითხიდან და თანდათან გადადით კონკრეტულ საკითხზე.</a:t>
            </a: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განიხილეთ უკვე არსებული კვლევები და შეაფასეთ მათი მნიშვნელობა.</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უნდა გავითვალისწინოთ წერის დროს?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შესავალში წარმოადგინეთ სიღრმისეული და დეტალური ინფორმაცია, მაგრამ ნუ იქნება ძალიან გრძელი.</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76838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7A80C1-3165-0CF2-1FCA-50CE630CB55C}"/>
              </a:ext>
            </a:extLst>
          </p:cNvPr>
          <p:cNvSpPr>
            <a:spLocks noGrp="1"/>
          </p:cNvSpPr>
          <p:nvPr>
            <p:ph type="title"/>
          </p:nvPr>
        </p:nvSpPr>
        <p:spPr>
          <a:xfrm>
            <a:off x="0" y="0"/>
            <a:ext cx="12192000" cy="408374"/>
          </a:xfrm>
          <a:solidFill>
            <a:srgbClr val="1F23A9"/>
          </a:solidFill>
        </p:spPr>
        <p:txBody>
          <a:bodyPr>
            <a:normAutofit fontScale="90000"/>
          </a:bodyPr>
          <a:lstStyle/>
          <a:p>
            <a:pPr algn="ctr" eaLnBrk="1" hangingPunct="1"/>
            <a:r>
              <a:rPr lang="ka-GE" altLang="en-US" sz="3600" dirty="0">
                <a:solidFill>
                  <a:schemeClr val="bg1"/>
                </a:solidFill>
                <a:latin typeface="Calibri" panose="020F0502020204030204" pitchFamily="34" charset="0"/>
                <a:cs typeface="Calibri" panose="020F0502020204030204" pitchFamily="34" charset="0"/>
              </a:rPr>
              <a:t>სამეცნიერო სტატიის კომპონენტები</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F741CB1E-3377-8AE5-B072-015821D8325C}"/>
              </a:ext>
            </a:extLst>
          </p:cNvPr>
          <p:cNvSpPr txBox="1">
            <a:spLocks/>
          </p:cNvSpPr>
          <p:nvPr/>
        </p:nvSpPr>
        <p:spPr>
          <a:xfrm>
            <a:off x="646960" y="631437"/>
            <a:ext cx="11206684" cy="90013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ka-GE" sz="3200" b="1" dirty="0">
                <a:latin typeface="Calibri" panose="020F0502020204030204" pitchFamily="34" charset="0"/>
                <a:cs typeface="Calibri" panose="020F0502020204030204" pitchFamily="34" charset="0"/>
              </a:rPr>
              <a:t>3</a:t>
            </a:r>
            <a:r>
              <a:rPr lang="en-US" sz="3200" b="1" dirty="0">
                <a:latin typeface="Calibri" panose="020F0502020204030204" pitchFamily="34" charset="0"/>
                <a:cs typeface="Calibri" panose="020F0502020204030204" pitchFamily="34" charset="0"/>
              </a:rPr>
              <a:t>) </a:t>
            </a:r>
            <a:r>
              <a:rPr lang="ka-GE" sz="3200" b="1" dirty="0">
                <a:latin typeface="Calibri" panose="020F0502020204030204" pitchFamily="34" charset="0"/>
                <a:cs typeface="Calibri" panose="020F0502020204030204" pitchFamily="34" charset="0"/>
              </a:rPr>
              <a:t>მეთოდოლოგია / მეთოდები</a:t>
            </a:r>
          </a:p>
        </p:txBody>
      </p:sp>
      <p:sp>
        <p:nvSpPr>
          <p:cNvPr id="8" name="TextBox 7">
            <a:extLst>
              <a:ext uri="{FF2B5EF4-FFF2-40B4-BE49-F238E27FC236}">
                <a16:creationId xmlns:a16="http://schemas.microsoft.com/office/drawing/2014/main" id="{4EBAD644-6445-CAC3-2593-F8D6B55502EC}"/>
              </a:ext>
            </a:extLst>
          </p:cNvPr>
          <p:cNvSpPr txBox="1"/>
          <p:nvPr/>
        </p:nvSpPr>
        <p:spPr>
          <a:xfrm>
            <a:off x="706772" y="1363249"/>
            <a:ext cx="11146872" cy="3477875"/>
          </a:xfrm>
          <a:prstGeom prst="rect">
            <a:avLst/>
          </a:prstGeom>
          <a:noFill/>
        </p:spPr>
        <p:txBody>
          <a:bodyPr wrap="square">
            <a:spAutoFit/>
          </a:bodyPr>
          <a:lstStyle/>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არის?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მეთოდოლოგიის თავში აღწერილი უნდა იყოს, როგორ იქნა მიღებული მონაცემები და რა ტექნიკები გამოიყენება კვლევისათვის.</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როგორ დავწეროთ?</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მეთოდოლოგიის ნაწილი მკითხველს აწვდის დეტალურ ინფორმაციას თქვენს მიერ გამოყენებულ მეთოდებზე (კითხვა, ექსპერიმენტი, ანალიზი, კვლევის შეზღუდვები).</a:t>
            </a: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აუხსენით, რატომ იყენებთ კონკრეტულ მეთოდებს.</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უნდა გავითვალისწინოთ წერის დროს?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უნდა იყოს საკმარისად ნათელი, რომ სხვებმა შეძლონ კვლევის გამეორება.</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3702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7A80C1-3165-0CF2-1FCA-50CE630CB55C}"/>
              </a:ext>
            </a:extLst>
          </p:cNvPr>
          <p:cNvSpPr>
            <a:spLocks noGrp="1"/>
          </p:cNvSpPr>
          <p:nvPr>
            <p:ph type="title"/>
          </p:nvPr>
        </p:nvSpPr>
        <p:spPr>
          <a:xfrm>
            <a:off x="0" y="0"/>
            <a:ext cx="12192000" cy="408374"/>
          </a:xfrm>
          <a:solidFill>
            <a:srgbClr val="1F23A9"/>
          </a:solidFill>
        </p:spPr>
        <p:txBody>
          <a:bodyPr>
            <a:normAutofit fontScale="90000"/>
          </a:bodyPr>
          <a:lstStyle/>
          <a:p>
            <a:pPr algn="ctr" eaLnBrk="1" hangingPunct="1"/>
            <a:r>
              <a:rPr lang="ka-GE" altLang="en-US" sz="3600" dirty="0">
                <a:solidFill>
                  <a:schemeClr val="bg1"/>
                </a:solidFill>
                <a:latin typeface="Calibri" panose="020F0502020204030204" pitchFamily="34" charset="0"/>
                <a:cs typeface="Calibri" panose="020F0502020204030204" pitchFamily="34" charset="0"/>
              </a:rPr>
              <a:t>სამეცნიერო სტატიის კომპონენტები</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F741CB1E-3377-8AE5-B072-015821D8325C}"/>
              </a:ext>
            </a:extLst>
          </p:cNvPr>
          <p:cNvSpPr txBox="1">
            <a:spLocks/>
          </p:cNvSpPr>
          <p:nvPr/>
        </p:nvSpPr>
        <p:spPr>
          <a:xfrm>
            <a:off x="646960" y="631437"/>
            <a:ext cx="11206684" cy="90013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ka-GE" sz="3200" b="1" dirty="0">
                <a:latin typeface="Calibri" panose="020F0502020204030204" pitchFamily="34" charset="0"/>
                <a:cs typeface="Calibri" panose="020F0502020204030204" pitchFamily="34" charset="0"/>
              </a:rPr>
              <a:t>4</a:t>
            </a:r>
            <a:r>
              <a:rPr lang="en-US" sz="3200" b="1" dirty="0">
                <a:latin typeface="Calibri" panose="020F0502020204030204" pitchFamily="34" charset="0"/>
                <a:cs typeface="Calibri" panose="020F0502020204030204" pitchFamily="34" charset="0"/>
              </a:rPr>
              <a:t>) </a:t>
            </a:r>
            <a:r>
              <a:rPr lang="ka-GE" sz="3200" b="1" dirty="0">
                <a:latin typeface="Calibri" panose="020F0502020204030204" pitchFamily="34" charset="0"/>
                <a:cs typeface="Calibri" panose="020F0502020204030204" pitchFamily="34" charset="0"/>
              </a:rPr>
              <a:t>კვლევის მასალები</a:t>
            </a:r>
          </a:p>
        </p:txBody>
      </p:sp>
      <p:sp>
        <p:nvSpPr>
          <p:cNvPr id="8" name="TextBox 7">
            <a:extLst>
              <a:ext uri="{FF2B5EF4-FFF2-40B4-BE49-F238E27FC236}">
                <a16:creationId xmlns:a16="http://schemas.microsoft.com/office/drawing/2014/main" id="{4EBAD644-6445-CAC3-2593-F8D6B55502EC}"/>
              </a:ext>
            </a:extLst>
          </p:cNvPr>
          <p:cNvSpPr txBox="1"/>
          <p:nvPr/>
        </p:nvSpPr>
        <p:spPr>
          <a:xfrm>
            <a:off x="706772" y="1363249"/>
            <a:ext cx="11146872" cy="3785652"/>
          </a:xfrm>
          <a:prstGeom prst="rect">
            <a:avLst/>
          </a:prstGeom>
          <a:noFill/>
        </p:spPr>
        <p:txBody>
          <a:bodyPr wrap="square">
            <a:spAutoFit/>
          </a:bodyPr>
          <a:lstStyle/>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არის?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აქ აღწერილი იქნება გამოყენებული მასალების და რესურსების დეტალები (მაგ. საგნები, პრეპარატები, აპარატურა, კითხვარები, ტესტები და ა.შ.). შესაძლებელია კვლევა არ საჭიროებდეს დამატებითი მასალების გამოყენებას, ასეთ შემთხვევაში შესაძლებელია მხოლოდ კითხვარები დავურთოთ კვლევას დანართის სახით.</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როგორ დავწეროთ?</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მკითხველს ვაწვდით და აღვუწერთ იმ მასალების სიას და  გამოყენების დეტალებს, რომელიც კვლევაში გამოვიყენეთ.</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უნდა გავითვალისწინოთ წერის დროს?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ნათელი და დეტალური აღწერა, რათა მკითხველმა შეძლოს გამეორება.</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12668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7A80C1-3165-0CF2-1FCA-50CE630CB55C}"/>
              </a:ext>
            </a:extLst>
          </p:cNvPr>
          <p:cNvSpPr>
            <a:spLocks noGrp="1"/>
          </p:cNvSpPr>
          <p:nvPr>
            <p:ph type="title"/>
          </p:nvPr>
        </p:nvSpPr>
        <p:spPr>
          <a:xfrm>
            <a:off x="0" y="0"/>
            <a:ext cx="12192000" cy="408374"/>
          </a:xfrm>
          <a:solidFill>
            <a:srgbClr val="1F23A9"/>
          </a:solidFill>
        </p:spPr>
        <p:txBody>
          <a:bodyPr>
            <a:normAutofit fontScale="90000"/>
          </a:bodyPr>
          <a:lstStyle/>
          <a:p>
            <a:pPr algn="ctr" eaLnBrk="1" hangingPunct="1"/>
            <a:r>
              <a:rPr lang="ka-GE" altLang="en-US" sz="3600" dirty="0">
                <a:solidFill>
                  <a:schemeClr val="bg1"/>
                </a:solidFill>
                <a:latin typeface="Calibri" panose="020F0502020204030204" pitchFamily="34" charset="0"/>
                <a:cs typeface="Calibri" panose="020F0502020204030204" pitchFamily="34" charset="0"/>
              </a:rPr>
              <a:t>სამეცნიერო სტატიის კომპონენტები</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F741CB1E-3377-8AE5-B072-015821D8325C}"/>
              </a:ext>
            </a:extLst>
          </p:cNvPr>
          <p:cNvSpPr txBox="1">
            <a:spLocks/>
          </p:cNvSpPr>
          <p:nvPr/>
        </p:nvSpPr>
        <p:spPr>
          <a:xfrm>
            <a:off x="646960" y="631437"/>
            <a:ext cx="11206684" cy="90013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ka-GE" sz="3200" b="1" dirty="0">
                <a:latin typeface="Calibri" panose="020F0502020204030204" pitchFamily="34" charset="0"/>
                <a:cs typeface="Calibri" panose="020F0502020204030204" pitchFamily="34" charset="0"/>
              </a:rPr>
              <a:t>5</a:t>
            </a:r>
            <a:r>
              <a:rPr lang="en-US" sz="3200" b="1" dirty="0">
                <a:latin typeface="Calibri" panose="020F0502020204030204" pitchFamily="34" charset="0"/>
                <a:cs typeface="Calibri" panose="020F0502020204030204" pitchFamily="34" charset="0"/>
              </a:rPr>
              <a:t>) </a:t>
            </a:r>
            <a:r>
              <a:rPr lang="ka-GE" sz="3200" b="1" dirty="0">
                <a:latin typeface="Calibri" panose="020F0502020204030204" pitchFamily="34" charset="0"/>
                <a:cs typeface="Calibri" panose="020F0502020204030204" pitchFamily="34" charset="0"/>
              </a:rPr>
              <a:t>კვლევის შედეგები</a:t>
            </a:r>
          </a:p>
        </p:txBody>
      </p:sp>
      <p:sp>
        <p:nvSpPr>
          <p:cNvPr id="8" name="TextBox 7">
            <a:extLst>
              <a:ext uri="{FF2B5EF4-FFF2-40B4-BE49-F238E27FC236}">
                <a16:creationId xmlns:a16="http://schemas.microsoft.com/office/drawing/2014/main" id="{4EBAD644-6445-CAC3-2593-F8D6B55502EC}"/>
              </a:ext>
            </a:extLst>
          </p:cNvPr>
          <p:cNvSpPr txBox="1"/>
          <p:nvPr/>
        </p:nvSpPr>
        <p:spPr>
          <a:xfrm>
            <a:off x="706772" y="1363249"/>
            <a:ext cx="11146872" cy="3477875"/>
          </a:xfrm>
          <a:prstGeom prst="rect">
            <a:avLst/>
          </a:prstGeom>
          <a:noFill/>
        </p:spPr>
        <p:txBody>
          <a:bodyPr wrap="square">
            <a:spAutoFit/>
          </a:bodyPr>
          <a:lstStyle/>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არის?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აქ წარმოდგენილი იქნება კვლევის შედეგად მიღებული მონაცემები და ფაქტები. მონაცემების ანალიზი სხვადასხვა ჭრილებში. შესაძლოა მოიცავდეს ქვეთავებს.</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როგორ დავწეროთ?</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გამოიყენეთ ცხრილები, გრაფიკები და ილუსტრაციები რომელიც გვაწვდის ვიზუალური ინფორმაციას კვლევის შედეგების ან მიმდინარეობის შესახებ.</a:t>
            </a: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მიაქციეთ ყურადღება მხოლოდ მონაცემებზე და ნუ მოაბყრობთ ყურადღებას.</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უნდა გავითვალისწინოთ წერის დროს?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უნდა იყოს ვიწრო და კონკრეტული; მხოლოდ შედეგების აღწერა.</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5431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7A80C1-3165-0CF2-1FCA-50CE630CB55C}"/>
              </a:ext>
            </a:extLst>
          </p:cNvPr>
          <p:cNvSpPr>
            <a:spLocks noGrp="1"/>
          </p:cNvSpPr>
          <p:nvPr>
            <p:ph type="title"/>
          </p:nvPr>
        </p:nvSpPr>
        <p:spPr>
          <a:xfrm>
            <a:off x="0" y="0"/>
            <a:ext cx="12192000" cy="408374"/>
          </a:xfrm>
          <a:solidFill>
            <a:srgbClr val="1F23A9"/>
          </a:solidFill>
        </p:spPr>
        <p:txBody>
          <a:bodyPr>
            <a:normAutofit fontScale="90000"/>
          </a:bodyPr>
          <a:lstStyle/>
          <a:p>
            <a:pPr algn="ctr" eaLnBrk="1" hangingPunct="1"/>
            <a:r>
              <a:rPr lang="ka-GE" altLang="en-US" sz="3600" dirty="0">
                <a:solidFill>
                  <a:schemeClr val="bg1"/>
                </a:solidFill>
                <a:latin typeface="Calibri" panose="020F0502020204030204" pitchFamily="34" charset="0"/>
                <a:cs typeface="Calibri" panose="020F0502020204030204" pitchFamily="34" charset="0"/>
              </a:rPr>
              <a:t>სამეცნიერო სტატიის კომპონენტები</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F741CB1E-3377-8AE5-B072-015821D8325C}"/>
              </a:ext>
            </a:extLst>
          </p:cNvPr>
          <p:cNvSpPr txBox="1">
            <a:spLocks/>
          </p:cNvSpPr>
          <p:nvPr/>
        </p:nvSpPr>
        <p:spPr>
          <a:xfrm>
            <a:off x="646960" y="631437"/>
            <a:ext cx="11206684" cy="90013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ka-GE" sz="3200" b="1" dirty="0">
                <a:latin typeface="Calibri" panose="020F0502020204030204" pitchFamily="34" charset="0"/>
                <a:cs typeface="Calibri" panose="020F0502020204030204" pitchFamily="34" charset="0"/>
              </a:rPr>
              <a:t>6</a:t>
            </a:r>
            <a:r>
              <a:rPr lang="en-US" sz="3200" b="1" dirty="0">
                <a:latin typeface="Calibri" panose="020F0502020204030204" pitchFamily="34" charset="0"/>
                <a:cs typeface="Calibri" panose="020F0502020204030204" pitchFamily="34" charset="0"/>
              </a:rPr>
              <a:t>) </a:t>
            </a:r>
            <a:r>
              <a:rPr lang="ka-GE" sz="3200" b="1" dirty="0">
                <a:latin typeface="Calibri" panose="020F0502020204030204" pitchFamily="34" charset="0"/>
                <a:cs typeface="Calibri" panose="020F0502020204030204" pitchFamily="34" charset="0"/>
              </a:rPr>
              <a:t>დასკვნა</a:t>
            </a:r>
          </a:p>
        </p:txBody>
      </p:sp>
      <p:sp>
        <p:nvSpPr>
          <p:cNvPr id="8" name="TextBox 7">
            <a:extLst>
              <a:ext uri="{FF2B5EF4-FFF2-40B4-BE49-F238E27FC236}">
                <a16:creationId xmlns:a16="http://schemas.microsoft.com/office/drawing/2014/main" id="{4EBAD644-6445-CAC3-2593-F8D6B55502EC}"/>
              </a:ext>
            </a:extLst>
          </p:cNvPr>
          <p:cNvSpPr txBox="1"/>
          <p:nvPr/>
        </p:nvSpPr>
        <p:spPr>
          <a:xfrm>
            <a:off x="706772" y="1363249"/>
            <a:ext cx="11146872" cy="4093428"/>
          </a:xfrm>
          <a:prstGeom prst="rect">
            <a:avLst/>
          </a:prstGeom>
          <a:noFill/>
        </p:spPr>
        <p:txBody>
          <a:bodyPr wrap="square">
            <a:spAutoFit/>
          </a:bodyPr>
          <a:lstStyle/>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არის?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დასკვნაში უნდა მოხდეს კვლევის შედეგების ინტერპრეტაცია და მათი მნიშვნელობის ახსნა.</a:t>
            </a: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აქვე უნდა მოხდეს რეკომენდაციების და მომავალი კვლევის მიმართულებების დასახელება.</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როგორ დავწეროთ?</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შეაჯამეთ მთავარი მიგნებები.</a:t>
            </a: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გაწვდეთ რეკომენდაციები და მომავალი კვლევების შესაძლებლობები.</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უნდა გავითვალისწინოთ წერის დროს?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ნუ გააკეთებთ ახალი, ისეთი ტიპის ინფორმაციის აღწერას რაზეც წინა თავებში არ გიმსჯელიათ, მხოლოდ დაადასტურეთ წინასწარი მიგნებები.</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42274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7A80C1-3165-0CF2-1FCA-50CE630CB55C}"/>
              </a:ext>
            </a:extLst>
          </p:cNvPr>
          <p:cNvSpPr>
            <a:spLocks noGrp="1"/>
          </p:cNvSpPr>
          <p:nvPr>
            <p:ph type="title"/>
          </p:nvPr>
        </p:nvSpPr>
        <p:spPr>
          <a:xfrm>
            <a:off x="0" y="0"/>
            <a:ext cx="12192000" cy="408374"/>
          </a:xfrm>
          <a:solidFill>
            <a:srgbClr val="1F23A9"/>
          </a:solidFill>
        </p:spPr>
        <p:txBody>
          <a:bodyPr>
            <a:normAutofit fontScale="90000"/>
          </a:bodyPr>
          <a:lstStyle/>
          <a:p>
            <a:pPr algn="ctr" eaLnBrk="1" hangingPunct="1"/>
            <a:r>
              <a:rPr lang="ka-GE" altLang="en-US" sz="3600" dirty="0">
                <a:solidFill>
                  <a:schemeClr val="bg1"/>
                </a:solidFill>
                <a:latin typeface="Calibri" panose="020F0502020204030204" pitchFamily="34" charset="0"/>
                <a:cs typeface="Calibri" panose="020F0502020204030204" pitchFamily="34" charset="0"/>
              </a:rPr>
              <a:t>სამეცნიერო სტატიის კომპონენტები</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F741CB1E-3377-8AE5-B072-015821D8325C}"/>
              </a:ext>
            </a:extLst>
          </p:cNvPr>
          <p:cNvSpPr txBox="1">
            <a:spLocks/>
          </p:cNvSpPr>
          <p:nvPr/>
        </p:nvSpPr>
        <p:spPr>
          <a:xfrm>
            <a:off x="522564" y="386324"/>
            <a:ext cx="11206684" cy="90013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ka-GE" sz="3200" b="1" dirty="0">
                <a:latin typeface="Calibri" panose="020F0502020204030204" pitchFamily="34" charset="0"/>
                <a:cs typeface="Calibri" panose="020F0502020204030204" pitchFamily="34" charset="0"/>
              </a:rPr>
              <a:t>6</a:t>
            </a:r>
            <a:r>
              <a:rPr lang="en-US" sz="3200" b="1" dirty="0">
                <a:latin typeface="Calibri" panose="020F0502020204030204" pitchFamily="34" charset="0"/>
                <a:cs typeface="Calibri" panose="020F0502020204030204" pitchFamily="34" charset="0"/>
              </a:rPr>
              <a:t>) </a:t>
            </a:r>
            <a:r>
              <a:rPr lang="ka-GE" sz="3200" b="1" dirty="0">
                <a:latin typeface="Calibri" panose="020F0502020204030204" pitchFamily="34" charset="0"/>
                <a:cs typeface="Calibri" panose="020F0502020204030204" pitchFamily="34" charset="0"/>
              </a:rPr>
              <a:t>დასკვნა / </a:t>
            </a:r>
            <a:r>
              <a:rPr lang="ka-GE" sz="3200" b="1" dirty="0">
                <a:solidFill>
                  <a:srgbClr val="1F23A9"/>
                </a:solidFill>
                <a:latin typeface="Calibri" panose="020F0502020204030204" pitchFamily="34" charset="0"/>
                <a:cs typeface="Calibri" panose="020F0502020204030204" pitchFamily="34" charset="0"/>
              </a:rPr>
              <a:t>რეკომენდაციები</a:t>
            </a:r>
          </a:p>
        </p:txBody>
      </p:sp>
      <p:sp>
        <p:nvSpPr>
          <p:cNvPr id="8" name="TextBox 7">
            <a:extLst>
              <a:ext uri="{FF2B5EF4-FFF2-40B4-BE49-F238E27FC236}">
                <a16:creationId xmlns:a16="http://schemas.microsoft.com/office/drawing/2014/main" id="{4EBAD644-6445-CAC3-2593-F8D6B55502EC}"/>
              </a:ext>
            </a:extLst>
          </p:cNvPr>
          <p:cNvSpPr txBox="1"/>
          <p:nvPr/>
        </p:nvSpPr>
        <p:spPr>
          <a:xfrm>
            <a:off x="522564" y="836390"/>
            <a:ext cx="11146872" cy="5632311"/>
          </a:xfrm>
          <a:prstGeom prst="rect">
            <a:avLst/>
          </a:prstGeom>
          <a:noFill/>
        </p:spPr>
        <p:txBody>
          <a:bodyPr wrap="square">
            <a:spAutoFit/>
          </a:bodyPr>
          <a:lstStyle/>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არის?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b="1" dirty="0">
                <a:latin typeface="Calibri" panose="020F0502020204030204" pitchFamily="34" charset="0"/>
                <a:cs typeface="Calibri" panose="020F0502020204030204" pitchFamily="34" charset="0"/>
              </a:rPr>
              <a:t>პრაქტიკული გამოყენება:</a:t>
            </a:r>
            <a:r>
              <a:rPr lang="ka-GE" sz="2000" dirty="0">
                <a:latin typeface="Calibri" panose="020F0502020204030204" pitchFamily="34" charset="0"/>
                <a:cs typeface="Calibri" panose="020F0502020204030204" pitchFamily="34" charset="0"/>
              </a:rPr>
              <a:t> აჩვენებს, როგორ შეიძლება კვლევის შედეგები იქნას გამოყენებული რეალურ ცხოვრებაში ან კონკრეტულ ინდუსტრიაში.</a:t>
            </a:r>
          </a:p>
          <a:p>
            <a:pPr marL="742950" lvl="1" indent="-285750">
              <a:buFont typeface="Arial" panose="020B0604020202020204" pitchFamily="34" charset="0"/>
              <a:buChar char="•"/>
            </a:pPr>
            <a:r>
              <a:rPr lang="ka-GE" sz="2000" b="1" dirty="0">
                <a:latin typeface="Calibri" panose="020F0502020204030204" pitchFamily="34" charset="0"/>
                <a:cs typeface="Calibri" panose="020F0502020204030204" pitchFamily="34" charset="0"/>
              </a:rPr>
              <a:t>მომავალი კვლევა:</a:t>
            </a:r>
            <a:r>
              <a:rPr lang="ka-GE" sz="2000" dirty="0">
                <a:latin typeface="Calibri" panose="020F0502020204030204" pitchFamily="34" charset="0"/>
                <a:cs typeface="Calibri" panose="020F0502020204030204" pitchFamily="34" charset="0"/>
              </a:rPr>
              <a:t> აღწერს, რა მიმართულებებით შეიძლება გაგრძელდეს ამ თემის შესწავლა.</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როგორ დავწეროთ?</a:t>
            </a:r>
          </a:p>
          <a:p>
            <a:pPr marL="742950" lvl="1" indent="-285750">
              <a:buFont typeface="Arial" panose="020B0604020202020204" pitchFamily="34" charset="0"/>
              <a:buChar char="•"/>
            </a:pPr>
            <a:r>
              <a:rPr lang="ka-GE" sz="2000" b="1" dirty="0">
                <a:latin typeface="Calibri" panose="020F0502020204030204" pitchFamily="34" charset="0"/>
                <a:cs typeface="Calibri" panose="020F0502020204030204" pitchFamily="34" charset="0"/>
              </a:rPr>
              <a:t>დაუკავშირეთ შედეგებს:</a:t>
            </a:r>
            <a:r>
              <a:rPr lang="ka-GE" sz="2000" dirty="0">
                <a:latin typeface="Calibri" panose="020F0502020204030204" pitchFamily="34" charset="0"/>
                <a:cs typeface="Calibri" panose="020F0502020204030204" pitchFamily="34" charset="0"/>
              </a:rPr>
              <a:t> კვლევის რეკომენდაციები ყოველთვის უნდა ეფუძნებოდეს თქვენს მიერ მიღებულ შედეგებს. ანალიზის შედეგად შეჯამებული შედეგები უნდა გახდეს რეკომენდაციების საფუძველი.</a:t>
            </a:r>
          </a:p>
          <a:p>
            <a:pPr marL="742950" lvl="1" indent="-285750">
              <a:buFont typeface="Arial" panose="020B0604020202020204" pitchFamily="34" charset="0"/>
              <a:buChar char="•"/>
            </a:pPr>
            <a:r>
              <a:rPr lang="ka-GE" sz="2000" b="1" dirty="0">
                <a:latin typeface="Calibri" panose="020F0502020204030204" pitchFamily="34" charset="0"/>
                <a:cs typeface="Calibri" panose="020F0502020204030204" pitchFamily="34" charset="0"/>
              </a:rPr>
              <a:t>გამოყავით მთავარი მიგნებები:</a:t>
            </a:r>
            <a:r>
              <a:rPr lang="ka-GE" sz="2000" dirty="0">
                <a:latin typeface="Calibri" panose="020F0502020204030204" pitchFamily="34" charset="0"/>
                <a:cs typeface="Calibri" panose="020F0502020204030204" pitchFamily="34" charset="0"/>
              </a:rPr>
              <a:t> ყურადღება გაამახვილეთ იმ მნიშვნელოვან საკითხებზე, რომლებიც თქვენი კვლევის შედეგად გამოიკვეთა და რომლებიც ყველაზე რელევანტური და მნიშვნელოვანი აღმოჩნდა.</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უნდა გავითვალისწინოთ წერის დროს?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b="1" dirty="0">
                <a:latin typeface="Calibri" panose="020F0502020204030204" pitchFamily="34" charset="0"/>
                <a:cs typeface="Calibri" panose="020F0502020204030204" pitchFamily="34" charset="0"/>
              </a:rPr>
              <a:t>კონკრეტულობა და სიზუსტე:</a:t>
            </a:r>
            <a:r>
              <a:rPr lang="ka-GE" sz="2000" dirty="0">
                <a:latin typeface="Calibri" panose="020F0502020204030204" pitchFamily="34" charset="0"/>
                <a:cs typeface="Calibri" panose="020F0502020204030204" pitchFamily="34" charset="0"/>
              </a:rPr>
              <a:t> რეკომენდაციები უნდა იყოს კონკრეტული და პრაქტიკულად გამოყენებადი. ზოგადი ფრაზები ან ზედმეტი დეტალიზაცია უნდა იქნას თავიდან აცილებული.</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27844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7A80C1-3165-0CF2-1FCA-50CE630CB55C}"/>
              </a:ext>
            </a:extLst>
          </p:cNvPr>
          <p:cNvSpPr>
            <a:spLocks noGrp="1"/>
          </p:cNvSpPr>
          <p:nvPr>
            <p:ph type="title"/>
          </p:nvPr>
        </p:nvSpPr>
        <p:spPr>
          <a:xfrm>
            <a:off x="0" y="0"/>
            <a:ext cx="12192000" cy="408374"/>
          </a:xfrm>
          <a:solidFill>
            <a:srgbClr val="1F23A9"/>
          </a:solidFill>
        </p:spPr>
        <p:txBody>
          <a:bodyPr>
            <a:normAutofit fontScale="90000"/>
          </a:bodyPr>
          <a:lstStyle/>
          <a:p>
            <a:pPr algn="ctr" eaLnBrk="1" hangingPunct="1"/>
            <a:r>
              <a:rPr lang="ka-GE" altLang="en-US" sz="3600" dirty="0">
                <a:solidFill>
                  <a:schemeClr val="bg1"/>
                </a:solidFill>
                <a:latin typeface="Calibri" panose="020F0502020204030204" pitchFamily="34" charset="0"/>
                <a:cs typeface="Calibri" panose="020F0502020204030204" pitchFamily="34" charset="0"/>
              </a:rPr>
              <a:t>სამეცნიერო სტატიის კომპონენტები</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F741CB1E-3377-8AE5-B072-015821D8325C}"/>
              </a:ext>
            </a:extLst>
          </p:cNvPr>
          <p:cNvSpPr txBox="1">
            <a:spLocks/>
          </p:cNvSpPr>
          <p:nvPr/>
        </p:nvSpPr>
        <p:spPr>
          <a:xfrm>
            <a:off x="646960" y="631437"/>
            <a:ext cx="11206684" cy="90013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ka-GE" sz="3200" b="1" dirty="0">
                <a:latin typeface="Calibri" panose="020F0502020204030204" pitchFamily="34" charset="0"/>
                <a:cs typeface="Calibri" panose="020F0502020204030204" pitchFamily="34" charset="0"/>
              </a:rPr>
              <a:t>7</a:t>
            </a:r>
            <a:r>
              <a:rPr lang="en-US" sz="3200" b="1" dirty="0">
                <a:latin typeface="Calibri" panose="020F0502020204030204" pitchFamily="34" charset="0"/>
                <a:cs typeface="Calibri" panose="020F0502020204030204" pitchFamily="34" charset="0"/>
              </a:rPr>
              <a:t>) </a:t>
            </a:r>
            <a:r>
              <a:rPr lang="ka-GE" sz="3200" b="1" dirty="0">
                <a:latin typeface="Calibri" panose="020F0502020204030204" pitchFamily="34" charset="0"/>
                <a:cs typeface="Calibri" panose="020F0502020204030204" pitchFamily="34" charset="0"/>
              </a:rPr>
              <a:t>ლიტერატურა</a:t>
            </a:r>
          </a:p>
        </p:txBody>
      </p:sp>
      <p:sp>
        <p:nvSpPr>
          <p:cNvPr id="8" name="TextBox 7">
            <a:extLst>
              <a:ext uri="{FF2B5EF4-FFF2-40B4-BE49-F238E27FC236}">
                <a16:creationId xmlns:a16="http://schemas.microsoft.com/office/drawing/2014/main" id="{4EBAD644-6445-CAC3-2593-F8D6B55502EC}"/>
              </a:ext>
            </a:extLst>
          </p:cNvPr>
          <p:cNvSpPr txBox="1"/>
          <p:nvPr/>
        </p:nvSpPr>
        <p:spPr>
          <a:xfrm>
            <a:off x="706772" y="1363249"/>
            <a:ext cx="11146872" cy="4401205"/>
          </a:xfrm>
          <a:prstGeom prst="rect">
            <a:avLst/>
          </a:prstGeom>
          <a:noFill/>
        </p:spPr>
        <p:txBody>
          <a:bodyPr wrap="square">
            <a:spAutoFit/>
          </a:bodyPr>
          <a:lstStyle/>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არის?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ეს არის ყველა იმ წყაროს სია, რომელიც თქვენს კვლევაში გამოიყენეთ.</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როგორ დავწეროთ?</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გამოიყენეთ სტანდარტიზირებული ფორმატი (მაგ. </a:t>
            </a:r>
            <a:r>
              <a:rPr lang="en-US" sz="2000" dirty="0">
                <a:latin typeface="Calibri" panose="020F0502020204030204" pitchFamily="34" charset="0"/>
                <a:cs typeface="Calibri" panose="020F0502020204030204" pitchFamily="34" charset="0"/>
              </a:rPr>
              <a:t>APA, MLA).</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APA</a:t>
            </a:r>
            <a:r>
              <a:rPr lang="ka-GE" sz="2000" dirty="0">
                <a:latin typeface="Calibri" panose="020F0502020204030204" pitchFamily="34" charset="0"/>
                <a:cs typeface="Calibri" panose="020F0502020204030204" pitchFamily="34" charset="0"/>
              </a:rPr>
              <a:t> სტანდარტი: გვარი, ინიციალი. (წელი). </a:t>
            </a:r>
            <a:r>
              <a:rPr lang="ka-GE" sz="2000" b="1" dirty="0">
                <a:latin typeface="Calibri" panose="020F0502020204030204" pitchFamily="34" charset="0"/>
                <a:cs typeface="Calibri" panose="020F0502020204030204" pitchFamily="34" charset="0"/>
              </a:rPr>
              <a:t>წიგნის ან სტატიის სათაური</a:t>
            </a:r>
            <a:r>
              <a:rPr lang="ka-GE" sz="2000" dirty="0">
                <a:latin typeface="Calibri" panose="020F0502020204030204" pitchFamily="34" charset="0"/>
                <a:cs typeface="Calibri" panose="020F0502020204030204" pitchFamily="34" charset="0"/>
              </a:rPr>
              <a:t>. გამომცემლობა ან ჟურნალი, ტომი(ნომერი), გვერდები. </a:t>
            </a:r>
            <a:r>
              <a:rPr lang="en-US" sz="2000" dirty="0">
                <a:latin typeface="Calibri" panose="020F0502020204030204" pitchFamily="34" charset="0"/>
                <a:cs typeface="Calibri" panose="020F0502020204030204" pitchFamily="34" charset="0"/>
              </a:rPr>
              <a:t>DOI </a:t>
            </a:r>
            <a:r>
              <a:rPr lang="ka-GE" sz="2000" dirty="0">
                <a:latin typeface="Calibri" panose="020F0502020204030204" pitchFamily="34" charset="0"/>
                <a:cs typeface="Calibri" panose="020F0502020204030204" pitchFamily="34" charset="0"/>
              </a:rPr>
              <a:t>ან </a:t>
            </a:r>
            <a:r>
              <a:rPr lang="en-US" sz="2000" dirty="0">
                <a:latin typeface="Calibri" panose="020F0502020204030204" pitchFamily="34" charset="0"/>
                <a:cs typeface="Calibri" panose="020F0502020204030204" pitchFamily="34" charset="0"/>
              </a:rPr>
              <a:t>URL (</a:t>
            </a:r>
            <a:r>
              <a:rPr lang="ka-GE" sz="2000" dirty="0">
                <a:latin typeface="Calibri" panose="020F0502020204030204" pitchFamily="34" charset="0"/>
                <a:cs typeface="Calibri" panose="020F0502020204030204" pitchFamily="34" charset="0"/>
              </a:rPr>
              <a:t>თუ არის ონლაინ რესურსი). მაგ. - </a:t>
            </a:r>
            <a:r>
              <a:rPr lang="en-US" sz="2000" dirty="0">
                <a:latin typeface="Calibri" panose="020F0502020204030204" pitchFamily="34" charset="0"/>
                <a:cs typeface="Calibri" panose="020F0502020204030204" pitchFamily="34" charset="0"/>
              </a:rPr>
              <a:t>Smith, J. (2020). </a:t>
            </a:r>
            <a:r>
              <a:rPr lang="en-US" sz="2000" b="1" dirty="0">
                <a:latin typeface="Calibri" panose="020F0502020204030204" pitchFamily="34" charset="0"/>
                <a:cs typeface="Calibri" panose="020F0502020204030204" pitchFamily="34" charset="0"/>
              </a:rPr>
              <a:t>Psychological resilience in adolescents</a:t>
            </a:r>
            <a:r>
              <a:rPr lang="en-US" sz="2000" dirty="0">
                <a:latin typeface="Calibri" panose="020F0502020204030204" pitchFamily="34" charset="0"/>
                <a:cs typeface="Calibri" panose="020F0502020204030204" pitchFamily="34" charset="0"/>
              </a:rPr>
              <a:t>. Springer.</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en-US" sz="2000" dirty="0">
                <a:latin typeface="Calibri" panose="020F0502020204030204" pitchFamily="34" charset="0"/>
                <a:cs typeface="Calibri" panose="020F0502020204030204" pitchFamily="34" charset="0"/>
              </a:rPr>
              <a:t>MLA </a:t>
            </a:r>
            <a:r>
              <a:rPr lang="ka-GE" sz="2000" dirty="0">
                <a:latin typeface="Calibri" panose="020F0502020204030204" pitchFamily="34" charset="0"/>
                <a:cs typeface="Calibri" panose="020F0502020204030204" pitchFamily="34" charset="0"/>
              </a:rPr>
              <a:t>სტანდარტი: ავტორი. </a:t>
            </a:r>
            <a:r>
              <a:rPr lang="ka-GE" sz="2000" b="1" dirty="0">
                <a:latin typeface="Calibri" panose="020F0502020204030204" pitchFamily="34" charset="0"/>
                <a:cs typeface="Calibri" panose="020F0502020204030204" pitchFamily="34" charset="0"/>
              </a:rPr>
              <a:t>სათაური</a:t>
            </a:r>
            <a:r>
              <a:rPr lang="ka-GE" sz="2000" dirty="0">
                <a:latin typeface="Calibri" panose="020F0502020204030204" pitchFamily="34" charset="0"/>
                <a:cs typeface="Calibri" panose="020F0502020204030204" pitchFamily="34" charset="0"/>
              </a:rPr>
              <a:t>. გამომცემელი, წელი. მაგ. - </a:t>
            </a:r>
            <a:r>
              <a:rPr lang="en-US" sz="2000" dirty="0">
                <a:latin typeface="Calibri" panose="020F0502020204030204" pitchFamily="34" charset="0"/>
                <a:cs typeface="Calibri" panose="020F0502020204030204" pitchFamily="34" charset="0"/>
              </a:rPr>
              <a:t>Smith, John. </a:t>
            </a:r>
            <a:r>
              <a:rPr lang="en-US" sz="2000" b="1" dirty="0">
                <a:latin typeface="Calibri" panose="020F0502020204030204" pitchFamily="34" charset="0"/>
                <a:cs typeface="Calibri" panose="020F0502020204030204" pitchFamily="34" charset="0"/>
              </a:rPr>
              <a:t>Understanding Modern Literature</a:t>
            </a:r>
            <a:r>
              <a:rPr lang="en-US" sz="2000" dirty="0">
                <a:latin typeface="Calibri" panose="020F0502020204030204" pitchFamily="34" charset="0"/>
                <a:cs typeface="Calibri" panose="020F0502020204030204" pitchFamily="34" charset="0"/>
              </a:rPr>
              <a:t>. Oxford UP, 2020.</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ჩაწერეთ ყველა წიგნი, სტატია, და სხვა რესურსები, რაც ახსენეთ სტატიაში.</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რა უნდა გავითვალისწინოთ წერის დროს?</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დარწმუნდით, რომ ყველა წყაროს შესახებ ინფორმაცია ზუსტად არის მოცემული.</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733533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7A80C1-3165-0CF2-1FCA-50CE630CB55C}"/>
              </a:ext>
            </a:extLst>
          </p:cNvPr>
          <p:cNvSpPr>
            <a:spLocks noGrp="1"/>
          </p:cNvSpPr>
          <p:nvPr>
            <p:ph type="title"/>
          </p:nvPr>
        </p:nvSpPr>
        <p:spPr>
          <a:xfrm>
            <a:off x="0" y="0"/>
            <a:ext cx="12192000" cy="408374"/>
          </a:xfrm>
          <a:solidFill>
            <a:srgbClr val="1F23A9"/>
          </a:solidFill>
        </p:spPr>
        <p:txBody>
          <a:bodyPr>
            <a:normAutofit fontScale="90000"/>
          </a:bodyPr>
          <a:lstStyle/>
          <a:p>
            <a:pPr algn="ctr" eaLnBrk="1" hangingPunct="1"/>
            <a:r>
              <a:rPr lang="ka-GE" altLang="en-US" sz="3600" dirty="0">
                <a:solidFill>
                  <a:schemeClr val="bg1"/>
                </a:solidFill>
                <a:latin typeface="Calibri" panose="020F0502020204030204" pitchFamily="34" charset="0"/>
                <a:cs typeface="Calibri" panose="020F0502020204030204" pitchFamily="34" charset="0"/>
              </a:rPr>
              <a:t>სამეცნიერო სტატიის კომპონენტები</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F741CB1E-3377-8AE5-B072-015821D8325C}"/>
              </a:ext>
            </a:extLst>
          </p:cNvPr>
          <p:cNvSpPr txBox="1">
            <a:spLocks/>
          </p:cNvSpPr>
          <p:nvPr/>
        </p:nvSpPr>
        <p:spPr>
          <a:xfrm>
            <a:off x="646960" y="631437"/>
            <a:ext cx="11206684" cy="900131"/>
          </a:xfrm>
          <a:prstGeom prst="rect">
            <a:avLst/>
          </a:prstGeom>
        </p:spPr>
        <p:txBody>
          <a:bodyPr vert="horz" lIns="91440" tIns="45720" rIns="91440" bIns="45720" rtlCol="0" anchor="t">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ka-GE" sz="3200" b="1" dirty="0">
                <a:latin typeface="Calibri" panose="020F0502020204030204" pitchFamily="34" charset="0"/>
                <a:cs typeface="Calibri" panose="020F0502020204030204" pitchFamily="34" charset="0"/>
              </a:rPr>
              <a:t>დამატებითი რეკომენდაციები</a:t>
            </a:r>
          </a:p>
        </p:txBody>
      </p:sp>
      <p:sp>
        <p:nvSpPr>
          <p:cNvPr id="8" name="TextBox 7">
            <a:extLst>
              <a:ext uri="{FF2B5EF4-FFF2-40B4-BE49-F238E27FC236}">
                <a16:creationId xmlns:a16="http://schemas.microsoft.com/office/drawing/2014/main" id="{4EBAD644-6445-CAC3-2593-F8D6B55502EC}"/>
              </a:ext>
            </a:extLst>
          </p:cNvPr>
          <p:cNvSpPr txBox="1"/>
          <p:nvPr/>
        </p:nvSpPr>
        <p:spPr>
          <a:xfrm>
            <a:off x="706772" y="1363249"/>
            <a:ext cx="11146872" cy="3170099"/>
          </a:xfrm>
          <a:prstGeom prst="rect">
            <a:avLst/>
          </a:prstGeom>
          <a:noFill/>
        </p:spPr>
        <p:txBody>
          <a:bodyPr wrap="square">
            <a:spAutoFit/>
          </a:bodyPr>
          <a:lstStyle/>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თქვენი წერის სტილის შესაბამისად</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იყავით ნათელი და გასაგები; ყურადღება მიაქციეთ ობიექტურობას.</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ფორმატი:</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გამოიყენეთ შესაბამისი ფორმატირების სტანდარტები, რათა სტატია იყოს ორგანიზებული.</a:t>
            </a:r>
          </a:p>
          <a:p>
            <a:pPr marL="742950" lvl="1" indent="-285750">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რედაქტორება:</a:t>
            </a:r>
            <a:endParaRPr lang="ka-GE" sz="2000"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რამდენიმეჯერ გადააკითხეთ და მოიშორეთ ზედმეტი სიტყვები და ვრცელი აღწერები.</a:t>
            </a:r>
          </a:p>
          <a:p>
            <a:pPr marL="742950" lvl="1" indent="-285750">
              <a:buFont typeface="Arial" panose="020B0604020202020204" pitchFamily="34" charset="0"/>
              <a:buChar char="•"/>
            </a:pPr>
            <a:r>
              <a:rPr lang="ka-GE" sz="2000" dirty="0">
                <a:latin typeface="Calibri" panose="020F0502020204030204" pitchFamily="34" charset="0"/>
                <a:cs typeface="Calibri" panose="020F0502020204030204" pitchFamily="34" charset="0"/>
              </a:rPr>
              <a:t>გამოქვეყნებამდე ნაშრომმა უნდა გაიაროს ენობრივი და სამეცნიერო რედაქტირება.</a:t>
            </a:r>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54571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B7A80C1-3165-0CF2-1FCA-50CE630CB55C}"/>
              </a:ext>
            </a:extLst>
          </p:cNvPr>
          <p:cNvSpPr>
            <a:spLocks noGrp="1"/>
          </p:cNvSpPr>
          <p:nvPr>
            <p:ph type="title"/>
          </p:nvPr>
        </p:nvSpPr>
        <p:spPr>
          <a:xfrm>
            <a:off x="0" y="0"/>
            <a:ext cx="12192000" cy="408374"/>
          </a:xfrm>
          <a:solidFill>
            <a:srgbClr val="1F23A9"/>
          </a:solidFill>
        </p:spPr>
        <p:txBody>
          <a:bodyPr>
            <a:normAutofit fontScale="90000"/>
          </a:bodyPr>
          <a:lstStyle/>
          <a:p>
            <a:pPr algn="ctr" eaLnBrk="1" hangingPunct="1"/>
            <a:r>
              <a:rPr lang="ka-GE" sz="3600" b="1" dirty="0">
                <a:solidFill>
                  <a:schemeClr val="bg1"/>
                </a:solidFill>
                <a:latin typeface="Calibri" panose="020F0502020204030204" pitchFamily="34" charset="0"/>
                <a:cs typeface="Calibri" panose="020F0502020204030204" pitchFamily="34" charset="0"/>
              </a:rPr>
              <a:t>სამეცნიერო სტატიის მაგალითები</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8" name="Rectangle: Rounded Corners 7">
            <a:extLst>
              <a:ext uri="{FF2B5EF4-FFF2-40B4-BE49-F238E27FC236}">
                <a16:creationId xmlns:a16="http://schemas.microsoft.com/office/drawing/2014/main" id="{E2871C7D-734F-86A1-7C4C-0D30049DEBFE}"/>
              </a:ext>
            </a:extLst>
          </p:cNvPr>
          <p:cNvSpPr/>
          <p:nvPr/>
        </p:nvSpPr>
        <p:spPr>
          <a:xfrm>
            <a:off x="284705" y="766158"/>
            <a:ext cx="5069149" cy="408374"/>
          </a:xfrm>
          <a:prstGeom prst="roundRect">
            <a:avLst/>
          </a:prstGeom>
          <a:solidFill>
            <a:srgbClr val="1F23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a-GE" sz="2000" dirty="0">
                <a:latin typeface="Calibri" panose="020F0502020204030204" pitchFamily="34" charset="0"/>
                <a:cs typeface="Calibri" panose="020F0502020204030204" pitchFamily="34" charset="0"/>
              </a:rPr>
              <a:t>ბიზნესი და მარკეტინგი</a:t>
            </a:r>
            <a:endParaRPr lang="en-US" sz="20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BE34EA2A-3A64-227F-C5AE-5E73F9BFEB93}"/>
              </a:ext>
            </a:extLst>
          </p:cNvPr>
          <p:cNvSpPr txBox="1"/>
          <p:nvPr/>
        </p:nvSpPr>
        <p:spPr>
          <a:xfrm>
            <a:off x="284706" y="1254850"/>
            <a:ext cx="11213163" cy="1200329"/>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Google Scholar</a:t>
            </a:r>
            <a:r>
              <a:rPr lang="en-US" dirty="0">
                <a:latin typeface="Calibri" panose="020F0502020204030204" pitchFamily="34" charset="0"/>
                <a:cs typeface="Calibri" panose="020F0502020204030204" pitchFamily="34" charset="0"/>
              </a:rPr>
              <a:t> – </a:t>
            </a:r>
            <a:r>
              <a:rPr lang="ka-GE" dirty="0">
                <a:latin typeface="Calibri" panose="020F0502020204030204" pitchFamily="34" charset="0"/>
                <a:cs typeface="Calibri" panose="020F0502020204030204" pitchFamily="34" charset="0"/>
              </a:rPr>
              <a:t>მოძებნე სტატიები, რომლებიც მარკეტინგული სტრატეგიებისა და ბიზნესის მართვის თემებზეა, მაგალითად:</a:t>
            </a:r>
          </a:p>
          <a:p>
            <a:pPr marL="742950" lvl="1" indent="-285750">
              <a:buFont typeface="Arial" panose="020B0604020202020204" pitchFamily="34" charset="0"/>
              <a:buChar char="•"/>
            </a:pPr>
            <a:r>
              <a:rPr lang="ka-GE" dirty="0">
                <a:latin typeface="Calibri" panose="020F0502020204030204" pitchFamily="34" charset="0"/>
                <a:cs typeface="Calibri" panose="020F0502020204030204" pitchFamily="34" charset="0"/>
              </a:rPr>
              <a:t>„</a:t>
            </a:r>
            <a:r>
              <a:rPr lang="en-US" dirty="0">
                <a:latin typeface="Calibri" panose="020F0502020204030204" pitchFamily="34" charset="0"/>
                <a:cs typeface="Calibri" panose="020F0502020204030204" pitchFamily="34" charset="0"/>
              </a:rPr>
              <a:t>The impact of digital marketing on consumer behavior“ – </a:t>
            </a:r>
            <a:r>
              <a:rPr lang="ka-GE" dirty="0">
                <a:latin typeface="Calibri" panose="020F0502020204030204" pitchFamily="34" charset="0"/>
                <a:cs typeface="Calibri" panose="020F0502020204030204" pitchFamily="34" charset="0"/>
              </a:rPr>
              <a:t>კარგი მაგალითია, რადგან აჩვენებს ციფრული მარკეტინგის გავლენას ბიზნესზე.</a:t>
            </a:r>
          </a:p>
        </p:txBody>
      </p:sp>
      <p:sp>
        <p:nvSpPr>
          <p:cNvPr id="10" name="Rectangle: Rounded Corners 9">
            <a:extLst>
              <a:ext uri="{FF2B5EF4-FFF2-40B4-BE49-F238E27FC236}">
                <a16:creationId xmlns:a16="http://schemas.microsoft.com/office/drawing/2014/main" id="{4B4F9714-2D12-1713-4013-21DA074EC649}"/>
              </a:ext>
            </a:extLst>
          </p:cNvPr>
          <p:cNvSpPr/>
          <p:nvPr/>
        </p:nvSpPr>
        <p:spPr>
          <a:xfrm>
            <a:off x="284706" y="2632304"/>
            <a:ext cx="5069149" cy="408374"/>
          </a:xfrm>
          <a:prstGeom prst="roundRect">
            <a:avLst/>
          </a:prstGeom>
          <a:solidFill>
            <a:srgbClr val="1F23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a-GE" sz="2000" dirty="0">
                <a:latin typeface="Calibri" panose="020F0502020204030204" pitchFamily="34" charset="0"/>
                <a:cs typeface="Calibri" panose="020F0502020204030204" pitchFamily="34" charset="0"/>
              </a:rPr>
              <a:t>ინფორმაციული ტექნოლოგიები (</a:t>
            </a:r>
            <a:r>
              <a:rPr lang="en-US" sz="2000" dirty="0">
                <a:latin typeface="Calibri" panose="020F0502020204030204" pitchFamily="34" charset="0"/>
                <a:cs typeface="Calibri" panose="020F0502020204030204" pitchFamily="34" charset="0"/>
              </a:rPr>
              <a:t>IT):</a:t>
            </a:r>
          </a:p>
        </p:txBody>
      </p:sp>
      <p:sp>
        <p:nvSpPr>
          <p:cNvPr id="11" name="TextBox 10">
            <a:extLst>
              <a:ext uri="{FF2B5EF4-FFF2-40B4-BE49-F238E27FC236}">
                <a16:creationId xmlns:a16="http://schemas.microsoft.com/office/drawing/2014/main" id="{BD48C325-F8DB-4A00-DCAD-B9994A0A8CE7}"/>
              </a:ext>
            </a:extLst>
          </p:cNvPr>
          <p:cNvSpPr txBox="1"/>
          <p:nvPr/>
        </p:nvSpPr>
        <p:spPr>
          <a:xfrm>
            <a:off x="250189" y="3078659"/>
            <a:ext cx="12018953" cy="1477328"/>
          </a:xfrm>
          <a:prstGeom prst="rect">
            <a:avLst/>
          </a:prstGeom>
          <a:noFill/>
        </p:spPr>
        <p:txBody>
          <a:bodyPr wrap="square" rtlCol="0">
            <a:spAutoFit/>
          </a:bodyPr>
          <a:lstStyle/>
          <a:p>
            <a:r>
              <a:rPr lang="en-US" b="1" dirty="0"/>
              <a:t>IEEE Xplore</a:t>
            </a:r>
            <a:r>
              <a:rPr lang="en-US" dirty="0"/>
              <a:t> – </a:t>
            </a:r>
            <a:r>
              <a:rPr lang="ka-GE" dirty="0"/>
              <a:t>ინფორმაციული ტექნოლოგიებისა და კომპიუტერული მეცნიერებების სფეროში ერთ-ერთი საუკეთესო პლატფორმაა, სადაც ბევრი სტატიაა ხელმისაწვდომი, მაგალითად:</a:t>
            </a:r>
          </a:p>
          <a:p>
            <a:r>
              <a:rPr lang="en-US" dirty="0"/>
              <a:t>„Blockchain technology and its application in cybersecurity.“</a:t>
            </a:r>
            <a:endParaRPr lang="ka-GE" dirty="0"/>
          </a:p>
          <a:p>
            <a:endParaRPr lang="ka-GE" dirty="0">
              <a:cs typeface="Calibri" panose="020F0502020204030204" pitchFamily="34" charset="0"/>
            </a:endParaRPr>
          </a:p>
          <a:p>
            <a:r>
              <a:rPr lang="en-US" b="1" dirty="0"/>
              <a:t>ACM Digital Library</a:t>
            </a:r>
            <a:r>
              <a:rPr lang="en-US" dirty="0"/>
              <a:t> – </a:t>
            </a:r>
            <a:r>
              <a:rPr lang="ka-GE" dirty="0"/>
              <a:t>კომპიუტერული მეცნიერებებისა და ინოვაციების მრავალი სტატია აქაც არის განთავსებული.</a:t>
            </a:r>
            <a:endParaRPr lang="en-US" dirty="0">
              <a:cs typeface="Calibri" panose="020F0502020204030204" pitchFamily="34" charset="0"/>
            </a:endParaRPr>
          </a:p>
        </p:txBody>
      </p:sp>
      <p:sp>
        <p:nvSpPr>
          <p:cNvPr id="12" name="Rectangle: Rounded Corners 11">
            <a:extLst>
              <a:ext uri="{FF2B5EF4-FFF2-40B4-BE49-F238E27FC236}">
                <a16:creationId xmlns:a16="http://schemas.microsoft.com/office/drawing/2014/main" id="{6935601C-5AF1-8CFF-0ED2-9D91BEF1F6DE}"/>
              </a:ext>
            </a:extLst>
          </p:cNvPr>
          <p:cNvSpPr/>
          <p:nvPr/>
        </p:nvSpPr>
        <p:spPr>
          <a:xfrm>
            <a:off x="250189" y="4716624"/>
            <a:ext cx="5069149" cy="408374"/>
          </a:xfrm>
          <a:prstGeom prst="roundRect">
            <a:avLst/>
          </a:prstGeom>
          <a:solidFill>
            <a:srgbClr val="1F23A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a-GE" sz="2000" dirty="0">
                <a:latin typeface="Calibri" panose="020F0502020204030204" pitchFamily="34" charset="0"/>
                <a:cs typeface="Calibri" panose="020F0502020204030204" pitchFamily="34" charset="0"/>
              </a:rPr>
              <a:t>ფსიქოლოგია</a:t>
            </a:r>
            <a:endParaRPr lang="en-US" sz="2000" dirty="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2000F888-0F54-3C75-5B72-C55B88940C54}"/>
              </a:ext>
            </a:extLst>
          </p:cNvPr>
          <p:cNvSpPr txBox="1"/>
          <p:nvPr/>
        </p:nvSpPr>
        <p:spPr>
          <a:xfrm>
            <a:off x="250188" y="5266682"/>
            <a:ext cx="12018953" cy="646331"/>
          </a:xfrm>
          <a:prstGeom prst="rect">
            <a:avLst/>
          </a:prstGeom>
          <a:noFill/>
        </p:spPr>
        <p:txBody>
          <a:bodyPr wrap="square">
            <a:spAutoFit/>
          </a:bodyPr>
          <a:lstStyle/>
          <a:p>
            <a:r>
              <a:rPr lang="en-US" b="1" dirty="0">
                <a:latin typeface="Calibri" panose="020F0502020204030204" pitchFamily="34" charset="0"/>
                <a:cs typeface="Calibri" panose="020F0502020204030204" pitchFamily="34" charset="0"/>
              </a:rPr>
              <a:t>PsycINFO</a:t>
            </a:r>
            <a:r>
              <a:rPr lang="en-US" dirty="0">
                <a:latin typeface="Calibri" panose="020F0502020204030204" pitchFamily="34" charset="0"/>
                <a:cs typeface="Calibri" panose="020F0502020204030204" pitchFamily="34" charset="0"/>
              </a:rPr>
              <a:t> – American Psychological Association-</a:t>
            </a:r>
            <a:r>
              <a:rPr lang="ka-GE" dirty="0">
                <a:latin typeface="Calibri" panose="020F0502020204030204" pitchFamily="34" charset="0"/>
                <a:cs typeface="Calibri" panose="020F0502020204030204" pitchFamily="34" charset="0"/>
              </a:rPr>
              <a:t>ის ბაზა ფსიქოლოგიის სფეროსთვის. მოძებნე სტატიები ისეთ თემებზე, როგორიცაა:„</a:t>
            </a:r>
            <a:r>
              <a:rPr lang="en-US" dirty="0">
                <a:latin typeface="Calibri" panose="020F0502020204030204" pitchFamily="34" charset="0"/>
                <a:cs typeface="Calibri" panose="020F0502020204030204" pitchFamily="34" charset="0"/>
              </a:rPr>
              <a:t>The effects of mindfulness on anxiety and depression.“</a:t>
            </a:r>
          </a:p>
        </p:txBody>
      </p:sp>
      <p:sp>
        <p:nvSpPr>
          <p:cNvPr id="22" name="TextBox 21">
            <a:extLst>
              <a:ext uri="{FF2B5EF4-FFF2-40B4-BE49-F238E27FC236}">
                <a16:creationId xmlns:a16="http://schemas.microsoft.com/office/drawing/2014/main" id="{2E6CAA5F-B4E2-1A11-FEB0-90D7BD85B0EF}"/>
              </a:ext>
            </a:extLst>
          </p:cNvPr>
          <p:cNvSpPr txBox="1"/>
          <p:nvPr/>
        </p:nvSpPr>
        <p:spPr>
          <a:xfrm>
            <a:off x="5642573" y="749737"/>
            <a:ext cx="6142776" cy="369332"/>
          </a:xfrm>
          <a:prstGeom prst="rect">
            <a:avLst/>
          </a:prstGeom>
          <a:noFill/>
        </p:spPr>
        <p:txBody>
          <a:bodyPr wrap="square">
            <a:spAutoFit/>
          </a:bodyPr>
          <a:lstStyle/>
          <a:p>
            <a:r>
              <a:rPr lang="en-US" dirty="0">
                <a:solidFill>
                  <a:srgbClr val="1F23A9"/>
                </a:solidFill>
              </a:rPr>
              <a:t>https://intapi.sciendo.com/pdf/10.2478/sbe-2024-0027</a:t>
            </a:r>
          </a:p>
        </p:txBody>
      </p:sp>
      <p:sp>
        <p:nvSpPr>
          <p:cNvPr id="24" name="TextBox 23">
            <a:extLst>
              <a:ext uri="{FF2B5EF4-FFF2-40B4-BE49-F238E27FC236}">
                <a16:creationId xmlns:a16="http://schemas.microsoft.com/office/drawing/2014/main" id="{646393DF-C082-80C6-B4B4-F58E43363E88}"/>
              </a:ext>
            </a:extLst>
          </p:cNvPr>
          <p:cNvSpPr txBox="1"/>
          <p:nvPr/>
        </p:nvSpPr>
        <p:spPr>
          <a:xfrm>
            <a:off x="5642573" y="4620351"/>
            <a:ext cx="6299238" cy="646331"/>
          </a:xfrm>
          <a:prstGeom prst="rect">
            <a:avLst/>
          </a:prstGeom>
          <a:noFill/>
        </p:spPr>
        <p:txBody>
          <a:bodyPr wrap="square">
            <a:spAutoFit/>
          </a:bodyPr>
          <a:lstStyle/>
          <a:p>
            <a:r>
              <a:rPr lang="en-US" dirty="0">
                <a:solidFill>
                  <a:srgbClr val="1F23A9"/>
                </a:solidFill>
              </a:rPr>
              <a:t>https://www.apa.org/depression-guideline/mindfulness-cognitive-therapy-adults.pdf</a:t>
            </a:r>
          </a:p>
        </p:txBody>
      </p:sp>
    </p:spTree>
    <p:extLst>
      <p:ext uri="{BB962C8B-B14F-4D97-AF65-F5344CB8AC3E}">
        <p14:creationId xmlns:p14="http://schemas.microsoft.com/office/powerpoint/2010/main" val="1752622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3BA03945-0977-671F-6AB3-39D6E59BD596}"/>
              </a:ext>
            </a:extLst>
          </p:cNvPr>
          <p:cNvSpPr/>
          <p:nvPr/>
        </p:nvSpPr>
        <p:spPr>
          <a:xfrm>
            <a:off x="332217" y="258301"/>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C3BF5F-F09D-90C8-EAD2-C3ABEE654A75}"/>
              </a:ext>
            </a:extLst>
          </p:cNvPr>
          <p:cNvSpPr/>
          <p:nvPr/>
        </p:nvSpPr>
        <p:spPr>
          <a:xfrm>
            <a:off x="332218" y="2063194"/>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D15A9D9-E687-F0FE-F26B-718DA72933B1}"/>
              </a:ext>
            </a:extLst>
          </p:cNvPr>
          <p:cNvSpPr/>
          <p:nvPr/>
        </p:nvSpPr>
        <p:spPr>
          <a:xfrm>
            <a:off x="253448" y="3869369"/>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03F3D0DF-7F52-B773-4465-2EEDF00F836C}"/>
              </a:ext>
            </a:extLst>
          </p:cNvPr>
          <p:cNvSpPr/>
          <p:nvPr/>
        </p:nvSpPr>
        <p:spPr>
          <a:xfrm>
            <a:off x="253448" y="5108976"/>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D37B668-7CD2-5FFA-D8DA-5BB8F5184E9F}"/>
              </a:ext>
            </a:extLst>
          </p:cNvPr>
          <p:cNvSpPr txBox="1"/>
          <p:nvPr/>
        </p:nvSpPr>
        <p:spPr>
          <a:xfrm>
            <a:off x="332217" y="0"/>
            <a:ext cx="9843380"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1. რა არის აბსტრაქტი და რა ინფორმაცია უნდა მოიცავდეს?</a:t>
            </a:r>
          </a:p>
          <a:p>
            <a:r>
              <a:rPr lang="ka-GE" dirty="0">
                <a:latin typeface="Calibri" panose="020F0502020204030204" pitchFamily="34" charset="0"/>
                <a:cs typeface="Calibri" panose="020F0502020204030204" pitchFamily="34" charset="0"/>
              </a:rPr>
              <a:t>ა) მოკლე შეჯამება, რომელიც შეიცავს კვლევის მიზნებს, მეთოდებს, შედეგებს და დასკვნებს</a:t>
            </a:r>
          </a:p>
          <a:p>
            <a:r>
              <a:rPr lang="ka-GE" dirty="0">
                <a:latin typeface="Calibri" panose="020F0502020204030204" pitchFamily="34" charset="0"/>
                <a:cs typeface="Calibri" panose="020F0502020204030204" pitchFamily="34" charset="0"/>
              </a:rPr>
              <a:t>ბ) მხოლოდ შესავალის ნაწილი</a:t>
            </a:r>
          </a:p>
          <a:p>
            <a:r>
              <a:rPr lang="ka-GE" dirty="0">
                <a:latin typeface="Calibri" panose="020F0502020204030204" pitchFamily="34" charset="0"/>
                <a:cs typeface="Calibri" panose="020F0502020204030204" pitchFamily="34" charset="0"/>
              </a:rPr>
              <a:t>გ) კვლევის მხოლოდ მეთოდების აღწერა</a:t>
            </a:r>
          </a:p>
          <a:p>
            <a:r>
              <a:rPr lang="ka-GE" dirty="0">
                <a:latin typeface="Calibri" panose="020F0502020204030204" pitchFamily="34" charset="0"/>
                <a:cs typeface="Calibri" panose="020F0502020204030204" pitchFamily="34" charset="0"/>
              </a:rPr>
              <a:t>დ) კვლევის დასკვნები და ლიტერატურა</a:t>
            </a:r>
          </a:p>
        </p:txBody>
      </p:sp>
      <p:sp>
        <p:nvSpPr>
          <p:cNvPr id="5" name="TextBox 4">
            <a:extLst>
              <a:ext uri="{FF2B5EF4-FFF2-40B4-BE49-F238E27FC236}">
                <a16:creationId xmlns:a16="http://schemas.microsoft.com/office/drawing/2014/main" id="{E2990275-E438-64F4-3B68-18C362815EB6}"/>
              </a:ext>
            </a:extLst>
          </p:cNvPr>
          <p:cNvSpPr txBox="1"/>
          <p:nvPr/>
        </p:nvSpPr>
        <p:spPr>
          <a:xfrm>
            <a:off x="332217" y="1519839"/>
            <a:ext cx="6097508"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2. შესავალი რომელ კომპონენტებს უნდა შეიცავდეს?</a:t>
            </a:r>
          </a:p>
          <a:p>
            <a:r>
              <a:rPr lang="ka-GE" dirty="0">
                <a:latin typeface="Calibri" panose="020F0502020204030204" pitchFamily="34" charset="0"/>
                <a:cs typeface="Calibri" panose="020F0502020204030204" pitchFamily="34" charset="0"/>
              </a:rPr>
              <a:t>ა) კვლევის ძირითადი შედეგები</a:t>
            </a:r>
          </a:p>
          <a:p>
            <a:r>
              <a:rPr lang="ka-GE" dirty="0">
                <a:latin typeface="Calibri" panose="020F0502020204030204" pitchFamily="34" charset="0"/>
                <a:cs typeface="Calibri" panose="020F0502020204030204" pitchFamily="34" charset="0"/>
              </a:rPr>
              <a:t>ბ) პრობლემის აღწერა და კვლევის მიზნები</a:t>
            </a:r>
          </a:p>
          <a:p>
            <a:r>
              <a:rPr lang="ka-GE" dirty="0">
                <a:latin typeface="Calibri" panose="020F0502020204030204" pitchFamily="34" charset="0"/>
                <a:cs typeface="Calibri" panose="020F0502020204030204" pitchFamily="34" charset="0"/>
              </a:rPr>
              <a:t>გ) მეთოდოლოგია და ლიტერატურა</a:t>
            </a:r>
          </a:p>
          <a:p>
            <a:r>
              <a:rPr lang="ka-GE" dirty="0">
                <a:latin typeface="Calibri" panose="020F0502020204030204" pitchFamily="34" charset="0"/>
                <a:cs typeface="Calibri" panose="020F0502020204030204" pitchFamily="34" charset="0"/>
              </a:rPr>
              <a:t>დ) კვლევის რეკომენდაციები</a:t>
            </a:r>
          </a:p>
        </p:txBody>
      </p:sp>
      <p:sp>
        <p:nvSpPr>
          <p:cNvPr id="7" name="TextBox 6">
            <a:extLst>
              <a:ext uri="{FF2B5EF4-FFF2-40B4-BE49-F238E27FC236}">
                <a16:creationId xmlns:a16="http://schemas.microsoft.com/office/drawing/2014/main" id="{6764F992-26AB-E6C9-BF1C-CAC91912CF9A}"/>
              </a:ext>
            </a:extLst>
          </p:cNvPr>
          <p:cNvSpPr txBox="1"/>
          <p:nvPr/>
        </p:nvSpPr>
        <p:spPr>
          <a:xfrm>
            <a:off x="332217" y="3018126"/>
            <a:ext cx="7761083"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3. მეთოდოლოგიის ნაწილში რა ინფორმაცია უნდა აღინიშნოს?</a:t>
            </a:r>
          </a:p>
          <a:p>
            <a:r>
              <a:rPr lang="ka-GE" dirty="0">
                <a:latin typeface="Calibri" panose="020F0502020204030204" pitchFamily="34" charset="0"/>
                <a:cs typeface="Calibri" panose="020F0502020204030204" pitchFamily="34" charset="0"/>
              </a:rPr>
              <a:t>ა) კვლევის შედეგები</a:t>
            </a:r>
          </a:p>
          <a:p>
            <a:r>
              <a:rPr lang="ka-GE" dirty="0">
                <a:latin typeface="Calibri" panose="020F0502020204030204" pitchFamily="34" charset="0"/>
                <a:cs typeface="Calibri" panose="020F0502020204030204" pitchFamily="34" charset="0"/>
              </a:rPr>
              <a:t>ბ) კვლევის მასალების სია</a:t>
            </a:r>
          </a:p>
          <a:p>
            <a:r>
              <a:rPr lang="ka-GE" dirty="0">
                <a:latin typeface="Calibri" panose="020F0502020204030204" pitchFamily="34" charset="0"/>
                <a:cs typeface="Calibri" panose="020F0502020204030204" pitchFamily="34" charset="0"/>
              </a:rPr>
              <a:t>გ) გამოყენებული მეთოდები და კვლევის ჩატარების დეტალები</a:t>
            </a:r>
          </a:p>
          <a:p>
            <a:r>
              <a:rPr lang="ka-GE" dirty="0">
                <a:latin typeface="Calibri" panose="020F0502020204030204" pitchFamily="34" charset="0"/>
                <a:cs typeface="Calibri" panose="020F0502020204030204" pitchFamily="34" charset="0"/>
              </a:rPr>
              <a:t>დ) ლიტერატურის მიმოხილვა</a:t>
            </a:r>
          </a:p>
        </p:txBody>
      </p:sp>
      <p:sp>
        <p:nvSpPr>
          <p:cNvPr id="9" name="TextBox 8">
            <a:extLst>
              <a:ext uri="{FF2B5EF4-FFF2-40B4-BE49-F238E27FC236}">
                <a16:creationId xmlns:a16="http://schemas.microsoft.com/office/drawing/2014/main" id="{1A4C48DB-7650-F8AD-90BD-D9F3BE07CB0A}"/>
              </a:ext>
            </a:extLst>
          </p:cNvPr>
          <p:cNvSpPr txBox="1"/>
          <p:nvPr/>
        </p:nvSpPr>
        <p:spPr>
          <a:xfrm>
            <a:off x="332216" y="4587173"/>
            <a:ext cx="10206017"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4. რა არის კვლევის მასალები?</a:t>
            </a:r>
          </a:p>
          <a:p>
            <a:r>
              <a:rPr lang="ka-GE" dirty="0">
                <a:latin typeface="Calibri" panose="020F0502020204030204" pitchFamily="34" charset="0"/>
                <a:cs typeface="Calibri" panose="020F0502020204030204" pitchFamily="34" charset="0"/>
              </a:rPr>
              <a:t>ა) ყველა გამოყენებული ტექნიკა და პროგრამა</a:t>
            </a:r>
          </a:p>
          <a:p>
            <a:r>
              <a:rPr lang="ka-GE" dirty="0">
                <a:latin typeface="Calibri" panose="020F0502020204030204" pitchFamily="34" charset="0"/>
                <a:cs typeface="Calibri" panose="020F0502020204030204" pitchFamily="34" charset="0"/>
              </a:rPr>
              <a:t>ბ) რესურსების სია, რომელიც კვლევაში გამოიყენეთ (მაგ., კითხვარები, აპარატურა)</a:t>
            </a:r>
          </a:p>
          <a:p>
            <a:r>
              <a:rPr lang="ka-GE" dirty="0">
                <a:latin typeface="Calibri" panose="020F0502020204030204" pitchFamily="34" charset="0"/>
                <a:cs typeface="Calibri" panose="020F0502020204030204" pitchFamily="34" charset="0"/>
              </a:rPr>
              <a:t>გ) ლიტერატურის სია</a:t>
            </a:r>
          </a:p>
          <a:p>
            <a:r>
              <a:rPr lang="ka-GE" dirty="0">
                <a:latin typeface="Calibri" panose="020F0502020204030204" pitchFamily="34" charset="0"/>
                <a:cs typeface="Calibri" panose="020F0502020204030204" pitchFamily="34" charset="0"/>
              </a:rPr>
              <a:t>დ) მხოლოდ კვლევის მეთოდები</a:t>
            </a:r>
          </a:p>
        </p:txBody>
      </p:sp>
    </p:spTree>
    <p:extLst>
      <p:ext uri="{BB962C8B-B14F-4D97-AF65-F5344CB8AC3E}">
        <p14:creationId xmlns:p14="http://schemas.microsoft.com/office/powerpoint/2010/main" val="174991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heel(1)">
                                      <p:cBhvr>
                                        <p:cTn id="12" dur="2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heel(1)">
                                      <p:cBhvr>
                                        <p:cTn id="17" dur="2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heel(1)">
                                      <p:cBhvr>
                                        <p:cTn id="22"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8F32FC3-F747-04E9-35FA-2C786471CBEC}"/>
              </a:ext>
            </a:extLst>
          </p:cNvPr>
          <p:cNvSpPr txBox="1"/>
          <p:nvPr/>
        </p:nvSpPr>
        <p:spPr>
          <a:xfrm>
            <a:off x="268794" y="43152"/>
            <a:ext cx="9381653"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5. როგორ არის წარმოდგენილი კვლევის შედეგები?</a:t>
            </a:r>
          </a:p>
          <a:p>
            <a:r>
              <a:rPr lang="ka-GE" dirty="0">
                <a:latin typeface="Calibri" panose="020F0502020204030204" pitchFamily="34" charset="0"/>
                <a:cs typeface="Calibri" panose="020F0502020204030204" pitchFamily="34" charset="0"/>
              </a:rPr>
              <a:t>ა) მხოლოდ ტექსტური ფორმით</a:t>
            </a:r>
          </a:p>
          <a:p>
            <a:r>
              <a:rPr lang="ka-GE" dirty="0">
                <a:latin typeface="Calibri" panose="020F0502020204030204" pitchFamily="34" charset="0"/>
                <a:cs typeface="Calibri" panose="020F0502020204030204" pitchFamily="34" charset="0"/>
              </a:rPr>
              <a:t>ბ) ცხრილების, გრაფიკების და ვიზუალური ინფორმაციის საშუალებით</a:t>
            </a:r>
          </a:p>
          <a:p>
            <a:r>
              <a:rPr lang="ka-GE" dirty="0">
                <a:latin typeface="Calibri" panose="020F0502020204030204" pitchFamily="34" charset="0"/>
                <a:cs typeface="Calibri" panose="020F0502020204030204" pitchFamily="34" charset="0"/>
              </a:rPr>
              <a:t>გ) მხოლოდ შეჯამებითი დასკვნების სახით</a:t>
            </a:r>
          </a:p>
          <a:p>
            <a:r>
              <a:rPr lang="ka-GE" dirty="0">
                <a:latin typeface="Calibri" panose="020F0502020204030204" pitchFamily="34" charset="0"/>
                <a:cs typeface="Calibri" panose="020F0502020204030204" pitchFamily="34" charset="0"/>
              </a:rPr>
              <a:t>დ) მხოლოდ კითხვარის შედეგებით</a:t>
            </a:r>
          </a:p>
        </p:txBody>
      </p:sp>
      <p:sp>
        <p:nvSpPr>
          <p:cNvPr id="12" name="Freeform: Shape 11">
            <a:extLst>
              <a:ext uri="{FF2B5EF4-FFF2-40B4-BE49-F238E27FC236}">
                <a16:creationId xmlns:a16="http://schemas.microsoft.com/office/drawing/2014/main" id="{3BA03945-0977-671F-6AB3-39D6E59BD596}"/>
              </a:ext>
            </a:extLst>
          </p:cNvPr>
          <p:cNvSpPr/>
          <p:nvPr/>
        </p:nvSpPr>
        <p:spPr>
          <a:xfrm>
            <a:off x="284189" y="586507"/>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C3BF5F-F09D-90C8-EAD2-C3ABEE654A75}"/>
              </a:ext>
            </a:extLst>
          </p:cNvPr>
          <p:cNvSpPr/>
          <p:nvPr/>
        </p:nvSpPr>
        <p:spPr>
          <a:xfrm>
            <a:off x="332218" y="2063194"/>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D15A9D9-E687-F0FE-F26B-718DA72933B1}"/>
              </a:ext>
            </a:extLst>
          </p:cNvPr>
          <p:cNvSpPr/>
          <p:nvPr/>
        </p:nvSpPr>
        <p:spPr>
          <a:xfrm>
            <a:off x="320354" y="3359806"/>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03F3D0DF-7F52-B773-4465-2EEDF00F836C}"/>
              </a:ext>
            </a:extLst>
          </p:cNvPr>
          <p:cNvSpPr/>
          <p:nvPr/>
        </p:nvSpPr>
        <p:spPr>
          <a:xfrm>
            <a:off x="386536" y="5194510"/>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D98B7535-F8BB-1269-27B5-671450E2F928}"/>
              </a:ext>
            </a:extLst>
          </p:cNvPr>
          <p:cNvSpPr txBox="1"/>
          <p:nvPr/>
        </p:nvSpPr>
        <p:spPr>
          <a:xfrm>
            <a:off x="332218" y="1544074"/>
            <a:ext cx="8421986"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6. რა უნდა მოიცავდეს დასკვნის ნაწილი?</a:t>
            </a:r>
          </a:p>
          <a:p>
            <a:r>
              <a:rPr lang="ka-GE" dirty="0">
                <a:latin typeface="Calibri" panose="020F0502020204030204" pitchFamily="34" charset="0"/>
                <a:cs typeface="Calibri" panose="020F0502020204030204" pitchFamily="34" charset="0"/>
              </a:rPr>
              <a:t>ა) კვლევის მიზნებს</a:t>
            </a:r>
          </a:p>
          <a:p>
            <a:r>
              <a:rPr lang="ka-GE" dirty="0">
                <a:latin typeface="Calibri" panose="020F0502020204030204" pitchFamily="34" charset="0"/>
                <a:cs typeface="Calibri" panose="020F0502020204030204" pitchFamily="34" charset="0"/>
              </a:rPr>
              <a:t>ბ) რეკომენდაციებს და მომავალი კვლევის მიმართულებებს</a:t>
            </a:r>
          </a:p>
          <a:p>
            <a:r>
              <a:rPr lang="ka-GE" dirty="0">
                <a:latin typeface="Calibri" panose="020F0502020204030204" pitchFamily="34" charset="0"/>
                <a:cs typeface="Calibri" panose="020F0502020204030204" pitchFamily="34" charset="0"/>
              </a:rPr>
              <a:t>გ) კვლევის პროცესის დეტალურ აღწერას</a:t>
            </a:r>
          </a:p>
          <a:p>
            <a:r>
              <a:rPr lang="ka-GE" dirty="0">
                <a:latin typeface="Calibri" panose="020F0502020204030204" pitchFamily="34" charset="0"/>
                <a:cs typeface="Calibri" panose="020F0502020204030204" pitchFamily="34" charset="0"/>
              </a:rPr>
              <a:t>დ) ლიტერატურის სია</a:t>
            </a:r>
          </a:p>
        </p:txBody>
      </p:sp>
      <p:sp>
        <p:nvSpPr>
          <p:cNvPr id="11" name="TextBox 10">
            <a:extLst>
              <a:ext uri="{FF2B5EF4-FFF2-40B4-BE49-F238E27FC236}">
                <a16:creationId xmlns:a16="http://schemas.microsoft.com/office/drawing/2014/main" id="{A6DC15DC-EAF6-58CE-A4D0-F92D49B554E5}"/>
              </a:ext>
            </a:extLst>
          </p:cNvPr>
          <p:cNvSpPr txBox="1"/>
          <p:nvPr/>
        </p:nvSpPr>
        <p:spPr>
          <a:xfrm>
            <a:off x="386536" y="3097935"/>
            <a:ext cx="6097508"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7. რაში მდგომარეობს ლიტერატურის ნაწილი?</a:t>
            </a:r>
          </a:p>
          <a:p>
            <a:r>
              <a:rPr lang="ka-GE" dirty="0">
                <a:latin typeface="Calibri" panose="020F0502020204030204" pitchFamily="34" charset="0"/>
                <a:cs typeface="Calibri" panose="020F0502020204030204" pitchFamily="34" charset="0"/>
              </a:rPr>
              <a:t>ა) კვლევაში გამოყენებული წყაროების სია</a:t>
            </a:r>
          </a:p>
          <a:p>
            <a:r>
              <a:rPr lang="ka-GE" dirty="0">
                <a:latin typeface="Calibri" panose="020F0502020204030204" pitchFamily="34" charset="0"/>
                <a:cs typeface="Calibri" panose="020F0502020204030204" pitchFamily="34" charset="0"/>
              </a:rPr>
              <a:t>ბ) კვლევის მეთოდების აღწერა</a:t>
            </a:r>
          </a:p>
          <a:p>
            <a:r>
              <a:rPr lang="ka-GE" dirty="0">
                <a:latin typeface="Calibri" panose="020F0502020204030204" pitchFamily="34" charset="0"/>
                <a:cs typeface="Calibri" panose="020F0502020204030204" pitchFamily="34" charset="0"/>
              </a:rPr>
              <a:t>გ) ცხრილების და გრაფიკების შეჯამება</a:t>
            </a:r>
          </a:p>
          <a:p>
            <a:r>
              <a:rPr lang="ka-GE" dirty="0">
                <a:latin typeface="Calibri" panose="020F0502020204030204" pitchFamily="34" charset="0"/>
                <a:cs typeface="Calibri" panose="020F0502020204030204" pitchFamily="34" charset="0"/>
              </a:rPr>
              <a:t>დ) კვლევის შედეგები</a:t>
            </a:r>
          </a:p>
        </p:txBody>
      </p:sp>
      <p:sp>
        <p:nvSpPr>
          <p:cNvPr id="17" name="TextBox 16">
            <a:extLst>
              <a:ext uri="{FF2B5EF4-FFF2-40B4-BE49-F238E27FC236}">
                <a16:creationId xmlns:a16="http://schemas.microsoft.com/office/drawing/2014/main" id="{5F31D8C8-0EB5-676A-7426-F38471EFD70B}"/>
              </a:ext>
            </a:extLst>
          </p:cNvPr>
          <p:cNvSpPr txBox="1"/>
          <p:nvPr/>
        </p:nvSpPr>
        <p:spPr>
          <a:xfrm>
            <a:off x="386536" y="4651796"/>
            <a:ext cx="10206016"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8. რა ტიპის ფორმატი უნდა გამოვიყენოთ ლიტერატურისთვის?</a:t>
            </a:r>
          </a:p>
          <a:p>
            <a:r>
              <a:rPr lang="ka-GE" dirty="0">
                <a:latin typeface="Calibri" panose="020F0502020204030204" pitchFamily="34" charset="0"/>
                <a:cs typeface="Calibri" panose="020F0502020204030204" pitchFamily="34" charset="0"/>
              </a:rPr>
              <a:t>ა) ნებისმიერი თავისუფალი ფორმატი</a:t>
            </a:r>
          </a:p>
          <a:p>
            <a:r>
              <a:rPr lang="ka-GE" dirty="0">
                <a:latin typeface="Calibri" panose="020F0502020204030204" pitchFamily="34" charset="0"/>
                <a:cs typeface="Calibri" panose="020F0502020204030204" pitchFamily="34" charset="0"/>
              </a:rPr>
              <a:t>ბ) სტანდარტული ფორმატები, როგორიცაა </a:t>
            </a:r>
            <a:r>
              <a:rPr lang="en-US" dirty="0">
                <a:latin typeface="Calibri" panose="020F0502020204030204" pitchFamily="34" charset="0"/>
                <a:cs typeface="Calibri" panose="020F0502020204030204" pitchFamily="34" charset="0"/>
              </a:rPr>
              <a:t>APA </a:t>
            </a:r>
            <a:r>
              <a:rPr lang="ka-GE" dirty="0">
                <a:latin typeface="Calibri" panose="020F0502020204030204" pitchFamily="34" charset="0"/>
                <a:cs typeface="Calibri" panose="020F0502020204030204" pitchFamily="34" charset="0"/>
              </a:rPr>
              <a:t>ან </a:t>
            </a:r>
            <a:r>
              <a:rPr lang="en-US" dirty="0">
                <a:latin typeface="Calibri" panose="020F0502020204030204" pitchFamily="34" charset="0"/>
                <a:cs typeface="Calibri" panose="020F0502020204030204" pitchFamily="34" charset="0"/>
              </a:rPr>
              <a:t>MLA</a:t>
            </a:r>
          </a:p>
          <a:p>
            <a:r>
              <a:rPr lang="ka-GE" dirty="0">
                <a:latin typeface="Calibri" panose="020F0502020204030204" pitchFamily="34" charset="0"/>
                <a:cs typeface="Calibri" panose="020F0502020204030204" pitchFamily="34" charset="0"/>
              </a:rPr>
              <a:t>გ) მხოლოდ </a:t>
            </a:r>
            <a:r>
              <a:rPr lang="en-US" dirty="0">
                <a:latin typeface="Calibri" panose="020F0502020204030204" pitchFamily="34" charset="0"/>
                <a:cs typeface="Calibri" panose="020F0502020204030204" pitchFamily="34" charset="0"/>
              </a:rPr>
              <a:t>URL-</a:t>
            </a:r>
            <a:r>
              <a:rPr lang="ka-GE" dirty="0">
                <a:latin typeface="Calibri" panose="020F0502020204030204" pitchFamily="34" charset="0"/>
                <a:cs typeface="Calibri" panose="020F0502020204030204" pitchFamily="34" charset="0"/>
              </a:rPr>
              <a:t>ბმულები</a:t>
            </a:r>
          </a:p>
          <a:p>
            <a:r>
              <a:rPr lang="ka-GE" dirty="0">
                <a:latin typeface="Calibri" panose="020F0502020204030204" pitchFamily="34" charset="0"/>
                <a:cs typeface="Calibri" panose="020F0502020204030204" pitchFamily="34" charset="0"/>
              </a:rPr>
              <a:t>დ) </a:t>
            </a:r>
            <a:r>
              <a:rPr lang="en-US" dirty="0">
                <a:latin typeface="Calibri" panose="020F0502020204030204" pitchFamily="34" charset="0"/>
                <a:cs typeface="Calibri" panose="020F0502020204030204" pitchFamily="34" charset="0"/>
              </a:rPr>
              <a:t>PDF </a:t>
            </a:r>
            <a:r>
              <a:rPr lang="ka-GE" dirty="0">
                <a:latin typeface="Calibri" panose="020F0502020204030204" pitchFamily="34" charset="0"/>
                <a:cs typeface="Calibri" panose="020F0502020204030204" pitchFamily="34" charset="0"/>
              </a:rPr>
              <a:t>ფორმატი</a:t>
            </a:r>
          </a:p>
        </p:txBody>
      </p:sp>
    </p:spTree>
    <p:extLst>
      <p:ext uri="{BB962C8B-B14F-4D97-AF65-F5344CB8AC3E}">
        <p14:creationId xmlns:p14="http://schemas.microsoft.com/office/powerpoint/2010/main" val="348219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heel(1)">
                                      <p:cBhvr>
                                        <p:cTn id="12" dur="2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heel(1)">
                                      <p:cBhvr>
                                        <p:cTn id="17" dur="2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heel(1)">
                                      <p:cBhvr>
                                        <p:cTn id="22"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4042" y="586856"/>
            <a:ext cx="2401025" cy="3387497"/>
          </a:xfrm>
        </p:spPr>
        <p:txBody>
          <a:bodyPr anchor="b">
            <a:normAutofit/>
          </a:bodyPr>
          <a:lstStyle/>
          <a:p>
            <a:pPr algn="r"/>
            <a:r>
              <a:rPr lang="ka-GE" sz="3500" dirty="0">
                <a:solidFill>
                  <a:srgbClr val="FFFFFF"/>
                </a:solidFill>
                <a:latin typeface="Calibri" panose="020F0502020204030204" pitchFamily="34" charset="0"/>
                <a:cs typeface="Calibri" panose="020F0502020204030204" pitchFamily="34" charset="0"/>
              </a:rPr>
              <a:t>დასკვნა და </a:t>
            </a:r>
            <a:br>
              <a:rPr lang="ka-GE" sz="3500" dirty="0">
                <a:solidFill>
                  <a:srgbClr val="FFFFFF"/>
                </a:solidFill>
                <a:latin typeface="Calibri" panose="020F0502020204030204" pitchFamily="34" charset="0"/>
                <a:cs typeface="Calibri" panose="020F0502020204030204" pitchFamily="34" charset="0"/>
              </a:rPr>
            </a:br>
            <a:r>
              <a:rPr lang="ka-GE" sz="3500" dirty="0">
                <a:solidFill>
                  <a:srgbClr val="FFFFFF"/>
                </a:solidFill>
                <a:latin typeface="Calibri" panose="020F0502020204030204" pitchFamily="34" charset="0"/>
                <a:cs typeface="Calibri" panose="020F0502020204030204" pitchFamily="34" charset="0"/>
              </a:rPr>
              <a:t>კითხვა-პასუხი</a:t>
            </a:r>
          </a:p>
        </p:txBody>
      </p:sp>
      <p:pic>
        <p:nvPicPr>
          <p:cNvPr id="4" name="Picture 2" descr="BTU • ბიზნესისა და ტექნოლოგიების უნივერსიტეტი | Tbilisi">
            <a:extLst>
              <a:ext uri="{FF2B5EF4-FFF2-40B4-BE49-F238E27FC236}">
                <a16:creationId xmlns:a16="http://schemas.microsoft.com/office/drawing/2014/main" id="{29E55A58-4C48-276F-6FEC-17736EE844A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232704" y="586856"/>
            <a:ext cx="3065526" cy="3065526"/>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2066D532-E7C9-0288-763B-92047D449D2E}"/>
              </a:ext>
            </a:extLst>
          </p:cNvPr>
          <p:cNvSpPr txBox="1">
            <a:spLocks/>
          </p:cNvSpPr>
          <p:nvPr/>
        </p:nvSpPr>
        <p:spPr>
          <a:xfrm>
            <a:off x="623984" y="4601575"/>
            <a:ext cx="7092672" cy="1690409"/>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ka-GE" sz="2100" b="1">
                <a:latin typeface="Calibri" panose="020F0502020204030204" pitchFamily="34" charset="0"/>
                <a:cs typeface="Calibri" panose="020F0502020204030204" pitchFamily="34" charset="0"/>
              </a:rPr>
              <a:t>ჭირი იქა, ლხინი აქა, </a:t>
            </a:r>
            <a:br>
              <a:rPr lang="ka-GE" sz="2100" b="1">
                <a:latin typeface="Calibri" panose="020F0502020204030204" pitchFamily="34" charset="0"/>
                <a:cs typeface="Calibri" panose="020F0502020204030204" pitchFamily="34" charset="0"/>
              </a:rPr>
            </a:br>
            <a:r>
              <a:rPr lang="ka-GE" sz="2100" b="1">
                <a:latin typeface="Calibri" panose="020F0502020204030204" pitchFamily="34" charset="0"/>
                <a:cs typeface="Calibri" panose="020F0502020204030204" pitchFamily="34" charset="0"/>
              </a:rPr>
              <a:t>მეოთხე ლექცია იქა, სახლში წასვლა აქა!</a:t>
            </a:r>
            <a:br>
              <a:rPr lang="ka-GE" sz="2100" b="1">
                <a:latin typeface="Calibri" panose="020F0502020204030204" pitchFamily="34" charset="0"/>
                <a:cs typeface="Calibri" panose="020F0502020204030204" pitchFamily="34" charset="0"/>
              </a:rPr>
            </a:br>
            <a:br>
              <a:rPr lang="ka-GE" sz="2100">
                <a:latin typeface="Calibri" panose="020F0502020204030204" pitchFamily="34" charset="0"/>
                <a:cs typeface="Calibri" panose="020F0502020204030204" pitchFamily="34" charset="0"/>
              </a:rPr>
            </a:br>
            <a:r>
              <a:rPr lang="ka-GE" sz="2100" b="1">
                <a:latin typeface="Calibri" panose="020F0502020204030204" pitchFamily="34" charset="0"/>
                <a:cs typeface="Calibri" panose="020F0502020204030204" pitchFamily="34" charset="0"/>
              </a:rPr>
              <a:t>ლექტ. </a:t>
            </a:r>
            <a:r>
              <a:rPr lang="ka-GE" sz="2100">
                <a:latin typeface="Calibri" panose="020F0502020204030204" pitchFamily="34" charset="0"/>
                <a:cs typeface="Calibri" panose="020F0502020204030204" pitchFamily="34" charset="0"/>
              </a:rPr>
              <a:t>გიორგი რატიანი</a:t>
            </a:r>
            <a:endParaRPr lang="ka-GE" sz="2100" dirty="0">
              <a:latin typeface="Calibri" panose="020F0502020204030204" pitchFamily="34" charset="0"/>
              <a:cs typeface="Calibri" panose="020F0502020204030204" pitchFamily="34" charset="0"/>
            </a:endParaRPr>
          </a:p>
        </p:txBody>
      </p:sp>
      <p:pic>
        <p:nvPicPr>
          <p:cNvPr id="8" name="Picture 4" descr="ქართული ზღაპრები, რომელთა აუდიოჩანაწერიც შეიძლება მშობლებმა შვილებს  მოასმენინონ | imedinews">
            <a:extLst>
              <a:ext uri="{FF2B5EF4-FFF2-40B4-BE49-F238E27FC236}">
                <a16:creationId xmlns:a16="http://schemas.microsoft.com/office/drawing/2014/main" id="{6D09FB9A-5DFF-4657-6822-A86BD98671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1" y="16358"/>
            <a:ext cx="7716657" cy="44996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649</TotalTime>
  <Words>1259</Words>
  <Application>Microsoft Office PowerPoint</Application>
  <PresentationFormat>Widescreen</PresentationFormat>
  <Paragraphs>162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სამეცნიერო სტატიის შემადგენელი კომპონენტები  შესავალი, მეთოდები, მასალები, შედეგები, დასკვნა, ლიტერატურა   ლექტ. გიორგი რატიანი</vt:lpstr>
      <vt:lpstr>სამეცნიერო სტატიის კომპონენტები</vt:lpstr>
      <vt:lpstr>სამეცნიერო სტატიის კომპონენტები</vt:lpstr>
      <vt:lpstr>სამეცნიერო სტატიის კომპონენტები</vt:lpstr>
      <vt:lpstr>სამეცნიერო სტატიის კომპონენტები</vt:lpstr>
      <vt:lpstr>სამეცნიერო სტატიის კომპონენტები</vt:lpstr>
      <vt:lpstr>სამეცნიერო სტატიის კომპონენტები</vt:lpstr>
      <vt:lpstr>სამეცნიერო სტატიის კომპონენტები</vt:lpstr>
      <vt:lpstr>სამეცნიერო სტატიის კომპონენტები</vt:lpstr>
      <vt:lpstr>სამეცნიერო სტატიის კომპონენტები</vt:lpstr>
      <vt:lpstr>სამეცნიერო სტატიის მაგალითები</vt:lpstr>
      <vt:lpstr>PowerPoint Presentation</vt:lpstr>
      <vt:lpstr>PowerPoint Presentation</vt:lpstr>
      <vt:lpstr>დასკვნა და  კითხვა-პასუხი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Giorgi Ratiani</cp:lastModifiedBy>
  <cp:revision>76</cp:revision>
  <dcterms:created xsi:type="dcterms:W3CDTF">2021-03-10T15:14:38Z</dcterms:created>
  <dcterms:modified xsi:type="dcterms:W3CDTF">2024-10-16T10:49:15Z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dd2b3a5-926f-4111-8eea-9c5318b8762f_Enabled">
    <vt:lpwstr>true</vt:lpwstr>
  </property>
  <property fmtid="{D5CDD505-2E9C-101B-9397-08002B2CF9AE}" pid="3" name="MSIP_Label_cdd2b3a5-926f-4111-8eea-9c5318b8762f_SetDate">
    <vt:lpwstr>2024-09-24T06:07:04Z</vt:lpwstr>
  </property>
  <property fmtid="{D5CDD505-2E9C-101B-9397-08002B2CF9AE}" pid="4" name="MSIP_Label_cdd2b3a5-926f-4111-8eea-9c5318b8762f_Method">
    <vt:lpwstr>Standard</vt:lpwstr>
  </property>
  <property fmtid="{D5CDD505-2E9C-101B-9397-08002B2CF9AE}" pid="5" name="MSIP_Label_cdd2b3a5-926f-4111-8eea-9c5318b8762f_Name">
    <vt:lpwstr>defa4170-0d19-0005-0004-bc88714345d2</vt:lpwstr>
  </property>
  <property fmtid="{D5CDD505-2E9C-101B-9397-08002B2CF9AE}" pid="6" name="MSIP_Label_cdd2b3a5-926f-4111-8eea-9c5318b8762f_SiteId">
    <vt:lpwstr>61d2e93c-423d-43b4-8f23-1580c2341952</vt:lpwstr>
  </property>
  <property fmtid="{D5CDD505-2E9C-101B-9397-08002B2CF9AE}" pid="7" name="MSIP_Label_cdd2b3a5-926f-4111-8eea-9c5318b8762f_ActionId">
    <vt:lpwstr>abd0cee9-70aa-4660-a2de-8a6811a1fcd7</vt:lpwstr>
  </property>
  <property fmtid="{D5CDD505-2E9C-101B-9397-08002B2CF9AE}" pid="8" name="MSIP_Label_cdd2b3a5-926f-4111-8eea-9c5318b8762f_ContentBits">
    <vt:lpwstr>0</vt:lpwstr>
  </property>
</Properties>
</file>